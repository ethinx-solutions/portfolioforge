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72150" y="-2571750"/>
            <a:ext cx="4286250" cy="4286250"/>
          </a:xfrm>
          <a:prstGeom prst="ellipse">
            <a:avLst/>
          </a:prstGeom>
          <a:solidFill>
            <a:srgbClr val="0055FF">
              <a:alpha val="1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737382"/>
            <a:ext cx="357187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AI Writing </a:t>
            </a:r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055FF"/>
                </a:solidFill>
              </a:rPr>
              <a:t>Assistant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571500" y="2977493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8-Week Implementation Roadmap: From Concept to Launch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572250" y="1186755"/>
            <a:ext cx="2000250" cy="8090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6572250" y="1186755"/>
            <a:ext cx="28575" cy="80903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8" name="Text 5"/>
          <p:cNvSpPr/>
          <p:nvPr/>
        </p:nvSpPr>
        <p:spPr>
          <a:xfrm>
            <a:off x="6743700" y="1358205"/>
            <a:ext cx="16573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Target Users (Week 8)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743700" y="1551087"/>
            <a:ext cx="112935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3300"/>
                </a:solidFill>
              </a:rPr>
              <a:t>1,000–5,000</a:t>
            </a:r>
            <a:endParaRPr lang="en-US" sz="1397" dirty="0"/>
          </a:p>
        </p:txBody>
      </p:sp>
      <p:sp>
        <p:nvSpPr>
          <p:cNvPr id="10" name="Shape 7"/>
          <p:cNvSpPr/>
          <p:nvPr/>
        </p:nvSpPr>
        <p:spPr>
          <a:xfrm>
            <a:off x="6572250" y="2167235"/>
            <a:ext cx="2000250" cy="8090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572250" y="2167235"/>
            <a:ext cx="28575" cy="80903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2" name="Text 9"/>
          <p:cNvSpPr/>
          <p:nvPr/>
        </p:nvSpPr>
        <p:spPr>
          <a:xfrm>
            <a:off x="6743700" y="2338685"/>
            <a:ext cx="16573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Expected MRR (Week 8)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743700" y="2531566"/>
            <a:ext cx="16573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</a:t>
            </a:r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3300"/>
                </a:solidFill>
              </a:rPr>
              <a:t>500–3K</a:t>
            </a:r>
            <a:endParaRPr lang="en-US" sz="1397" dirty="0"/>
          </a:p>
        </p:txBody>
      </p:sp>
      <p:sp>
        <p:nvSpPr>
          <p:cNvPr id="14" name="Shape 11"/>
          <p:cNvSpPr/>
          <p:nvPr/>
        </p:nvSpPr>
        <p:spPr>
          <a:xfrm>
            <a:off x="6572250" y="3147715"/>
            <a:ext cx="2000250" cy="8090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572250" y="3147715"/>
            <a:ext cx="28575" cy="80903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6" name="Text 13"/>
          <p:cNvSpPr/>
          <p:nvPr/>
        </p:nvSpPr>
        <p:spPr>
          <a:xfrm>
            <a:off x="6743700" y="3319165"/>
            <a:ext cx="16573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Conversion Target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6743700" y="3512046"/>
            <a:ext cx="50907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3300"/>
                </a:solidFill>
              </a:rPr>
              <a:t>2–5%</a:t>
            </a:r>
            <a:endParaRPr lang="en-US" sz="139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Project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Overview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294805"/>
            <a:ext cx="37861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The AI Writing Assistant is a freemium SaaS tool that helps content creators, marketers, bloggers, and students write high-quality content faster using AI. The 8-week roadmap outlines the path from initial planning through beta launch and early growth.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571500" y="2231975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5FF"/>
                </a:solidFill>
              </a:rPr>
              <a:t>Primary Goals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2512368"/>
            <a:ext cx="3786188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Launch MVP within 8 weeks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571500" y="2755255"/>
            <a:ext cx="3786188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Reach 1,000–5,000 free users by Week 8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71500" y="2998143"/>
            <a:ext cx="3786188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Achieve 2–5% free-to-paid conversion rate by Month 3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71500" y="3241030"/>
            <a:ext cx="3786188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Generate $500–3,000 MRR by Week 8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571500" y="2512368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3300"/>
                </a:solidFill>
              </a:rPr>
              <a:t>→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571500" y="2755255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3300"/>
                </a:solidFill>
              </a:rPr>
              <a:t>→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571500" y="2998143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3300"/>
                </a:solidFill>
              </a:rPr>
              <a:t>→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571500" y="3241030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3300"/>
                </a:solidFill>
              </a:rPr>
              <a:t>→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571500" y="3526780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5FF"/>
                </a:solidFill>
              </a:rPr>
              <a:t>Success Metrics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71500" y="3807172"/>
            <a:ext cx="3786188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Free Users: 1,000–5,000 by Week 8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571500" y="4050060"/>
            <a:ext cx="3786188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Paid Users: 20–100 by Week 8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71500" y="4292947"/>
            <a:ext cx="3786188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MRR: $500–3,000 by Week 8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571500" y="4535835"/>
            <a:ext cx="3786188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Churn Rate: &lt; 10% monthly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571500" y="3807172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3300"/>
                </a:solidFill>
              </a:rPr>
              <a:t>→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571500" y="4050060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3300"/>
                </a:solidFill>
              </a:rPr>
              <a:t>→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571500" y="4292947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3300"/>
                </a:solidFill>
              </a:rPr>
              <a:t>→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571500" y="4535835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3300"/>
                </a:solidFill>
              </a:rPr>
              <a:t>→</a:t>
            </a:r>
            <a:endParaRPr lang="en-US" sz="734" dirty="0"/>
          </a:p>
        </p:txBody>
      </p:sp>
      <p:sp>
        <p:nvSpPr>
          <p:cNvPr id="23" name="Shape 20"/>
          <p:cNvSpPr/>
          <p:nvPr/>
        </p:nvSpPr>
        <p:spPr>
          <a:xfrm>
            <a:off x="5464969" y="2004715"/>
            <a:ext cx="2428875" cy="2428875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969" y="2004715"/>
            <a:ext cx="2428875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8-Week Timeline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2269034"/>
            <a:ext cx="925116" cy="3839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2383334"/>
            <a:ext cx="6965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W1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71946" y="2738735"/>
            <a:ext cx="9242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Foundation &amp; Planning</a:t>
            </a:r>
            <a:endParaRPr lang="en-US" sz="621" dirty="0"/>
          </a:p>
        </p:txBody>
      </p:sp>
      <p:sp>
        <p:nvSpPr>
          <p:cNvPr id="7" name="Shape 4"/>
          <p:cNvSpPr/>
          <p:nvPr/>
        </p:nvSpPr>
        <p:spPr>
          <a:xfrm>
            <a:off x="1582341" y="2269034"/>
            <a:ext cx="925116" cy="3839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8" name="Text 5"/>
          <p:cNvSpPr/>
          <p:nvPr/>
        </p:nvSpPr>
        <p:spPr>
          <a:xfrm>
            <a:off x="1696641" y="2383334"/>
            <a:ext cx="6965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W2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1647583" y="2738735"/>
            <a:ext cx="7946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Development Setup</a:t>
            </a:r>
            <a:endParaRPr lang="en-US" sz="621" dirty="0"/>
          </a:p>
        </p:txBody>
      </p:sp>
      <p:sp>
        <p:nvSpPr>
          <p:cNvPr id="10" name="Shape 7"/>
          <p:cNvSpPr/>
          <p:nvPr/>
        </p:nvSpPr>
        <p:spPr>
          <a:xfrm>
            <a:off x="2593181" y="2269034"/>
            <a:ext cx="925116" cy="3839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1" name="Text 8"/>
          <p:cNvSpPr/>
          <p:nvPr/>
        </p:nvSpPr>
        <p:spPr>
          <a:xfrm>
            <a:off x="2707481" y="2383334"/>
            <a:ext cx="6965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W3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2776575" y="2738735"/>
            <a:ext cx="5583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Core Features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3604022" y="2269034"/>
            <a:ext cx="925116" cy="3839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3718322" y="2383334"/>
            <a:ext cx="6965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W4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3676213" y="2738735"/>
            <a:ext cx="7807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Additional Features</a:t>
            </a:r>
            <a:endParaRPr lang="en-US" sz="621" dirty="0"/>
          </a:p>
        </p:txBody>
      </p:sp>
      <p:sp>
        <p:nvSpPr>
          <p:cNvPr id="16" name="Shape 13"/>
          <p:cNvSpPr/>
          <p:nvPr/>
        </p:nvSpPr>
        <p:spPr>
          <a:xfrm>
            <a:off x="4614863" y="2269034"/>
            <a:ext cx="925116" cy="3839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7" name="Text 14"/>
          <p:cNvSpPr/>
          <p:nvPr/>
        </p:nvSpPr>
        <p:spPr>
          <a:xfrm>
            <a:off x="4729163" y="2383334"/>
            <a:ext cx="6965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W5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723888" y="2738735"/>
            <a:ext cx="7070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Onboarding &amp; UX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5625703" y="2269034"/>
            <a:ext cx="925116" cy="3839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0" name="Text 17"/>
          <p:cNvSpPr/>
          <p:nvPr/>
        </p:nvSpPr>
        <p:spPr>
          <a:xfrm>
            <a:off x="5740003" y="2383334"/>
            <a:ext cx="6965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W6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5754012" y="2738735"/>
            <a:ext cx="6684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Marketing Setup</a:t>
            </a:r>
            <a:endParaRPr lang="en-US" sz="621" dirty="0"/>
          </a:p>
        </p:txBody>
      </p:sp>
      <p:sp>
        <p:nvSpPr>
          <p:cNvPr id="22" name="Shape 19"/>
          <p:cNvSpPr/>
          <p:nvPr/>
        </p:nvSpPr>
        <p:spPr>
          <a:xfrm>
            <a:off x="6636544" y="2269034"/>
            <a:ext cx="925116" cy="3839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3" name="Text 20"/>
          <p:cNvSpPr/>
          <p:nvPr/>
        </p:nvSpPr>
        <p:spPr>
          <a:xfrm>
            <a:off x="6750844" y="2383334"/>
            <a:ext cx="6965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W7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6849852" y="2738735"/>
            <a:ext cx="49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Beta Launch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7647384" y="2269034"/>
            <a:ext cx="925116" cy="3839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6" name="Text 23"/>
          <p:cNvSpPr/>
          <p:nvPr/>
        </p:nvSpPr>
        <p:spPr>
          <a:xfrm>
            <a:off x="7761684" y="2383334"/>
            <a:ext cx="6965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W8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7966816" y="2738735"/>
            <a:ext cx="2862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Scaling</a:t>
            </a:r>
            <a:endParaRPr lang="en-US" sz="621" dirty="0"/>
          </a:p>
        </p:txBody>
      </p:sp>
      <p:sp>
        <p:nvSpPr>
          <p:cNvPr id="28" name="Shape 25"/>
          <p:cNvSpPr/>
          <p:nvPr/>
        </p:nvSpPr>
        <p:spPr>
          <a:xfrm>
            <a:off x="571500" y="3310235"/>
            <a:ext cx="3914775" cy="105906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6"/>
          <p:cNvSpPr/>
          <p:nvPr/>
        </p:nvSpPr>
        <p:spPr>
          <a:xfrm>
            <a:off x="571500" y="3310235"/>
            <a:ext cx="28575" cy="105906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0" name="Text 27"/>
          <p:cNvSpPr/>
          <p:nvPr/>
        </p:nvSpPr>
        <p:spPr>
          <a:xfrm>
            <a:off x="714375" y="3453110"/>
            <a:ext cx="36290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Development Phase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714375" y="3674566"/>
            <a:ext cx="3629025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Week 2: Infrastructure ready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714375" y="3858518"/>
            <a:ext cx="3629025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Week 4: MVP features complete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714375" y="4042470"/>
            <a:ext cx="3629025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Week 5: Onboarding finalized</a:t>
            </a:r>
            <a:endParaRPr lang="en-US" sz="674" dirty="0"/>
          </a:p>
        </p:txBody>
      </p:sp>
      <p:sp>
        <p:nvSpPr>
          <p:cNvPr id="34" name="Shape 31"/>
          <p:cNvSpPr/>
          <p:nvPr/>
        </p:nvSpPr>
        <p:spPr>
          <a:xfrm>
            <a:off x="4657725" y="3310235"/>
            <a:ext cx="3914775" cy="105906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5" name="Shape 32"/>
          <p:cNvSpPr/>
          <p:nvPr/>
        </p:nvSpPr>
        <p:spPr>
          <a:xfrm>
            <a:off x="4657725" y="3310235"/>
            <a:ext cx="28575" cy="105906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6" name="Text 33"/>
          <p:cNvSpPr/>
          <p:nvPr/>
        </p:nvSpPr>
        <p:spPr>
          <a:xfrm>
            <a:off x="714375" y="3674566"/>
            <a:ext cx="671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✓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714375" y="3858518"/>
            <a:ext cx="671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✓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714375" y="4042470"/>
            <a:ext cx="671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✓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4800600" y="3453110"/>
            <a:ext cx="36290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Launch &amp; Growth Phase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4800600" y="3674566"/>
            <a:ext cx="3629025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Week 7: Public beta launch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4800600" y="3858518"/>
            <a:ext cx="3629025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Week 8: Growth optimization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4800600" y="4042470"/>
            <a:ext cx="3629025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Month 2: Feature expansion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4800600" y="3674566"/>
            <a:ext cx="671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✓</a:t>
            </a:r>
            <a:endParaRPr lang="en-US" sz="634" dirty="0"/>
          </a:p>
        </p:txBody>
      </p:sp>
      <p:sp>
        <p:nvSpPr>
          <p:cNvPr id="44" name="Text 41"/>
          <p:cNvSpPr/>
          <p:nvPr/>
        </p:nvSpPr>
        <p:spPr>
          <a:xfrm>
            <a:off x="4800600" y="3858518"/>
            <a:ext cx="671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✓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4800600" y="4042470"/>
            <a:ext cx="671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✓</a:t>
            </a:r>
            <a:endParaRPr lang="en-US" sz="6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80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608391" cy="250031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608391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 1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792956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Foundation &amp; Planning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601986"/>
            <a:ext cx="8001000" cy="3771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601986"/>
            <a:ext cx="28575" cy="37716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601986"/>
            <a:ext cx="8001000" cy="37716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Goal: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Establish project foundation, validate idea, and plan MVP scope.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71500" y="2093454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Key Tasks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2325625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Idea validation &amp; market research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71500" y="2542784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Analyze 5–10 competing AI writing tools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71500" y="2759943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MVP feature definition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71500" y="2977102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Tech stack selection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71500" y="3194261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Project setup &amp; documentation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571500" y="2325625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71500" y="2542784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71500" y="2759943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571500" y="2977102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571500" y="3194261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643438" y="2093454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Deliverables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4643438" y="2325625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Competitive analysis document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643438" y="2542784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MVP feature list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643438" y="2759943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Technical architecture diagram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4643438" y="2977102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GitHub repository setup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4643438" y="3194261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Project documentation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4643438" y="2325625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643438" y="2542784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643438" y="2759943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4643438" y="2977102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643438" y="3194261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571500" y="3525720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Success Metrics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571500" y="3757892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Competitive analysis completed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571500" y="3975050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MVP scope clearly defined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571500" y="4192209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Tech stack validated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571500" y="4409368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Project setup completed</a:t>
            </a:r>
            <a:endParaRPr lang="en-US" sz="727" dirty="0"/>
          </a:p>
        </p:txBody>
      </p:sp>
      <p:sp>
        <p:nvSpPr>
          <p:cNvPr id="36" name="Text 33"/>
          <p:cNvSpPr/>
          <p:nvPr/>
        </p:nvSpPr>
        <p:spPr>
          <a:xfrm>
            <a:off x="571500" y="3757892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571500" y="3975050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571500" y="4192209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571500" y="4409368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4643438" y="3525720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Expected Outcome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4643438" y="3757892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Foundation established</a:t>
            </a:r>
            <a:endParaRPr lang="en-US" sz="727" dirty="0"/>
          </a:p>
        </p:txBody>
      </p:sp>
      <p:sp>
        <p:nvSpPr>
          <p:cNvPr id="42" name="Text 39"/>
          <p:cNvSpPr/>
          <p:nvPr/>
        </p:nvSpPr>
        <p:spPr>
          <a:xfrm>
            <a:off x="4643438" y="3975050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Team aligned on vision</a:t>
            </a:r>
            <a:endParaRPr lang="en-US" sz="727" dirty="0"/>
          </a:p>
        </p:txBody>
      </p:sp>
      <p:sp>
        <p:nvSpPr>
          <p:cNvPr id="43" name="Text 40"/>
          <p:cNvSpPr/>
          <p:nvPr/>
        </p:nvSpPr>
        <p:spPr>
          <a:xfrm>
            <a:off x="4643438" y="4192209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Clear scope &amp; timeline</a:t>
            </a:r>
            <a:endParaRPr lang="en-US" sz="727" dirty="0"/>
          </a:p>
        </p:txBody>
      </p:sp>
      <p:sp>
        <p:nvSpPr>
          <p:cNvPr id="44" name="Text 41"/>
          <p:cNvSpPr/>
          <p:nvPr/>
        </p:nvSpPr>
        <p:spPr>
          <a:xfrm>
            <a:off x="4643438" y="4409368"/>
            <a:ext cx="392906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Ready for development</a:t>
            </a:r>
            <a:endParaRPr lang="en-US" sz="727" dirty="0"/>
          </a:p>
        </p:txBody>
      </p:sp>
      <p:sp>
        <p:nvSpPr>
          <p:cNvPr id="45" name="Text 42"/>
          <p:cNvSpPr/>
          <p:nvPr/>
        </p:nvSpPr>
        <p:spPr>
          <a:xfrm>
            <a:off x="4643438" y="3757892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4643438" y="3975050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47" name="Text 44"/>
          <p:cNvSpPr/>
          <p:nvPr/>
        </p:nvSpPr>
        <p:spPr>
          <a:xfrm>
            <a:off x="4643438" y="4192209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48" name="Text 45"/>
          <p:cNvSpPr/>
          <p:nvPr/>
        </p:nvSpPr>
        <p:spPr>
          <a:xfrm>
            <a:off x="4643438" y="4409368"/>
            <a:ext cx="10001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49" name="Shape 46"/>
          <p:cNvSpPr/>
          <p:nvPr/>
        </p:nvSpPr>
        <p:spPr>
          <a:xfrm>
            <a:off x="571500" y="4797977"/>
            <a:ext cx="1935956" cy="5000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0" name="Text 47"/>
          <p:cNvSpPr/>
          <p:nvPr/>
        </p:nvSpPr>
        <p:spPr>
          <a:xfrm>
            <a:off x="657225" y="4883702"/>
            <a:ext cx="17645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Duration</a:t>
            </a:r>
            <a:endParaRPr lang="en-US" sz="621" dirty="0"/>
          </a:p>
        </p:txBody>
      </p:sp>
      <p:sp>
        <p:nvSpPr>
          <p:cNvPr id="51" name="Text 48"/>
          <p:cNvSpPr/>
          <p:nvPr/>
        </p:nvSpPr>
        <p:spPr>
          <a:xfrm>
            <a:off x="657225" y="5056938"/>
            <a:ext cx="1764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7 Days</a:t>
            </a:r>
            <a:endParaRPr lang="en-US" sz="784" dirty="0"/>
          </a:p>
        </p:txBody>
      </p:sp>
      <p:sp>
        <p:nvSpPr>
          <p:cNvPr id="52" name="Shape 49"/>
          <p:cNvSpPr/>
          <p:nvPr/>
        </p:nvSpPr>
        <p:spPr>
          <a:xfrm>
            <a:off x="2593181" y="4797977"/>
            <a:ext cx="1935956" cy="5000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3" name="Text 50"/>
          <p:cNvSpPr/>
          <p:nvPr/>
        </p:nvSpPr>
        <p:spPr>
          <a:xfrm>
            <a:off x="2678906" y="4883702"/>
            <a:ext cx="17645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Team Size</a:t>
            </a:r>
            <a:endParaRPr lang="en-US" sz="621" dirty="0"/>
          </a:p>
        </p:txBody>
      </p:sp>
      <p:sp>
        <p:nvSpPr>
          <p:cNvPr id="54" name="Text 51"/>
          <p:cNvSpPr/>
          <p:nvPr/>
        </p:nvSpPr>
        <p:spPr>
          <a:xfrm>
            <a:off x="2678906" y="5056938"/>
            <a:ext cx="1764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1–2</a:t>
            </a:r>
            <a:endParaRPr lang="en-US" sz="784" dirty="0"/>
          </a:p>
        </p:txBody>
      </p:sp>
      <p:sp>
        <p:nvSpPr>
          <p:cNvPr id="55" name="Shape 52"/>
          <p:cNvSpPr/>
          <p:nvPr/>
        </p:nvSpPr>
        <p:spPr>
          <a:xfrm>
            <a:off x="4614863" y="4797977"/>
            <a:ext cx="1935956" cy="5000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6" name="Text 53"/>
          <p:cNvSpPr/>
          <p:nvPr/>
        </p:nvSpPr>
        <p:spPr>
          <a:xfrm>
            <a:off x="4700588" y="4883702"/>
            <a:ext cx="17645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Budget</a:t>
            </a:r>
            <a:endParaRPr lang="en-US" sz="621" dirty="0"/>
          </a:p>
        </p:txBody>
      </p:sp>
      <p:sp>
        <p:nvSpPr>
          <p:cNvPr id="57" name="Text 54"/>
          <p:cNvSpPr/>
          <p:nvPr/>
        </p:nvSpPr>
        <p:spPr>
          <a:xfrm>
            <a:off x="4700588" y="5056938"/>
            <a:ext cx="1764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$2–5K</a:t>
            </a:r>
            <a:endParaRPr lang="en-US" sz="784" dirty="0"/>
          </a:p>
        </p:txBody>
      </p:sp>
      <p:sp>
        <p:nvSpPr>
          <p:cNvPr id="58" name="Shape 55"/>
          <p:cNvSpPr/>
          <p:nvPr/>
        </p:nvSpPr>
        <p:spPr>
          <a:xfrm>
            <a:off x="6636544" y="4797977"/>
            <a:ext cx="1935956" cy="5000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9" name="Text 56"/>
          <p:cNvSpPr/>
          <p:nvPr/>
        </p:nvSpPr>
        <p:spPr>
          <a:xfrm>
            <a:off x="6722269" y="4883702"/>
            <a:ext cx="17645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Users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6722269" y="5056938"/>
            <a:ext cx="1764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0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Week 2: Development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Setup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37680"/>
            <a:ext cx="3786188" cy="80400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37680"/>
            <a:ext cx="28575" cy="80400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" name="Text 3"/>
          <p:cNvSpPr/>
          <p:nvPr/>
        </p:nvSpPr>
        <p:spPr>
          <a:xfrm>
            <a:off x="700088" y="1566267"/>
            <a:ext cx="35290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Goals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700088" y="1793081"/>
            <a:ext cx="35290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Set up development environment, initialize databases, and implement user authentication.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71500" y="2441711"/>
            <a:ext cx="37861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Key Tasks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2716746"/>
            <a:ext cx="3786188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Frontend setup (Next.js with Tailwind CSS)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71500" y="2938202"/>
            <a:ext cx="3786188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Backend setup (Vercel Functions + Supabase PostgreSQL)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71500" y="3159658"/>
            <a:ext cx="3786188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Database schema creation (users, articles, subscriptions)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71500" y="3381115"/>
            <a:ext cx="3786188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User authentication (email/password with Supabase Auth)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71500" y="3602571"/>
            <a:ext cx="3786188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Payment integration (Stripe setup and checkout)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71500" y="2716746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71500" y="2938202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71500" y="3159658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71500" y="338111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571500" y="3602571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786313" y="1437680"/>
            <a:ext cx="37861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Deliverables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786313" y="1712714"/>
            <a:ext cx="3786188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Next.js project with landing page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4786313" y="1934170"/>
            <a:ext cx="3786188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Supabase database with schema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786313" y="2155627"/>
            <a:ext cx="3786188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User authentication system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786313" y="2377083"/>
            <a:ext cx="3786188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Stripe integration with checkout flow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4786313" y="2598539"/>
            <a:ext cx="3786188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API endpoints for core functionality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4786313" y="1712714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786313" y="1934170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786313" y="215562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786313" y="2377083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4786313" y="2598539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786313" y="2948583"/>
            <a:ext cx="37861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Success Metrics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4786313" y="3223617"/>
            <a:ext cx="3786188" cy="1268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Landing page live and responsive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4786313" y="3407569"/>
            <a:ext cx="3786188" cy="1268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User authentication working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4786313" y="3591520"/>
            <a:ext cx="3786188" cy="1268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Database schema created and tested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4786313" y="3775472"/>
            <a:ext cx="3786188" cy="1268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Stripe checkout flow working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4786313" y="3959423"/>
            <a:ext cx="3786188" cy="1268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All API endpoints functional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4786313" y="3223617"/>
            <a:ext cx="671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✓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4786313" y="3407569"/>
            <a:ext cx="671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✓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4786313" y="3591520"/>
            <a:ext cx="671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✓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4786313" y="3775472"/>
            <a:ext cx="671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✓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4786313" y="3959423"/>
            <a:ext cx="671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✓</a:t>
            </a:r>
            <a:endParaRPr lang="en-US" sz="634" dirty="0"/>
          </a:p>
        </p:txBody>
      </p:sp>
      <p:sp>
        <p:nvSpPr>
          <p:cNvPr id="41" name="Text 38"/>
          <p:cNvSpPr/>
          <p:nvPr/>
        </p:nvSpPr>
        <p:spPr>
          <a:xfrm>
            <a:off x="4786313" y="4286250"/>
            <a:ext cx="37861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Expected Outcome</a:t>
            </a:r>
            <a:endParaRPr lang="en-US" sz="885" dirty="0"/>
          </a:p>
        </p:txBody>
      </p:sp>
      <p:sp>
        <p:nvSpPr>
          <p:cNvPr id="42" name="Text 39"/>
          <p:cNvSpPr/>
          <p:nvPr/>
        </p:nvSpPr>
        <p:spPr>
          <a:xfrm>
            <a:off x="4786313" y="4561284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Complete development infrastructure ready for feature development.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35781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Week 3: Core Feature Development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05470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Article Generation using OpenAI API &amp; LangChain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28625" y="1146572"/>
            <a:ext cx="5715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Goals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325166"/>
            <a:ext cx="57150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Implement core AI article generation feature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1518047"/>
            <a:ext cx="57150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Integrate OpenAI API and LangChain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1710928"/>
            <a:ext cx="57150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Build article generation UI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28625" y="1903809"/>
            <a:ext cx="57150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Implement usage tracking system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28625" y="1325166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→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428625" y="1518047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→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428625" y="1710928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→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428625" y="1903809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→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428625" y="2182416"/>
            <a:ext cx="5715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Key Tasks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28625" y="2361009"/>
            <a:ext cx="57150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LangChain setup and OpenAI integration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28625" y="2553891"/>
            <a:ext cx="57150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Create /api/articles/generate endpoint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28625" y="2746772"/>
            <a:ext cx="57150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Build frontend article generation form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428625" y="2939653"/>
            <a:ext cx="57150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Implement free tier limits (5 articles/month)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28625" y="3132534"/>
            <a:ext cx="57150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Testing and optimization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428625" y="2361009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→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428625" y="2553891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→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428625" y="2746772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→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428625" y="2939653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→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428625" y="3132534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00"/>
                </a:solidFill>
              </a:rPr>
              <a:t>→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428625" y="3411141"/>
            <a:ext cx="5715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Success Metrics</a:t>
            </a:r>
            <a:endParaRPr lang="en-US" sz="683" dirty="0"/>
          </a:p>
        </p:txBody>
      </p:sp>
      <p:sp>
        <p:nvSpPr>
          <p:cNvPr id="26" name="Shape 23"/>
          <p:cNvSpPr/>
          <p:nvPr/>
        </p:nvSpPr>
        <p:spPr>
          <a:xfrm>
            <a:off x="428625" y="3589734"/>
            <a:ext cx="5715000" cy="4143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4"/>
          <p:cNvSpPr/>
          <p:nvPr/>
        </p:nvSpPr>
        <p:spPr>
          <a:xfrm>
            <a:off x="428625" y="3589734"/>
            <a:ext cx="21431" cy="41433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8" name="Text 25"/>
          <p:cNvSpPr/>
          <p:nvPr/>
        </p:nvSpPr>
        <p:spPr>
          <a:xfrm>
            <a:off x="485775" y="3646884"/>
            <a:ext cx="56007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Output Quality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485775" y="3791545"/>
            <a:ext cx="5600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High-quality articles</a:t>
            </a:r>
            <a:endParaRPr lang="en-US" sz="784" dirty="0"/>
          </a:p>
        </p:txBody>
      </p:sp>
      <p:sp>
        <p:nvSpPr>
          <p:cNvPr id="30" name="Shape 27"/>
          <p:cNvSpPr/>
          <p:nvPr/>
        </p:nvSpPr>
        <p:spPr>
          <a:xfrm>
            <a:off x="428625" y="4061222"/>
            <a:ext cx="5715000" cy="4143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8"/>
          <p:cNvSpPr/>
          <p:nvPr/>
        </p:nvSpPr>
        <p:spPr>
          <a:xfrm>
            <a:off x="428625" y="4061222"/>
            <a:ext cx="21431" cy="41433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2" name="Text 29"/>
          <p:cNvSpPr/>
          <p:nvPr/>
        </p:nvSpPr>
        <p:spPr>
          <a:xfrm>
            <a:off x="485775" y="4118372"/>
            <a:ext cx="56007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API Costs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485775" y="4263033"/>
            <a:ext cx="5600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Within budget</a:t>
            </a:r>
            <a:endParaRPr lang="en-US" sz="784" dirty="0"/>
          </a:p>
        </p:txBody>
      </p:sp>
      <p:sp>
        <p:nvSpPr>
          <p:cNvPr id="34" name="Shape 31"/>
          <p:cNvSpPr/>
          <p:nvPr/>
        </p:nvSpPr>
        <p:spPr>
          <a:xfrm>
            <a:off x="428625" y="4532709"/>
            <a:ext cx="5715000" cy="4143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5" name="Shape 32"/>
          <p:cNvSpPr/>
          <p:nvPr/>
        </p:nvSpPr>
        <p:spPr>
          <a:xfrm>
            <a:off x="428625" y="4532709"/>
            <a:ext cx="21431" cy="41433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6" name="Text 33"/>
          <p:cNvSpPr/>
          <p:nvPr/>
        </p:nvSpPr>
        <p:spPr>
          <a:xfrm>
            <a:off x="485775" y="4589859"/>
            <a:ext cx="56007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Response Time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485775" y="4734520"/>
            <a:ext cx="5600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&lt; 5 seconds</a:t>
            </a:r>
            <a:endParaRPr lang="en-US" sz="784" dirty="0"/>
          </a:p>
        </p:txBody>
      </p:sp>
      <p:sp>
        <p:nvSpPr>
          <p:cNvPr id="38" name="Shape 35"/>
          <p:cNvSpPr/>
          <p:nvPr/>
        </p:nvSpPr>
        <p:spPr>
          <a:xfrm>
            <a:off x="6429375" y="1146572"/>
            <a:ext cx="2286000" cy="1571625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1146572"/>
            <a:ext cx="2286000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Week 4: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Additional Features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37680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Goals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727002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Implement editing, tone control, and summarization features to increase user value and feature completeness.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4714875" y="1437680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Expected Outcome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714875" y="1727002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MVP feature set complete and ready for user testing. All core features working end-to-end with high output quality.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571500" y="2327077"/>
            <a:ext cx="2571750" cy="11680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327077"/>
            <a:ext cx="2571750" cy="214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2469952"/>
            <a:ext cx="2286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Article Editing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714375" y="2711053"/>
            <a:ext cx="2286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rich text editor endpoint and UI for users to edit generated articles with formatting options.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714375" y="3075384"/>
            <a:ext cx="22860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API: /api/articles/edit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3286125" y="2327077"/>
            <a:ext cx="2571750" cy="11680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3286125" y="2327077"/>
            <a:ext cx="2571750" cy="214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2469952"/>
            <a:ext cx="2286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Tone Control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429000" y="2711053"/>
            <a:ext cx="2286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Add tone parameter to article generation (professional, casual, creative, technical) with updated prompts.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3429000" y="3214688"/>
            <a:ext cx="22860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4 Tone Options</a:t>
            </a:r>
            <a:endParaRPr lang="en-US" sz="584" dirty="0"/>
          </a:p>
        </p:txBody>
      </p:sp>
      <p:sp>
        <p:nvSpPr>
          <p:cNvPr id="18" name="Shape 15"/>
          <p:cNvSpPr/>
          <p:nvPr/>
        </p:nvSpPr>
        <p:spPr>
          <a:xfrm>
            <a:off x="6000750" y="2327077"/>
            <a:ext cx="2571750" cy="11465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6"/>
          <p:cNvSpPr/>
          <p:nvPr/>
        </p:nvSpPr>
        <p:spPr>
          <a:xfrm>
            <a:off x="6000750" y="2327077"/>
            <a:ext cx="2571750" cy="214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0" name="Text 17"/>
          <p:cNvSpPr/>
          <p:nvPr/>
        </p:nvSpPr>
        <p:spPr>
          <a:xfrm>
            <a:off x="6143625" y="2469952"/>
            <a:ext cx="2286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Summarization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6143625" y="2711053"/>
            <a:ext cx="2286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Implement summarization feature to condense articles into key points using OpenAI API.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6143625" y="3075384"/>
            <a:ext cx="22860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API: /api/articles/summarize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571500" y="3645098"/>
            <a:ext cx="17859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Output Quality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571500" y="3804047"/>
            <a:ext cx="1785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High Quality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2643188" y="3645098"/>
            <a:ext cx="17859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Response Time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2643188" y="3804047"/>
            <a:ext cx="1785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&lt; 5 seconds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4714875" y="3645098"/>
            <a:ext cx="17859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Tier Limits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4714875" y="3804047"/>
            <a:ext cx="1785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Enforced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6786563" y="3645098"/>
            <a:ext cx="17859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API Costs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6786563" y="3804047"/>
            <a:ext cx="1785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On Budget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5788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Week 5: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Onboarding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 &amp; UX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09092"/>
            <a:ext cx="39004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Goals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569839"/>
            <a:ext cx="39004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Create smooth onboarding experience and improve overall UX to drive conversions.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571500" y="2112764"/>
            <a:ext cx="39004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Key Tasks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2373511"/>
            <a:ext cx="3900488" cy="3000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Design onboarding checklist (sign up → verify email → generate article →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explore features → upgrade)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71500" y="2730698"/>
            <a:ext cx="390048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Create onboarding tutorial (video or interactive walkthrough)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571500" y="2937867"/>
            <a:ext cx="390048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Build email sequences (day 1, 3, 7 with tips and guidance)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71500" y="3145036"/>
            <a:ext cx="390048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Create feature showcase page and pricing comparison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71500" y="3352205"/>
            <a:ext cx="390048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Implement conversion optimization elements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71500" y="3559373"/>
            <a:ext cx="390048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Set up user feedback collection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71500" y="2373511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71500" y="2730698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71500" y="293786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71500" y="3145036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71500" y="335220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571500" y="3559373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672013" y="1309092"/>
            <a:ext cx="39004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Deliverables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672013" y="1569839"/>
            <a:ext cx="390048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Onboarding flow and tutorial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4672013" y="1777008"/>
            <a:ext cx="390048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Email marketing sequences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672013" y="1984177"/>
            <a:ext cx="390048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Feature showcase page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672013" y="2191345"/>
            <a:ext cx="390048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Pricing comparison table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4672013" y="2398514"/>
            <a:ext cx="390048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Conversion optimization elements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4672013" y="2605683"/>
            <a:ext cx="390048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Analytics tracking setup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4672013" y="1569839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672013" y="1777008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672013" y="198417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4672013" y="219134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672013" y="2398514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672013" y="2605683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4672013" y="2941439"/>
            <a:ext cx="39004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Success Metrics</a:t>
            </a:r>
            <a:endParaRPr lang="en-US" sz="885" dirty="0"/>
          </a:p>
        </p:txBody>
      </p:sp>
      <p:sp>
        <p:nvSpPr>
          <p:cNvPr id="33" name="Shape 30"/>
          <p:cNvSpPr/>
          <p:nvPr/>
        </p:nvSpPr>
        <p:spPr>
          <a:xfrm>
            <a:off x="4672013" y="3202186"/>
            <a:ext cx="1907381" cy="5054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4" name="Shape 31"/>
          <p:cNvSpPr/>
          <p:nvPr/>
        </p:nvSpPr>
        <p:spPr>
          <a:xfrm>
            <a:off x="4672013" y="3202186"/>
            <a:ext cx="21431" cy="50542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5" name="Text 32"/>
          <p:cNvSpPr/>
          <p:nvPr/>
        </p:nvSpPr>
        <p:spPr>
          <a:xfrm>
            <a:off x="4757738" y="3287911"/>
            <a:ext cx="17359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Onboarding Completion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4757738" y="3446859"/>
            <a:ext cx="17359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&gt;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70%</a:t>
            </a:r>
            <a:endParaRPr lang="en-US" sz="885" dirty="0"/>
          </a:p>
        </p:txBody>
      </p:sp>
      <p:sp>
        <p:nvSpPr>
          <p:cNvPr id="37" name="Shape 34"/>
          <p:cNvSpPr/>
          <p:nvPr/>
        </p:nvSpPr>
        <p:spPr>
          <a:xfrm>
            <a:off x="6665119" y="3202186"/>
            <a:ext cx="1907381" cy="5054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8" name="Shape 35"/>
          <p:cNvSpPr/>
          <p:nvPr/>
        </p:nvSpPr>
        <p:spPr>
          <a:xfrm>
            <a:off x="6665119" y="3202186"/>
            <a:ext cx="21431" cy="50542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9" name="Text 36"/>
          <p:cNvSpPr/>
          <p:nvPr/>
        </p:nvSpPr>
        <p:spPr>
          <a:xfrm>
            <a:off x="6750844" y="3287911"/>
            <a:ext cx="17359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Feature Understanding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6750844" y="3446859"/>
            <a:ext cx="17359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&gt;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80%</a:t>
            </a:r>
            <a:endParaRPr lang="en-US" sz="885" dirty="0"/>
          </a:p>
        </p:txBody>
      </p:sp>
      <p:sp>
        <p:nvSpPr>
          <p:cNvPr id="41" name="Shape 38"/>
          <p:cNvSpPr/>
          <p:nvPr/>
        </p:nvSpPr>
        <p:spPr>
          <a:xfrm>
            <a:off x="4672013" y="3793331"/>
            <a:ext cx="1907381" cy="5054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2" name="Shape 39"/>
          <p:cNvSpPr/>
          <p:nvPr/>
        </p:nvSpPr>
        <p:spPr>
          <a:xfrm>
            <a:off x="4672013" y="3793331"/>
            <a:ext cx="21431" cy="50542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3" name="Text 40"/>
          <p:cNvSpPr/>
          <p:nvPr/>
        </p:nvSpPr>
        <p:spPr>
          <a:xfrm>
            <a:off x="4757738" y="3879056"/>
            <a:ext cx="17359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Free-to-Paid Conversion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4757738" y="4038005"/>
            <a:ext cx="17359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&gt;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2%</a:t>
            </a:r>
            <a:endParaRPr lang="en-US" sz="885" dirty="0"/>
          </a:p>
        </p:txBody>
      </p:sp>
      <p:sp>
        <p:nvSpPr>
          <p:cNvPr id="45" name="Shape 42"/>
          <p:cNvSpPr/>
          <p:nvPr/>
        </p:nvSpPr>
        <p:spPr>
          <a:xfrm>
            <a:off x="6665119" y="3793331"/>
            <a:ext cx="1907381" cy="5054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6" name="Shape 43"/>
          <p:cNvSpPr/>
          <p:nvPr/>
        </p:nvSpPr>
        <p:spPr>
          <a:xfrm>
            <a:off x="6665119" y="3793331"/>
            <a:ext cx="21431" cy="50542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7" name="Text 44"/>
          <p:cNvSpPr/>
          <p:nvPr/>
        </p:nvSpPr>
        <p:spPr>
          <a:xfrm>
            <a:off x="6750844" y="3879056"/>
            <a:ext cx="17359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User Satisfaction</a:t>
            </a:r>
            <a:endParaRPr lang="en-US" sz="621" dirty="0"/>
          </a:p>
        </p:txBody>
      </p:sp>
      <p:sp>
        <p:nvSpPr>
          <p:cNvPr id="48" name="Text 45"/>
          <p:cNvSpPr/>
          <p:nvPr/>
        </p:nvSpPr>
        <p:spPr>
          <a:xfrm>
            <a:off x="6750844" y="4038005"/>
            <a:ext cx="17359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&gt;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4/5</a:t>
            </a:r>
            <a:endParaRPr lang="en-US" sz="8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670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Week 6: Marketing &amp;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Growth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37680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Goals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71500" y="1678781"/>
            <a:ext cx="25146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Establish marketing channels and begin user acquisition through content, email, and social media.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571500" y="2284549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Content Marketing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2525650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blog (5–10 initial articles)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571500" y="2729247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Set up SEO (keyword research, meta tags)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571500" y="2932844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YouTube channel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571500" y="3136441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Publish first 3 blog posts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571500" y="3340038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Publish first 2 YouTube videos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571500" y="2525650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571500" y="2729247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571500" y="2932844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571500" y="3136441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571500" y="3340038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571500" y="3715085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Success Metrics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571500" y="3956186"/>
            <a:ext cx="2514600" cy="49827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3956186"/>
            <a:ext cx="21431" cy="4982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0" name="Text 17"/>
          <p:cNvSpPr/>
          <p:nvPr/>
        </p:nvSpPr>
        <p:spPr>
          <a:xfrm>
            <a:off x="671513" y="4056199"/>
            <a:ext cx="231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Blog Posts</a:t>
            </a:r>
            <a:endParaRPr lang="en-US" sz="568" dirty="0"/>
          </a:p>
        </p:txBody>
      </p:sp>
      <p:sp>
        <p:nvSpPr>
          <p:cNvPr id="21" name="Text 18"/>
          <p:cNvSpPr/>
          <p:nvPr/>
        </p:nvSpPr>
        <p:spPr>
          <a:xfrm>
            <a:off x="671513" y="4199074"/>
            <a:ext cx="1307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5+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571500" y="4525900"/>
            <a:ext cx="2514600" cy="49827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4525900"/>
            <a:ext cx="21431" cy="4982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4" name="Text 21"/>
          <p:cNvSpPr/>
          <p:nvPr/>
        </p:nvSpPr>
        <p:spPr>
          <a:xfrm>
            <a:off x="671513" y="4625913"/>
            <a:ext cx="231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YouTube Videos</a:t>
            </a:r>
            <a:endParaRPr lang="en-US" sz="568" dirty="0"/>
          </a:p>
        </p:txBody>
      </p:sp>
      <p:sp>
        <p:nvSpPr>
          <p:cNvPr id="25" name="Text 22"/>
          <p:cNvSpPr/>
          <p:nvPr/>
        </p:nvSpPr>
        <p:spPr>
          <a:xfrm>
            <a:off x="671513" y="4768788"/>
            <a:ext cx="1307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2+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3314700" y="1437680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Email Marketing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3314700" y="1678781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Set up email platform (Mailgun, SendGrid)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3314700" y="1882378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email templates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3314700" y="2085975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Build email list (landing page signup)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3314700" y="2289572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Plan email sequences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3314700" y="2493169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Onboarding (day 1, 3, 7)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3314700" y="2696766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Feature tips &amp; upsell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3314700" y="1678781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3314700" y="1882378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3314700" y="2085975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3314700" y="2289572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3314700" y="2493169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3314700" y="2696766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9" name="Text 36"/>
          <p:cNvSpPr/>
          <p:nvPr/>
        </p:nvSpPr>
        <p:spPr>
          <a:xfrm>
            <a:off x="3314700" y="3071813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Success Metrics</a:t>
            </a:r>
            <a:endParaRPr lang="en-US" sz="784" dirty="0"/>
          </a:p>
        </p:txBody>
      </p:sp>
      <p:sp>
        <p:nvSpPr>
          <p:cNvPr id="40" name="Shape 37"/>
          <p:cNvSpPr/>
          <p:nvPr/>
        </p:nvSpPr>
        <p:spPr>
          <a:xfrm>
            <a:off x="3314700" y="3312914"/>
            <a:ext cx="2514600" cy="49827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Shape 38"/>
          <p:cNvSpPr/>
          <p:nvPr/>
        </p:nvSpPr>
        <p:spPr>
          <a:xfrm>
            <a:off x="3314700" y="3312914"/>
            <a:ext cx="21431" cy="4982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2" name="Text 39"/>
          <p:cNvSpPr/>
          <p:nvPr/>
        </p:nvSpPr>
        <p:spPr>
          <a:xfrm>
            <a:off x="3414713" y="3412927"/>
            <a:ext cx="231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Email List</a:t>
            </a:r>
            <a:endParaRPr lang="en-US" sz="568" dirty="0"/>
          </a:p>
        </p:txBody>
      </p:sp>
      <p:sp>
        <p:nvSpPr>
          <p:cNvPr id="43" name="Text 40"/>
          <p:cNvSpPr/>
          <p:nvPr/>
        </p:nvSpPr>
        <p:spPr>
          <a:xfrm>
            <a:off x="3414713" y="3555802"/>
            <a:ext cx="2615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100+</a:t>
            </a:r>
            <a:endParaRPr lang="en-US" sz="784" dirty="0"/>
          </a:p>
        </p:txBody>
      </p:sp>
      <p:sp>
        <p:nvSpPr>
          <p:cNvPr id="44" name="Shape 41"/>
          <p:cNvSpPr/>
          <p:nvPr/>
        </p:nvSpPr>
        <p:spPr>
          <a:xfrm>
            <a:off x="3314700" y="3882628"/>
            <a:ext cx="2514600" cy="49827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5" name="Shape 42"/>
          <p:cNvSpPr/>
          <p:nvPr/>
        </p:nvSpPr>
        <p:spPr>
          <a:xfrm>
            <a:off x="3314700" y="3882628"/>
            <a:ext cx="21431" cy="4982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6" name="Text 43"/>
          <p:cNvSpPr/>
          <p:nvPr/>
        </p:nvSpPr>
        <p:spPr>
          <a:xfrm>
            <a:off x="3414713" y="3982641"/>
            <a:ext cx="231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Templates</a:t>
            </a:r>
            <a:endParaRPr lang="en-US" sz="568" dirty="0"/>
          </a:p>
        </p:txBody>
      </p:sp>
      <p:sp>
        <p:nvSpPr>
          <p:cNvPr id="47" name="Text 44"/>
          <p:cNvSpPr/>
          <p:nvPr/>
        </p:nvSpPr>
        <p:spPr>
          <a:xfrm>
            <a:off x="3414713" y="4125516"/>
            <a:ext cx="1307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5+</a:t>
            </a:r>
            <a:endParaRPr lang="en-US" sz="784" dirty="0"/>
          </a:p>
        </p:txBody>
      </p:sp>
      <p:sp>
        <p:nvSpPr>
          <p:cNvPr id="48" name="Text 45"/>
          <p:cNvSpPr/>
          <p:nvPr/>
        </p:nvSpPr>
        <p:spPr>
          <a:xfrm>
            <a:off x="6057900" y="1437680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Social &amp; Launch</a:t>
            </a:r>
            <a:endParaRPr lang="en-US" sz="784" dirty="0"/>
          </a:p>
        </p:txBody>
      </p:sp>
      <p:sp>
        <p:nvSpPr>
          <p:cNvPr id="49" name="Text 46"/>
          <p:cNvSpPr/>
          <p:nvPr/>
        </p:nvSpPr>
        <p:spPr>
          <a:xfrm>
            <a:off x="6057900" y="1678781"/>
            <a:ext cx="2514600" cy="278606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social accounts (Twitter, LinkedIn, TikTok,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Instagram)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6057900" y="2021681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Plan content calendar (3–5 posts/week)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6057900" y="2225278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social templates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6057900" y="2428875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Publish first 5 posts</a:t>
            </a:r>
            <a:endParaRPr lang="en-US" sz="674" dirty="0"/>
          </a:p>
        </p:txBody>
      </p:sp>
      <p:sp>
        <p:nvSpPr>
          <p:cNvPr id="53" name="Text 50"/>
          <p:cNvSpPr/>
          <p:nvPr/>
        </p:nvSpPr>
        <p:spPr>
          <a:xfrm>
            <a:off x="6057900" y="2632472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Product Hunt listing</a:t>
            </a:r>
            <a:endParaRPr lang="en-US" sz="674" dirty="0"/>
          </a:p>
        </p:txBody>
      </p:sp>
      <p:sp>
        <p:nvSpPr>
          <p:cNvPr id="54" name="Text 51"/>
          <p:cNvSpPr/>
          <p:nvPr/>
        </p:nvSpPr>
        <p:spPr>
          <a:xfrm>
            <a:off x="6057900" y="2836069"/>
            <a:ext cx="25146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Reach out to influencers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6057900" y="1678781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56" name="Text 53"/>
          <p:cNvSpPr/>
          <p:nvPr/>
        </p:nvSpPr>
        <p:spPr>
          <a:xfrm>
            <a:off x="6057900" y="2021681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57" name="Text 54"/>
          <p:cNvSpPr/>
          <p:nvPr/>
        </p:nvSpPr>
        <p:spPr>
          <a:xfrm>
            <a:off x="6057900" y="2225278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58" name="Text 55"/>
          <p:cNvSpPr/>
          <p:nvPr/>
        </p:nvSpPr>
        <p:spPr>
          <a:xfrm>
            <a:off x="6057900" y="2428875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59" name="Text 56"/>
          <p:cNvSpPr/>
          <p:nvPr/>
        </p:nvSpPr>
        <p:spPr>
          <a:xfrm>
            <a:off x="6057900" y="2632472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60" name="Text 57"/>
          <p:cNvSpPr/>
          <p:nvPr/>
        </p:nvSpPr>
        <p:spPr>
          <a:xfrm>
            <a:off x="6057900" y="2836069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61" name="Text 58"/>
          <p:cNvSpPr/>
          <p:nvPr/>
        </p:nvSpPr>
        <p:spPr>
          <a:xfrm>
            <a:off x="6057900" y="3211116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Success Metrics</a:t>
            </a:r>
            <a:endParaRPr lang="en-US" sz="784" dirty="0"/>
          </a:p>
        </p:txBody>
      </p:sp>
      <p:sp>
        <p:nvSpPr>
          <p:cNvPr id="62" name="Shape 59"/>
          <p:cNvSpPr/>
          <p:nvPr/>
        </p:nvSpPr>
        <p:spPr>
          <a:xfrm>
            <a:off x="6057900" y="3452217"/>
            <a:ext cx="2514600" cy="49827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3" name="Shape 60"/>
          <p:cNvSpPr/>
          <p:nvPr/>
        </p:nvSpPr>
        <p:spPr>
          <a:xfrm>
            <a:off x="6057900" y="3452217"/>
            <a:ext cx="21431" cy="4982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4" name="Text 61"/>
          <p:cNvSpPr/>
          <p:nvPr/>
        </p:nvSpPr>
        <p:spPr>
          <a:xfrm>
            <a:off x="6157913" y="3552230"/>
            <a:ext cx="231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Social Followers</a:t>
            </a:r>
            <a:endParaRPr lang="en-US" sz="568" dirty="0"/>
          </a:p>
        </p:txBody>
      </p:sp>
      <p:sp>
        <p:nvSpPr>
          <p:cNvPr id="65" name="Text 62"/>
          <p:cNvSpPr/>
          <p:nvPr/>
        </p:nvSpPr>
        <p:spPr>
          <a:xfrm>
            <a:off x="6157913" y="3695105"/>
            <a:ext cx="2615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100+</a:t>
            </a:r>
            <a:endParaRPr lang="en-US" sz="784" dirty="0"/>
          </a:p>
        </p:txBody>
      </p:sp>
      <p:sp>
        <p:nvSpPr>
          <p:cNvPr id="66" name="Shape 63"/>
          <p:cNvSpPr/>
          <p:nvPr/>
        </p:nvSpPr>
        <p:spPr>
          <a:xfrm>
            <a:off x="6057900" y="4021931"/>
            <a:ext cx="2514600" cy="49827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7" name="Shape 64"/>
          <p:cNvSpPr/>
          <p:nvPr/>
        </p:nvSpPr>
        <p:spPr>
          <a:xfrm>
            <a:off x="6057900" y="4021931"/>
            <a:ext cx="21431" cy="49827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8" name="Text 65"/>
          <p:cNvSpPr/>
          <p:nvPr/>
        </p:nvSpPr>
        <p:spPr>
          <a:xfrm>
            <a:off x="6157913" y="4121944"/>
            <a:ext cx="231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Launch Traffic</a:t>
            </a:r>
            <a:endParaRPr lang="en-US" sz="568" dirty="0"/>
          </a:p>
        </p:txBody>
      </p:sp>
      <p:sp>
        <p:nvSpPr>
          <p:cNvPr id="69" name="Text 66"/>
          <p:cNvSpPr/>
          <p:nvPr/>
        </p:nvSpPr>
        <p:spPr>
          <a:xfrm>
            <a:off x="6157913" y="4264819"/>
            <a:ext cx="2615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500+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608391" cy="250031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608391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 7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792956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Beta Launch &amp; Early User Acquisition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802011"/>
            <a:ext cx="2514600" cy="52004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802011"/>
            <a:ext cx="21431" cy="52004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802011"/>
            <a:ext cx="2514600" cy="52004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Goal: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Launch to beta users, gather feedback,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and begin organic user acquisition.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571500" y="2436354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Key Tasks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71500" y="2677455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Launch to Product Hunt (if applicable)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571500" y="2888196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Send launch announcement email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571500" y="3098936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Post on social media channels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571500" y="3309677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Reach out to beta testers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571500" y="3520418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Monitor feedback and support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571500" y="3731158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Gather user feedback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571500" y="3941899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Identify critical bugs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571500" y="4152640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Prioritize fixes and improvements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571500" y="2677455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571500" y="2888196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571500" y="3098936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571500" y="3309677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571500" y="3520418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571500" y="3731158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571500" y="3941899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571500" y="4152640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3314700" y="1802011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Content Marketing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3314700" y="2043113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Publish 2–3 new blog posts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3314700" y="2253853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Publish 1–2 new YouTube videos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3314700" y="2464594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Share content on social media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3314700" y="2675334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Engage with community comments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3314700" y="2043113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3314700" y="2253853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3314700" y="2464594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3314700" y="2675334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3314700" y="3057525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Deliverables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3314700" y="3298627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Beta launch completed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3314700" y="3509367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Feedback gathered and prioritized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3314700" y="3720108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Bug fixes implemented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3314700" y="3930848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Content marketing in progress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3314700" y="4141589"/>
            <a:ext cx="2514600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Growth metrics tracked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3314700" y="3298627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3314700" y="3509367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43" name="Text 40"/>
          <p:cNvSpPr/>
          <p:nvPr/>
        </p:nvSpPr>
        <p:spPr>
          <a:xfrm>
            <a:off x="3314700" y="3720108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44" name="Text 41"/>
          <p:cNvSpPr/>
          <p:nvPr/>
        </p:nvSpPr>
        <p:spPr>
          <a:xfrm>
            <a:off x="3314700" y="3930848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45" name="Text 42"/>
          <p:cNvSpPr/>
          <p:nvPr/>
        </p:nvSpPr>
        <p:spPr>
          <a:xfrm>
            <a:off x="3314700" y="4141589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46" name="Text 43"/>
          <p:cNvSpPr/>
          <p:nvPr/>
        </p:nvSpPr>
        <p:spPr>
          <a:xfrm>
            <a:off x="6057900" y="1802011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Success Metrics</a:t>
            </a:r>
            <a:endParaRPr lang="en-US" sz="784" dirty="0"/>
          </a:p>
        </p:txBody>
      </p:sp>
      <p:sp>
        <p:nvSpPr>
          <p:cNvPr id="47" name="Shape 44"/>
          <p:cNvSpPr/>
          <p:nvPr/>
        </p:nvSpPr>
        <p:spPr>
          <a:xfrm>
            <a:off x="6057900" y="2043113"/>
            <a:ext cx="2514600" cy="49113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8" name="Shape 45"/>
          <p:cNvSpPr/>
          <p:nvPr/>
        </p:nvSpPr>
        <p:spPr>
          <a:xfrm>
            <a:off x="6057900" y="2043113"/>
            <a:ext cx="21431" cy="49113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9" name="Text 46"/>
          <p:cNvSpPr/>
          <p:nvPr/>
        </p:nvSpPr>
        <p:spPr>
          <a:xfrm>
            <a:off x="6157913" y="2143125"/>
            <a:ext cx="231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Signups (Week 7)</a:t>
            </a:r>
            <a:endParaRPr lang="en-US" sz="568" dirty="0"/>
          </a:p>
        </p:txBody>
      </p:sp>
      <p:sp>
        <p:nvSpPr>
          <p:cNvPr id="50" name="Text 47"/>
          <p:cNvSpPr/>
          <p:nvPr/>
        </p:nvSpPr>
        <p:spPr>
          <a:xfrm>
            <a:off x="6157913" y="2278856"/>
            <a:ext cx="2615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500+</a:t>
            </a:r>
            <a:endParaRPr lang="en-US" sz="784" dirty="0"/>
          </a:p>
        </p:txBody>
      </p:sp>
      <p:sp>
        <p:nvSpPr>
          <p:cNvPr id="51" name="Shape 48"/>
          <p:cNvSpPr/>
          <p:nvPr/>
        </p:nvSpPr>
        <p:spPr>
          <a:xfrm>
            <a:off x="6057900" y="2605683"/>
            <a:ext cx="2514600" cy="49113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2" name="Shape 49"/>
          <p:cNvSpPr/>
          <p:nvPr/>
        </p:nvSpPr>
        <p:spPr>
          <a:xfrm>
            <a:off x="6057900" y="2605683"/>
            <a:ext cx="21431" cy="49113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3" name="Text 50"/>
          <p:cNvSpPr/>
          <p:nvPr/>
        </p:nvSpPr>
        <p:spPr>
          <a:xfrm>
            <a:off x="6157913" y="2705695"/>
            <a:ext cx="231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Paid Conversions</a:t>
            </a:r>
            <a:endParaRPr lang="en-US" sz="568" dirty="0"/>
          </a:p>
        </p:txBody>
      </p:sp>
      <p:sp>
        <p:nvSpPr>
          <p:cNvPr id="54" name="Text 51"/>
          <p:cNvSpPr/>
          <p:nvPr/>
        </p:nvSpPr>
        <p:spPr>
          <a:xfrm>
            <a:off x="6157913" y="2841427"/>
            <a:ext cx="1961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10+</a:t>
            </a:r>
            <a:endParaRPr lang="en-US" sz="784" dirty="0"/>
          </a:p>
        </p:txBody>
      </p:sp>
      <p:sp>
        <p:nvSpPr>
          <p:cNvPr id="55" name="Shape 52"/>
          <p:cNvSpPr/>
          <p:nvPr/>
        </p:nvSpPr>
        <p:spPr>
          <a:xfrm>
            <a:off x="6057900" y="3168253"/>
            <a:ext cx="2514600" cy="49113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6" name="Shape 53"/>
          <p:cNvSpPr/>
          <p:nvPr/>
        </p:nvSpPr>
        <p:spPr>
          <a:xfrm>
            <a:off x="6057900" y="3168253"/>
            <a:ext cx="21431" cy="49113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7" name="Text 54"/>
          <p:cNvSpPr/>
          <p:nvPr/>
        </p:nvSpPr>
        <p:spPr>
          <a:xfrm>
            <a:off x="6157913" y="3268266"/>
            <a:ext cx="231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Conversion Rate</a:t>
            </a:r>
            <a:endParaRPr lang="en-US" sz="568" dirty="0"/>
          </a:p>
        </p:txBody>
      </p:sp>
      <p:sp>
        <p:nvSpPr>
          <p:cNvPr id="58" name="Text 55"/>
          <p:cNvSpPr/>
          <p:nvPr/>
        </p:nvSpPr>
        <p:spPr>
          <a:xfrm>
            <a:off x="6157913" y="3403997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&gt;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2%</a:t>
            </a:r>
            <a:endParaRPr lang="en-US" sz="784" dirty="0"/>
          </a:p>
        </p:txBody>
      </p:sp>
      <p:sp>
        <p:nvSpPr>
          <p:cNvPr id="59" name="Shape 56"/>
          <p:cNvSpPr/>
          <p:nvPr/>
        </p:nvSpPr>
        <p:spPr>
          <a:xfrm>
            <a:off x="6057900" y="3730823"/>
            <a:ext cx="2514600" cy="49113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0" name="Shape 57"/>
          <p:cNvSpPr/>
          <p:nvPr/>
        </p:nvSpPr>
        <p:spPr>
          <a:xfrm>
            <a:off x="6057900" y="3730823"/>
            <a:ext cx="21431" cy="49113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1" name="Text 58"/>
          <p:cNvSpPr/>
          <p:nvPr/>
        </p:nvSpPr>
        <p:spPr>
          <a:xfrm>
            <a:off x="6157913" y="3830836"/>
            <a:ext cx="231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User Feedback</a:t>
            </a:r>
            <a:endParaRPr lang="en-US" sz="568" dirty="0"/>
          </a:p>
        </p:txBody>
      </p:sp>
      <p:sp>
        <p:nvSpPr>
          <p:cNvPr id="62" name="Text 59"/>
          <p:cNvSpPr/>
          <p:nvPr/>
        </p:nvSpPr>
        <p:spPr>
          <a:xfrm>
            <a:off x="6157913" y="3966567"/>
            <a:ext cx="2433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4+/5</a:t>
            </a:r>
            <a:endParaRPr lang="en-US" sz="784" dirty="0"/>
          </a:p>
        </p:txBody>
      </p:sp>
      <p:sp>
        <p:nvSpPr>
          <p:cNvPr id="63" name="Shape 60"/>
          <p:cNvSpPr/>
          <p:nvPr/>
        </p:nvSpPr>
        <p:spPr>
          <a:xfrm>
            <a:off x="6057900" y="4293394"/>
            <a:ext cx="2514600" cy="49113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4" name="Shape 61"/>
          <p:cNvSpPr/>
          <p:nvPr/>
        </p:nvSpPr>
        <p:spPr>
          <a:xfrm>
            <a:off x="6057900" y="4293394"/>
            <a:ext cx="21431" cy="49113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5" name="Text 62"/>
          <p:cNvSpPr/>
          <p:nvPr/>
        </p:nvSpPr>
        <p:spPr>
          <a:xfrm>
            <a:off x="6157913" y="4393406"/>
            <a:ext cx="231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Product Hunt</a:t>
            </a:r>
            <a:endParaRPr lang="en-US" sz="568" dirty="0"/>
          </a:p>
        </p:txBody>
      </p:sp>
      <p:sp>
        <p:nvSpPr>
          <p:cNvPr id="66" name="Text 63"/>
          <p:cNvSpPr/>
          <p:nvPr/>
        </p:nvSpPr>
        <p:spPr>
          <a:xfrm>
            <a:off x="6157913" y="4529138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Top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10</a:t>
            </a:r>
            <a:endParaRPr lang="en-US" sz="7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63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608391" cy="250031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428625"/>
            <a:ext cx="608391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 8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428625" y="764381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Scaling &amp;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Optimization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630561"/>
            <a:ext cx="5429250" cy="27430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630561"/>
            <a:ext cx="21431" cy="274309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630561"/>
            <a:ext cx="5429250" cy="27430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Goal: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Scale user acquisition with paid ads and optimize conversion funnel for maximum revenue.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28625" y="1990595"/>
            <a:ext cx="5429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Key Tasks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28625" y="2203121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Set up Google Ads (search and display campaigns)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428625" y="2375995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ad copy and landing pages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28625" y="2548868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Optimize conversion funnel (landing page → signup → trial → paid)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428625" y="2721741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A/B test pricing and features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28625" y="2894614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Implement influencer partnerships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428625" y="3067487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Plan Month 2 initiatives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28625" y="3240360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Analyze metrics and ROI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28625" y="2203121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428625" y="237599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428625" y="2548868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428625" y="2721741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428625" y="2894614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428625" y="3067487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28625" y="3240360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428625" y="3498959"/>
            <a:ext cx="5429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Deliverables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428625" y="3711485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Google Ads campaigns live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428625" y="3884358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Optimized conversion funnel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428625" y="4057231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A/B test results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428625" y="4230105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Influencer partnerships established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428625" y="4402978"/>
            <a:ext cx="5429250" cy="13001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Month 2 growth plan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428625" y="371148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428625" y="3884358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428625" y="4057231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428625" y="423010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428625" y="4402978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6143625" y="1630561"/>
            <a:ext cx="1608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Success Metrics (Week 8)</a:t>
            </a:r>
            <a:endParaRPr lang="en-US" sz="784" dirty="0"/>
          </a:p>
        </p:txBody>
      </p:sp>
      <p:sp>
        <p:nvSpPr>
          <p:cNvPr id="36" name="Shape 33"/>
          <p:cNvSpPr/>
          <p:nvPr/>
        </p:nvSpPr>
        <p:spPr>
          <a:xfrm>
            <a:off x="6143625" y="1843088"/>
            <a:ext cx="1608544" cy="4054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7" name="Shape 34"/>
          <p:cNvSpPr/>
          <p:nvPr/>
        </p:nvSpPr>
        <p:spPr>
          <a:xfrm>
            <a:off x="6143625" y="1843088"/>
            <a:ext cx="21431" cy="40540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8" name="Text 35"/>
          <p:cNvSpPr/>
          <p:nvPr/>
        </p:nvSpPr>
        <p:spPr>
          <a:xfrm>
            <a:off x="6200775" y="1900238"/>
            <a:ext cx="14942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Total Signups</a:t>
            </a:r>
            <a:endParaRPr lang="en-US" sz="568" dirty="0"/>
          </a:p>
        </p:txBody>
      </p:sp>
      <p:sp>
        <p:nvSpPr>
          <p:cNvPr id="39" name="Text 36"/>
          <p:cNvSpPr/>
          <p:nvPr/>
        </p:nvSpPr>
        <p:spPr>
          <a:xfrm>
            <a:off x="6200775" y="2035969"/>
            <a:ext cx="6453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1,000–5,000</a:t>
            </a:r>
            <a:endParaRPr lang="en-US" sz="784" dirty="0"/>
          </a:p>
        </p:txBody>
      </p:sp>
      <p:sp>
        <p:nvSpPr>
          <p:cNvPr id="40" name="Shape 37"/>
          <p:cNvSpPr/>
          <p:nvPr/>
        </p:nvSpPr>
        <p:spPr>
          <a:xfrm>
            <a:off x="6143625" y="2291358"/>
            <a:ext cx="1608544" cy="4054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Shape 38"/>
          <p:cNvSpPr/>
          <p:nvPr/>
        </p:nvSpPr>
        <p:spPr>
          <a:xfrm>
            <a:off x="6143625" y="2291358"/>
            <a:ext cx="21431" cy="40540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2" name="Text 39"/>
          <p:cNvSpPr/>
          <p:nvPr/>
        </p:nvSpPr>
        <p:spPr>
          <a:xfrm>
            <a:off x="6200775" y="2348508"/>
            <a:ext cx="14942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Paid Users</a:t>
            </a:r>
            <a:endParaRPr lang="en-US" sz="568" dirty="0"/>
          </a:p>
        </p:txBody>
      </p:sp>
      <p:sp>
        <p:nvSpPr>
          <p:cNvPr id="43" name="Text 40"/>
          <p:cNvSpPr/>
          <p:nvPr/>
        </p:nvSpPr>
        <p:spPr>
          <a:xfrm>
            <a:off x="6200775" y="2484239"/>
            <a:ext cx="3840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20–100</a:t>
            </a:r>
            <a:endParaRPr lang="en-US" sz="784" dirty="0"/>
          </a:p>
        </p:txBody>
      </p:sp>
      <p:sp>
        <p:nvSpPr>
          <p:cNvPr id="44" name="Shape 41"/>
          <p:cNvSpPr/>
          <p:nvPr/>
        </p:nvSpPr>
        <p:spPr>
          <a:xfrm>
            <a:off x="6143625" y="2739628"/>
            <a:ext cx="1608544" cy="4054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5" name="Shape 42"/>
          <p:cNvSpPr/>
          <p:nvPr/>
        </p:nvSpPr>
        <p:spPr>
          <a:xfrm>
            <a:off x="6143625" y="2739628"/>
            <a:ext cx="21431" cy="40540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6" name="Text 43"/>
          <p:cNvSpPr/>
          <p:nvPr/>
        </p:nvSpPr>
        <p:spPr>
          <a:xfrm>
            <a:off x="6200775" y="2796778"/>
            <a:ext cx="14942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MRR</a:t>
            </a:r>
            <a:endParaRPr lang="en-US" sz="568" dirty="0"/>
          </a:p>
        </p:txBody>
      </p:sp>
      <p:sp>
        <p:nvSpPr>
          <p:cNvPr id="47" name="Text 44"/>
          <p:cNvSpPr/>
          <p:nvPr/>
        </p:nvSpPr>
        <p:spPr>
          <a:xfrm>
            <a:off x="6200775" y="2932509"/>
            <a:ext cx="14942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$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500–3K</a:t>
            </a:r>
            <a:endParaRPr lang="en-US" sz="784" dirty="0"/>
          </a:p>
        </p:txBody>
      </p:sp>
      <p:sp>
        <p:nvSpPr>
          <p:cNvPr id="48" name="Shape 45"/>
          <p:cNvSpPr/>
          <p:nvPr/>
        </p:nvSpPr>
        <p:spPr>
          <a:xfrm>
            <a:off x="6143625" y="3187898"/>
            <a:ext cx="1608544" cy="4054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Shape 46"/>
          <p:cNvSpPr/>
          <p:nvPr/>
        </p:nvSpPr>
        <p:spPr>
          <a:xfrm>
            <a:off x="6143625" y="3187898"/>
            <a:ext cx="21431" cy="40540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0" name="Text 47"/>
          <p:cNvSpPr/>
          <p:nvPr/>
        </p:nvSpPr>
        <p:spPr>
          <a:xfrm>
            <a:off x="6200775" y="3245048"/>
            <a:ext cx="14942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Conversion Rate</a:t>
            </a:r>
            <a:endParaRPr lang="en-US" sz="568" dirty="0"/>
          </a:p>
        </p:txBody>
      </p:sp>
      <p:sp>
        <p:nvSpPr>
          <p:cNvPr id="51" name="Text 48"/>
          <p:cNvSpPr/>
          <p:nvPr/>
        </p:nvSpPr>
        <p:spPr>
          <a:xfrm>
            <a:off x="6200775" y="3380780"/>
            <a:ext cx="2909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2–5%</a:t>
            </a:r>
            <a:endParaRPr lang="en-US" sz="784" dirty="0"/>
          </a:p>
        </p:txBody>
      </p:sp>
      <p:sp>
        <p:nvSpPr>
          <p:cNvPr id="52" name="Shape 49"/>
          <p:cNvSpPr/>
          <p:nvPr/>
        </p:nvSpPr>
        <p:spPr>
          <a:xfrm>
            <a:off x="6143625" y="3807619"/>
            <a:ext cx="2286000" cy="142875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3807619"/>
            <a:ext cx="22860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Expected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Outcomes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 by Week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23380"/>
            <a:ext cx="8001000" cy="292894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323380"/>
            <a:ext cx="1426462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Metric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1997962" y="1323380"/>
            <a:ext cx="789636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 1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2787597" y="1323380"/>
            <a:ext cx="817652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 2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3605250" y="1323380"/>
            <a:ext cx="820220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 3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425469" y="1323380"/>
            <a:ext cx="822759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 4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248228" y="1323380"/>
            <a:ext cx="815113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 5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063342" y="1323380"/>
            <a:ext cx="878793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 6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942134" y="1323380"/>
            <a:ext cx="810034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 7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7752169" y="1323380"/>
            <a:ext cx="820331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 8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571500" y="1616273"/>
            <a:ext cx="8001000" cy="2786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1616273"/>
            <a:ext cx="142646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Free Signups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1997962" y="1616273"/>
            <a:ext cx="789636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2787597" y="1616273"/>
            <a:ext cx="81765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3605250" y="1616273"/>
            <a:ext cx="820220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50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425469" y="1616273"/>
            <a:ext cx="82275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100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5248228" y="1616273"/>
            <a:ext cx="81511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200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6063342" y="1616273"/>
            <a:ext cx="87879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400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7027859" y="1687711"/>
            <a:ext cx="2288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500+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7837894" y="1687711"/>
            <a:ext cx="2308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1–5K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571500" y="1894880"/>
            <a:ext cx="8001000" cy="2786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" y="1894880"/>
            <a:ext cx="142646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Paid Users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1997962" y="1894880"/>
            <a:ext cx="789636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2787597" y="1894880"/>
            <a:ext cx="81765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3605250" y="1894880"/>
            <a:ext cx="820220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4425469" y="1894880"/>
            <a:ext cx="82275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5248228" y="1894880"/>
            <a:ext cx="81511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6063342" y="1894880"/>
            <a:ext cx="87879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2–3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7027859" y="1966317"/>
            <a:ext cx="1716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10+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7837894" y="1966317"/>
            <a:ext cx="336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20–100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571500" y="2173486"/>
            <a:ext cx="8001000" cy="2786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5" name="Text 32"/>
          <p:cNvSpPr/>
          <p:nvPr/>
        </p:nvSpPr>
        <p:spPr>
          <a:xfrm>
            <a:off x="571500" y="2173486"/>
            <a:ext cx="142646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MRR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1997962" y="2173486"/>
            <a:ext cx="789636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$0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2787597" y="2173486"/>
            <a:ext cx="81765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$0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3605250" y="2173486"/>
            <a:ext cx="820220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$0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4425469" y="2173486"/>
            <a:ext cx="82275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$0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5248228" y="2173486"/>
            <a:ext cx="81511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$0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6063342" y="2173486"/>
            <a:ext cx="87879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$10–30</a:t>
            </a:r>
            <a:endParaRPr lang="en-US" sz="727" dirty="0"/>
          </a:p>
        </p:txBody>
      </p:sp>
      <p:sp>
        <p:nvSpPr>
          <p:cNvPr id="42" name="Text 39"/>
          <p:cNvSpPr/>
          <p:nvPr/>
        </p:nvSpPr>
        <p:spPr>
          <a:xfrm>
            <a:off x="7027859" y="2244923"/>
            <a:ext cx="3932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$50–300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7837894" y="2244923"/>
            <a:ext cx="4024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$500–3K</a:t>
            </a:r>
            <a:endParaRPr lang="en-US" sz="683" dirty="0"/>
          </a:p>
        </p:txBody>
      </p:sp>
      <p:sp>
        <p:nvSpPr>
          <p:cNvPr id="44" name="Shape 41"/>
          <p:cNvSpPr/>
          <p:nvPr/>
        </p:nvSpPr>
        <p:spPr>
          <a:xfrm>
            <a:off x="571500" y="2452092"/>
            <a:ext cx="8001000" cy="2786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571500" y="2452092"/>
            <a:ext cx="142646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Conversion Rate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1997962" y="2452092"/>
            <a:ext cx="789636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—</a:t>
            </a:r>
            <a:endParaRPr lang="en-US" sz="727" dirty="0"/>
          </a:p>
        </p:txBody>
      </p:sp>
      <p:sp>
        <p:nvSpPr>
          <p:cNvPr id="47" name="Text 44"/>
          <p:cNvSpPr/>
          <p:nvPr/>
        </p:nvSpPr>
        <p:spPr>
          <a:xfrm>
            <a:off x="2787597" y="2452092"/>
            <a:ext cx="81765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—</a:t>
            </a:r>
            <a:endParaRPr lang="en-US" sz="727" dirty="0"/>
          </a:p>
        </p:txBody>
      </p:sp>
      <p:sp>
        <p:nvSpPr>
          <p:cNvPr id="48" name="Text 45"/>
          <p:cNvSpPr/>
          <p:nvPr/>
        </p:nvSpPr>
        <p:spPr>
          <a:xfrm>
            <a:off x="3605250" y="2452092"/>
            <a:ext cx="820220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—</a:t>
            </a:r>
            <a:endParaRPr lang="en-US" sz="727" dirty="0"/>
          </a:p>
        </p:txBody>
      </p:sp>
      <p:sp>
        <p:nvSpPr>
          <p:cNvPr id="49" name="Text 46"/>
          <p:cNvSpPr/>
          <p:nvPr/>
        </p:nvSpPr>
        <p:spPr>
          <a:xfrm>
            <a:off x="4425469" y="2452092"/>
            <a:ext cx="82275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—</a:t>
            </a:r>
            <a:endParaRPr lang="en-US" sz="727" dirty="0"/>
          </a:p>
        </p:txBody>
      </p:sp>
      <p:sp>
        <p:nvSpPr>
          <p:cNvPr id="50" name="Text 47"/>
          <p:cNvSpPr/>
          <p:nvPr/>
        </p:nvSpPr>
        <p:spPr>
          <a:xfrm>
            <a:off x="5248228" y="2452092"/>
            <a:ext cx="81511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—</a:t>
            </a:r>
            <a:endParaRPr lang="en-US" sz="727" dirty="0"/>
          </a:p>
        </p:txBody>
      </p:sp>
      <p:sp>
        <p:nvSpPr>
          <p:cNvPr id="51" name="Text 48"/>
          <p:cNvSpPr/>
          <p:nvPr/>
        </p:nvSpPr>
        <p:spPr>
          <a:xfrm>
            <a:off x="6063342" y="2452092"/>
            <a:ext cx="87879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0.5–0.8%</a:t>
            </a:r>
            <a:endParaRPr lang="en-US" sz="727" dirty="0"/>
          </a:p>
        </p:txBody>
      </p:sp>
      <p:sp>
        <p:nvSpPr>
          <p:cNvPr id="52" name="Text 49"/>
          <p:cNvSpPr/>
          <p:nvPr/>
        </p:nvSpPr>
        <p:spPr>
          <a:xfrm>
            <a:off x="7027859" y="2523530"/>
            <a:ext cx="1473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2%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7837894" y="2523530"/>
            <a:ext cx="254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2–5%</a:t>
            </a:r>
            <a:endParaRPr lang="en-US" sz="683" dirty="0"/>
          </a:p>
        </p:txBody>
      </p:sp>
      <p:sp>
        <p:nvSpPr>
          <p:cNvPr id="54" name="Shape 51"/>
          <p:cNvSpPr/>
          <p:nvPr/>
        </p:nvSpPr>
        <p:spPr>
          <a:xfrm>
            <a:off x="571500" y="2730698"/>
            <a:ext cx="8001000" cy="2786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Text 52"/>
          <p:cNvSpPr/>
          <p:nvPr/>
        </p:nvSpPr>
        <p:spPr>
          <a:xfrm>
            <a:off x="571500" y="2730698"/>
            <a:ext cx="142646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Blog Traffic</a:t>
            </a:r>
            <a:endParaRPr lang="en-US" sz="683" dirty="0"/>
          </a:p>
        </p:txBody>
      </p:sp>
      <p:sp>
        <p:nvSpPr>
          <p:cNvPr id="56" name="Text 53"/>
          <p:cNvSpPr/>
          <p:nvPr/>
        </p:nvSpPr>
        <p:spPr>
          <a:xfrm>
            <a:off x="1997962" y="2730698"/>
            <a:ext cx="789636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57" name="Text 54"/>
          <p:cNvSpPr/>
          <p:nvPr/>
        </p:nvSpPr>
        <p:spPr>
          <a:xfrm>
            <a:off x="2787597" y="2730698"/>
            <a:ext cx="81765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58" name="Text 55"/>
          <p:cNvSpPr/>
          <p:nvPr/>
        </p:nvSpPr>
        <p:spPr>
          <a:xfrm>
            <a:off x="3605250" y="2730698"/>
            <a:ext cx="820220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59" name="Text 56"/>
          <p:cNvSpPr/>
          <p:nvPr/>
        </p:nvSpPr>
        <p:spPr>
          <a:xfrm>
            <a:off x="4425469" y="2730698"/>
            <a:ext cx="82275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60" name="Text 57"/>
          <p:cNvSpPr/>
          <p:nvPr/>
        </p:nvSpPr>
        <p:spPr>
          <a:xfrm>
            <a:off x="5248228" y="2730698"/>
            <a:ext cx="81511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50</a:t>
            </a:r>
            <a:endParaRPr lang="en-US" sz="727" dirty="0"/>
          </a:p>
        </p:txBody>
      </p:sp>
      <p:sp>
        <p:nvSpPr>
          <p:cNvPr id="61" name="Text 58"/>
          <p:cNvSpPr/>
          <p:nvPr/>
        </p:nvSpPr>
        <p:spPr>
          <a:xfrm>
            <a:off x="6063342" y="2730698"/>
            <a:ext cx="87879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100–200</a:t>
            </a:r>
            <a:endParaRPr lang="en-US" sz="727" dirty="0"/>
          </a:p>
        </p:txBody>
      </p:sp>
      <p:sp>
        <p:nvSpPr>
          <p:cNvPr id="62" name="Text 59"/>
          <p:cNvSpPr/>
          <p:nvPr/>
        </p:nvSpPr>
        <p:spPr>
          <a:xfrm>
            <a:off x="7027859" y="2802136"/>
            <a:ext cx="3932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200–300</a:t>
            </a:r>
            <a:endParaRPr lang="en-US" sz="683" dirty="0"/>
          </a:p>
        </p:txBody>
      </p:sp>
      <p:sp>
        <p:nvSpPr>
          <p:cNvPr id="63" name="Text 60"/>
          <p:cNvSpPr/>
          <p:nvPr/>
        </p:nvSpPr>
        <p:spPr>
          <a:xfrm>
            <a:off x="7837894" y="2802136"/>
            <a:ext cx="3932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300–500</a:t>
            </a:r>
            <a:endParaRPr lang="en-US" sz="683" dirty="0"/>
          </a:p>
        </p:txBody>
      </p:sp>
      <p:sp>
        <p:nvSpPr>
          <p:cNvPr id="64" name="Shape 61"/>
          <p:cNvSpPr/>
          <p:nvPr/>
        </p:nvSpPr>
        <p:spPr>
          <a:xfrm>
            <a:off x="571500" y="3009305"/>
            <a:ext cx="8001000" cy="2786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2"/>
          <p:cNvSpPr/>
          <p:nvPr/>
        </p:nvSpPr>
        <p:spPr>
          <a:xfrm>
            <a:off x="571500" y="3009305"/>
            <a:ext cx="142646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Social Followers</a:t>
            </a:r>
            <a:endParaRPr lang="en-US" sz="683" dirty="0"/>
          </a:p>
        </p:txBody>
      </p:sp>
      <p:sp>
        <p:nvSpPr>
          <p:cNvPr id="66" name="Text 63"/>
          <p:cNvSpPr/>
          <p:nvPr/>
        </p:nvSpPr>
        <p:spPr>
          <a:xfrm>
            <a:off x="1997962" y="3009305"/>
            <a:ext cx="789636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67" name="Text 64"/>
          <p:cNvSpPr/>
          <p:nvPr/>
        </p:nvSpPr>
        <p:spPr>
          <a:xfrm>
            <a:off x="2787597" y="3009305"/>
            <a:ext cx="81765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68" name="Text 65"/>
          <p:cNvSpPr/>
          <p:nvPr/>
        </p:nvSpPr>
        <p:spPr>
          <a:xfrm>
            <a:off x="3605250" y="3009305"/>
            <a:ext cx="820220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69" name="Text 66"/>
          <p:cNvSpPr/>
          <p:nvPr/>
        </p:nvSpPr>
        <p:spPr>
          <a:xfrm>
            <a:off x="4425469" y="3009305"/>
            <a:ext cx="82275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70" name="Text 67"/>
          <p:cNvSpPr/>
          <p:nvPr/>
        </p:nvSpPr>
        <p:spPr>
          <a:xfrm>
            <a:off x="5248228" y="3009305"/>
            <a:ext cx="81511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71" name="Text 68"/>
          <p:cNvSpPr/>
          <p:nvPr/>
        </p:nvSpPr>
        <p:spPr>
          <a:xfrm>
            <a:off x="6063342" y="3009305"/>
            <a:ext cx="87879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100–200</a:t>
            </a:r>
            <a:endParaRPr lang="en-US" sz="727" dirty="0"/>
          </a:p>
        </p:txBody>
      </p:sp>
      <p:sp>
        <p:nvSpPr>
          <p:cNvPr id="72" name="Text 69"/>
          <p:cNvSpPr/>
          <p:nvPr/>
        </p:nvSpPr>
        <p:spPr>
          <a:xfrm>
            <a:off x="7027859" y="3080742"/>
            <a:ext cx="3932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200–500</a:t>
            </a:r>
            <a:endParaRPr lang="en-US" sz="683" dirty="0"/>
          </a:p>
        </p:txBody>
      </p:sp>
      <p:sp>
        <p:nvSpPr>
          <p:cNvPr id="73" name="Text 70"/>
          <p:cNvSpPr/>
          <p:nvPr/>
        </p:nvSpPr>
        <p:spPr>
          <a:xfrm>
            <a:off x="7837894" y="3080742"/>
            <a:ext cx="3452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500–1K</a:t>
            </a:r>
            <a:endParaRPr lang="en-US" sz="683" dirty="0"/>
          </a:p>
        </p:txBody>
      </p:sp>
      <p:sp>
        <p:nvSpPr>
          <p:cNvPr id="74" name="Shape 71"/>
          <p:cNvSpPr/>
          <p:nvPr/>
        </p:nvSpPr>
        <p:spPr>
          <a:xfrm>
            <a:off x="571500" y="3287911"/>
            <a:ext cx="8001000" cy="2786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5" name="Text 72"/>
          <p:cNvSpPr/>
          <p:nvPr/>
        </p:nvSpPr>
        <p:spPr>
          <a:xfrm>
            <a:off x="571500" y="3287911"/>
            <a:ext cx="142646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Email List</a:t>
            </a:r>
            <a:endParaRPr lang="en-US" sz="683" dirty="0"/>
          </a:p>
        </p:txBody>
      </p:sp>
      <p:sp>
        <p:nvSpPr>
          <p:cNvPr id="76" name="Text 73"/>
          <p:cNvSpPr/>
          <p:nvPr/>
        </p:nvSpPr>
        <p:spPr>
          <a:xfrm>
            <a:off x="1997962" y="3287911"/>
            <a:ext cx="789636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77" name="Text 74"/>
          <p:cNvSpPr/>
          <p:nvPr/>
        </p:nvSpPr>
        <p:spPr>
          <a:xfrm>
            <a:off x="2787597" y="3287911"/>
            <a:ext cx="81765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78" name="Text 75"/>
          <p:cNvSpPr/>
          <p:nvPr/>
        </p:nvSpPr>
        <p:spPr>
          <a:xfrm>
            <a:off x="3605250" y="3287911"/>
            <a:ext cx="820220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79" name="Text 76"/>
          <p:cNvSpPr/>
          <p:nvPr/>
        </p:nvSpPr>
        <p:spPr>
          <a:xfrm>
            <a:off x="4425469" y="3287911"/>
            <a:ext cx="82275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</a:t>
            </a:r>
            <a:endParaRPr lang="en-US" sz="727" dirty="0"/>
          </a:p>
        </p:txBody>
      </p:sp>
      <p:sp>
        <p:nvSpPr>
          <p:cNvPr id="80" name="Text 77"/>
          <p:cNvSpPr/>
          <p:nvPr/>
        </p:nvSpPr>
        <p:spPr>
          <a:xfrm>
            <a:off x="5248228" y="3287911"/>
            <a:ext cx="81511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50</a:t>
            </a:r>
            <a:endParaRPr lang="en-US" sz="727" dirty="0"/>
          </a:p>
        </p:txBody>
      </p:sp>
      <p:sp>
        <p:nvSpPr>
          <p:cNvPr id="81" name="Text 78"/>
          <p:cNvSpPr/>
          <p:nvPr/>
        </p:nvSpPr>
        <p:spPr>
          <a:xfrm>
            <a:off x="6063342" y="3287911"/>
            <a:ext cx="87879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100–150</a:t>
            </a:r>
            <a:endParaRPr lang="en-US" sz="727" dirty="0"/>
          </a:p>
        </p:txBody>
      </p:sp>
      <p:sp>
        <p:nvSpPr>
          <p:cNvPr id="82" name="Text 79"/>
          <p:cNvSpPr/>
          <p:nvPr/>
        </p:nvSpPr>
        <p:spPr>
          <a:xfrm>
            <a:off x="7027859" y="3359348"/>
            <a:ext cx="3932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150–300</a:t>
            </a:r>
            <a:endParaRPr lang="en-US" sz="683" dirty="0"/>
          </a:p>
        </p:txBody>
      </p:sp>
      <p:sp>
        <p:nvSpPr>
          <p:cNvPr id="83" name="Text 80"/>
          <p:cNvSpPr/>
          <p:nvPr/>
        </p:nvSpPr>
        <p:spPr>
          <a:xfrm>
            <a:off x="7837894" y="3359348"/>
            <a:ext cx="3932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300–500</a:t>
            </a:r>
            <a:endParaRPr lang="en-US" sz="683" dirty="0"/>
          </a:p>
        </p:txBody>
      </p:sp>
      <p:sp>
        <p:nvSpPr>
          <p:cNvPr id="84" name="Shape 81"/>
          <p:cNvSpPr/>
          <p:nvPr/>
        </p:nvSpPr>
        <p:spPr>
          <a:xfrm>
            <a:off x="571500" y="3566517"/>
            <a:ext cx="8001000" cy="2786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2"/>
          <p:cNvSpPr/>
          <p:nvPr/>
        </p:nvSpPr>
        <p:spPr>
          <a:xfrm>
            <a:off x="571500" y="3566517"/>
            <a:ext cx="142646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Churn Rate</a:t>
            </a:r>
            <a:endParaRPr lang="en-US" sz="683" dirty="0"/>
          </a:p>
        </p:txBody>
      </p:sp>
      <p:sp>
        <p:nvSpPr>
          <p:cNvPr id="86" name="Text 83"/>
          <p:cNvSpPr/>
          <p:nvPr/>
        </p:nvSpPr>
        <p:spPr>
          <a:xfrm>
            <a:off x="1997962" y="3566517"/>
            <a:ext cx="789636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—</a:t>
            </a:r>
            <a:endParaRPr lang="en-US" sz="727" dirty="0"/>
          </a:p>
        </p:txBody>
      </p:sp>
      <p:sp>
        <p:nvSpPr>
          <p:cNvPr id="87" name="Text 84"/>
          <p:cNvSpPr/>
          <p:nvPr/>
        </p:nvSpPr>
        <p:spPr>
          <a:xfrm>
            <a:off x="2787597" y="3566517"/>
            <a:ext cx="817652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—</a:t>
            </a:r>
            <a:endParaRPr lang="en-US" sz="727" dirty="0"/>
          </a:p>
        </p:txBody>
      </p:sp>
      <p:sp>
        <p:nvSpPr>
          <p:cNvPr id="88" name="Text 85"/>
          <p:cNvSpPr/>
          <p:nvPr/>
        </p:nvSpPr>
        <p:spPr>
          <a:xfrm>
            <a:off x="3605250" y="3566517"/>
            <a:ext cx="820220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—</a:t>
            </a:r>
            <a:endParaRPr lang="en-US" sz="727" dirty="0"/>
          </a:p>
        </p:txBody>
      </p:sp>
      <p:sp>
        <p:nvSpPr>
          <p:cNvPr id="89" name="Text 86"/>
          <p:cNvSpPr/>
          <p:nvPr/>
        </p:nvSpPr>
        <p:spPr>
          <a:xfrm>
            <a:off x="4425469" y="3566517"/>
            <a:ext cx="82275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—</a:t>
            </a:r>
            <a:endParaRPr lang="en-US" sz="727" dirty="0"/>
          </a:p>
        </p:txBody>
      </p:sp>
      <p:sp>
        <p:nvSpPr>
          <p:cNvPr id="90" name="Text 87"/>
          <p:cNvSpPr/>
          <p:nvPr/>
        </p:nvSpPr>
        <p:spPr>
          <a:xfrm>
            <a:off x="5248228" y="3566517"/>
            <a:ext cx="81511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—</a:t>
            </a:r>
            <a:endParaRPr lang="en-US" sz="727" dirty="0"/>
          </a:p>
        </p:txBody>
      </p:sp>
      <p:sp>
        <p:nvSpPr>
          <p:cNvPr id="91" name="Text 88"/>
          <p:cNvSpPr/>
          <p:nvPr/>
        </p:nvSpPr>
        <p:spPr>
          <a:xfrm>
            <a:off x="6063342" y="3566517"/>
            <a:ext cx="878793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—</a:t>
            </a:r>
            <a:endParaRPr lang="en-US" sz="727" dirty="0"/>
          </a:p>
        </p:txBody>
      </p:sp>
      <p:sp>
        <p:nvSpPr>
          <p:cNvPr id="92" name="Text 89"/>
          <p:cNvSpPr/>
          <p:nvPr/>
        </p:nvSpPr>
        <p:spPr>
          <a:xfrm>
            <a:off x="7027859" y="3637955"/>
            <a:ext cx="2045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15%</a:t>
            </a:r>
            <a:endParaRPr lang="en-US" sz="683" dirty="0"/>
          </a:p>
        </p:txBody>
      </p:sp>
      <p:sp>
        <p:nvSpPr>
          <p:cNvPr id="93" name="Text 90"/>
          <p:cNvSpPr/>
          <p:nvPr/>
        </p:nvSpPr>
        <p:spPr>
          <a:xfrm>
            <a:off x="7837894" y="3637955"/>
            <a:ext cx="2617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&lt;10%</a:t>
            </a:r>
            <a:endParaRPr lang="en-US" sz="683" dirty="0"/>
          </a:p>
        </p:txBody>
      </p:sp>
      <p:sp>
        <p:nvSpPr>
          <p:cNvPr id="94" name="Text 91"/>
          <p:cNvSpPr/>
          <p:nvPr/>
        </p:nvSpPr>
        <p:spPr>
          <a:xfrm>
            <a:off x="571500" y="3995142"/>
            <a:ext cx="8001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Key Assumptions:</a:t>
            </a:r>
            <a:endParaRPr lang="en-US" sz="634" dirty="0"/>
          </a:p>
        </p:txBody>
      </p:sp>
      <p:sp>
        <p:nvSpPr>
          <p:cNvPr id="95" name="Text 92"/>
          <p:cNvSpPr/>
          <p:nvPr/>
        </p:nvSpPr>
        <p:spPr>
          <a:xfrm>
            <a:off x="571500" y="4200860"/>
            <a:ext cx="8001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• Free tier limited to 5 articles/month; paid tier ($9–29/month) offers unlimited articles with advanced features</a:t>
            </a:r>
            <a:endParaRPr lang="en-US" sz="674" dirty="0"/>
          </a:p>
        </p:txBody>
      </p:sp>
      <p:sp>
        <p:nvSpPr>
          <p:cNvPr id="96" name="Text 93"/>
          <p:cNvSpPr/>
          <p:nvPr/>
        </p:nvSpPr>
        <p:spPr>
          <a:xfrm>
            <a:off x="571500" y="4349428"/>
            <a:ext cx="8001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• Conversion rate improves as onboarding and marketing mature (Week 6–8)</a:t>
            </a:r>
            <a:endParaRPr lang="en-US" sz="674" dirty="0"/>
          </a:p>
        </p:txBody>
      </p:sp>
      <p:sp>
        <p:nvSpPr>
          <p:cNvPr id="97" name="Text 94"/>
          <p:cNvSpPr/>
          <p:nvPr/>
        </p:nvSpPr>
        <p:spPr>
          <a:xfrm>
            <a:off x="571500" y="4497995"/>
            <a:ext cx="8001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• MRR assumes average paid user value of $15–25/month</a:t>
            </a:r>
            <a:endParaRPr lang="en-US" sz="674" dirty="0"/>
          </a:p>
        </p:txBody>
      </p:sp>
      <p:sp>
        <p:nvSpPr>
          <p:cNvPr id="98" name="Text 95"/>
          <p:cNvSpPr/>
          <p:nvPr/>
        </p:nvSpPr>
        <p:spPr>
          <a:xfrm>
            <a:off x="571500" y="4646563"/>
            <a:ext cx="8001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• Churn rate improves with better onboarding and customer success (target &lt;10% by Month 2)</a:t>
            </a:r>
            <a:endParaRPr lang="en-US" sz="67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571500"/>
            <a:ext cx="83439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Growth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Trajectory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00050" y="1237655"/>
            <a:ext cx="40433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The AI Writing Assistant is projected to experience exponential growth from Week 1 through Week 8, driven by organic user acquisition, content marketing, and paid advertising efforts.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400050" y="1803406"/>
            <a:ext cx="40433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Week 1–4: Foundation Phase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00050" y="2015933"/>
            <a:ext cx="4043363" cy="14000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Development and infrastructure setup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00050" y="2198796"/>
            <a:ext cx="4043363" cy="14000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Minimal user acquisition (0–100 users)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00050" y="2381659"/>
            <a:ext cx="4043363" cy="14000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Focus on product quality and feature completion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00050" y="2015933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00050" y="2198796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00050" y="2381659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00050" y="2650248"/>
            <a:ext cx="40433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Week 5–6: Launch Preparation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00050" y="2862774"/>
            <a:ext cx="4043363" cy="14000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Marketing channels established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400050" y="3045637"/>
            <a:ext cx="4043363" cy="14000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User acquisition begins (100–500 users)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00050" y="3228501"/>
            <a:ext cx="4043363" cy="14000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Content marketing in progress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00050" y="2862774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00050" y="3045637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00050" y="3228501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00050" y="3497089"/>
            <a:ext cx="40433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Week 7–8: Scaling Phase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00050" y="3709615"/>
            <a:ext cx="4043363" cy="14000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Beta launch and public availability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400050" y="3892479"/>
            <a:ext cx="4043363" cy="14000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Exponential growth (500–5,000 users)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00050" y="4075342"/>
            <a:ext cx="4043363" cy="14000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Paid advertising and organic channels active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00050" y="4258205"/>
            <a:ext cx="4043363" cy="14000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Revenue generation begins ($500–3,000 MRR)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400050" y="3709615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400050" y="3892479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00050" y="4075342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00050" y="4258205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8" name="Shape 25"/>
          <p:cNvSpPr/>
          <p:nvPr/>
        </p:nvSpPr>
        <p:spPr>
          <a:xfrm>
            <a:off x="400050" y="4526793"/>
            <a:ext cx="1964531" cy="47684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6"/>
          <p:cNvSpPr/>
          <p:nvPr/>
        </p:nvSpPr>
        <p:spPr>
          <a:xfrm>
            <a:off x="400050" y="4526793"/>
            <a:ext cx="21431" cy="47684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0" name="Text 27"/>
          <p:cNvSpPr/>
          <p:nvPr/>
        </p:nvSpPr>
        <p:spPr>
          <a:xfrm>
            <a:off x="471488" y="4598231"/>
            <a:ext cx="18109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Week 8 Users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471488" y="4757179"/>
            <a:ext cx="2968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1–5K</a:t>
            </a:r>
            <a:endParaRPr lang="en-US" sz="885" dirty="0"/>
          </a:p>
        </p:txBody>
      </p:sp>
      <p:sp>
        <p:nvSpPr>
          <p:cNvPr id="32" name="Shape 29"/>
          <p:cNvSpPr/>
          <p:nvPr/>
        </p:nvSpPr>
        <p:spPr>
          <a:xfrm>
            <a:off x="2468166" y="4526793"/>
            <a:ext cx="1975247" cy="47684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Shape 30"/>
          <p:cNvSpPr/>
          <p:nvPr/>
        </p:nvSpPr>
        <p:spPr>
          <a:xfrm>
            <a:off x="2468166" y="4526793"/>
            <a:ext cx="21431" cy="47684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4" name="Text 31"/>
          <p:cNvSpPr/>
          <p:nvPr/>
        </p:nvSpPr>
        <p:spPr>
          <a:xfrm>
            <a:off x="2550319" y="4598231"/>
            <a:ext cx="18216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Week 8 MRR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2550319" y="4757179"/>
            <a:ext cx="18216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$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500–3K</a:t>
            </a:r>
            <a:endParaRPr lang="en-US" sz="885" dirty="0"/>
          </a:p>
        </p:txBody>
      </p:sp>
      <p:sp>
        <p:nvSpPr>
          <p:cNvPr id="36" name="Shape 33"/>
          <p:cNvSpPr/>
          <p:nvPr/>
        </p:nvSpPr>
        <p:spPr>
          <a:xfrm>
            <a:off x="5436394" y="1237655"/>
            <a:ext cx="2571750" cy="1571625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394" y="1237655"/>
            <a:ext cx="2571750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935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Critical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Metrics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 to Track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37680"/>
            <a:ext cx="18216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User Acquisition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571500" y="1678781"/>
            <a:ext cx="1821656" cy="482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78781"/>
            <a:ext cx="21431" cy="482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7" name="Text 4"/>
          <p:cNvSpPr/>
          <p:nvPr/>
        </p:nvSpPr>
        <p:spPr>
          <a:xfrm>
            <a:off x="657225" y="1764506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Signups (Weekly)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657225" y="1919883"/>
            <a:ext cx="4494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100–500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571500" y="2232422"/>
            <a:ext cx="1821656" cy="482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232422"/>
            <a:ext cx="21431" cy="482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1" name="Text 8"/>
          <p:cNvSpPr/>
          <p:nvPr/>
        </p:nvSpPr>
        <p:spPr>
          <a:xfrm>
            <a:off x="657225" y="2318147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CAC (Cost per Acquisition)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657225" y="2473523"/>
            <a:ext cx="16502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&lt; $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571500" y="2786063"/>
            <a:ext cx="1821656" cy="482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2786063"/>
            <a:ext cx="21431" cy="482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657225" y="2871788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Traffic Sources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657225" y="3027164"/>
            <a:ext cx="12846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Organic, Paid, Referral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2536031" y="1437680"/>
            <a:ext cx="18216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Engagement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2536031" y="1678781"/>
            <a:ext cx="1821656" cy="482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6"/>
          <p:cNvSpPr/>
          <p:nvPr/>
        </p:nvSpPr>
        <p:spPr>
          <a:xfrm>
            <a:off x="2536031" y="1678781"/>
            <a:ext cx="21431" cy="482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0" name="Text 17"/>
          <p:cNvSpPr/>
          <p:nvPr/>
        </p:nvSpPr>
        <p:spPr>
          <a:xfrm>
            <a:off x="2621756" y="1764506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Active Users (DAU/MAU)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2621756" y="1919883"/>
            <a:ext cx="4216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30–50%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2536031" y="2232422"/>
            <a:ext cx="1821656" cy="482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20"/>
          <p:cNvSpPr/>
          <p:nvPr/>
        </p:nvSpPr>
        <p:spPr>
          <a:xfrm>
            <a:off x="2536031" y="2232422"/>
            <a:ext cx="21431" cy="482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4" name="Text 21"/>
          <p:cNvSpPr/>
          <p:nvPr/>
        </p:nvSpPr>
        <p:spPr>
          <a:xfrm>
            <a:off x="2621756" y="2318147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Articles Generated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2621756" y="2473523"/>
            <a:ext cx="16502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5–20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 per user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2536031" y="2786063"/>
            <a:ext cx="1821656" cy="482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4"/>
          <p:cNvSpPr/>
          <p:nvPr/>
        </p:nvSpPr>
        <p:spPr>
          <a:xfrm>
            <a:off x="2536031" y="2786063"/>
            <a:ext cx="21431" cy="482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8" name="Text 25"/>
          <p:cNvSpPr/>
          <p:nvPr/>
        </p:nvSpPr>
        <p:spPr>
          <a:xfrm>
            <a:off x="2621756" y="2871788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Session Duration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2621756" y="3027164"/>
            <a:ext cx="16502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&gt;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 min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571500" y="3482578"/>
            <a:ext cx="18216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Conversion</a:t>
            </a:r>
            <a:endParaRPr lang="en-US" sz="784" dirty="0"/>
          </a:p>
        </p:txBody>
      </p:sp>
      <p:sp>
        <p:nvSpPr>
          <p:cNvPr id="31" name="Shape 28"/>
          <p:cNvSpPr/>
          <p:nvPr/>
        </p:nvSpPr>
        <p:spPr>
          <a:xfrm>
            <a:off x="571500" y="3723680"/>
            <a:ext cx="1821656" cy="482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571500" y="3723680"/>
            <a:ext cx="21431" cy="482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3" name="Text 30"/>
          <p:cNvSpPr/>
          <p:nvPr/>
        </p:nvSpPr>
        <p:spPr>
          <a:xfrm>
            <a:off x="657225" y="3809405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Free-to-Paid Conversion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657225" y="3964781"/>
            <a:ext cx="2909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2–5%</a:t>
            </a:r>
            <a:endParaRPr lang="en-US" sz="784" dirty="0"/>
          </a:p>
        </p:txBody>
      </p:sp>
      <p:sp>
        <p:nvSpPr>
          <p:cNvPr id="35" name="Shape 32"/>
          <p:cNvSpPr/>
          <p:nvPr/>
        </p:nvSpPr>
        <p:spPr>
          <a:xfrm>
            <a:off x="571500" y="4277320"/>
            <a:ext cx="1821656" cy="482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6" name="Shape 33"/>
          <p:cNvSpPr/>
          <p:nvPr/>
        </p:nvSpPr>
        <p:spPr>
          <a:xfrm>
            <a:off x="571500" y="4277320"/>
            <a:ext cx="21431" cy="482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7" name="Text 34"/>
          <p:cNvSpPr/>
          <p:nvPr/>
        </p:nvSpPr>
        <p:spPr>
          <a:xfrm>
            <a:off x="657225" y="4363045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Paid Signups (Weekly)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657225" y="4518422"/>
            <a:ext cx="2532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2–25</a:t>
            </a:r>
            <a:endParaRPr lang="en-US" sz="784" dirty="0"/>
          </a:p>
        </p:txBody>
      </p:sp>
      <p:sp>
        <p:nvSpPr>
          <p:cNvPr id="39" name="Shape 36"/>
          <p:cNvSpPr/>
          <p:nvPr/>
        </p:nvSpPr>
        <p:spPr>
          <a:xfrm>
            <a:off x="571500" y="4830961"/>
            <a:ext cx="1821656" cy="49113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Shape 37"/>
          <p:cNvSpPr/>
          <p:nvPr/>
        </p:nvSpPr>
        <p:spPr>
          <a:xfrm>
            <a:off x="571500" y="4830961"/>
            <a:ext cx="21431" cy="49113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1" name="Text 38"/>
          <p:cNvSpPr/>
          <p:nvPr/>
        </p:nvSpPr>
        <p:spPr>
          <a:xfrm>
            <a:off x="657225" y="4916686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Conversion Rate Trend</a:t>
            </a:r>
            <a:endParaRPr lang="en-US" sz="634" dirty="0"/>
          </a:p>
        </p:txBody>
      </p:sp>
      <p:sp>
        <p:nvSpPr>
          <p:cNvPr id="42" name="Text 39"/>
          <p:cNvSpPr/>
          <p:nvPr/>
        </p:nvSpPr>
        <p:spPr>
          <a:xfrm>
            <a:off x="657225" y="5072063"/>
            <a:ext cx="16502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Increasing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↑</a:t>
            </a:r>
            <a:endParaRPr lang="en-US" sz="784" dirty="0"/>
          </a:p>
        </p:txBody>
      </p:sp>
      <p:sp>
        <p:nvSpPr>
          <p:cNvPr id="43" name="Text 40"/>
          <p:cNvSpPr/>
          <p:nvPr/>
        </p:nvSpPr>
        <p:spPr>
          <a:xfrm>
            <a:off x="2536031" y="3482578"/>
            <a:ext cx="18216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Retention &amp; Revenue</a:t>
            </a:r>
            <a:endParaRPr lang="en-US" sz="784" dirty="0"/>
          </a:p>
        </p:txBody>
      </p:sp>
      <p:sp>
        <p:nvSpPr>
          <p:cNvPr id="44" name="Shape 41"/>
          <p:cNvSpPr/>
          <p:nvPr/>
        </p:nvSpPr>
        <p:spPr>
          <a:xfrm>
            <a:off x="2536031" y="3723680"/>
            <a:ext cx="1821656" cy="482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5" name="Shape 42"/>
          <p:cNvSpPr/>
          <p:nvPr/>
        </p:nvSpPr>
        <p:spPr>
          <a:xfrm>
            <a:off x="2536031" y="3723680"/>
            <a:ext cx="21431" cy="482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6" name="Text 43"/>
          <p:cNvSpPr/>
          <p:nvPr/>
        </p:nvSpPr>
        <p:spPr>
          <a:xfrm>
            <a:off x="2621756" y="3809405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Monthly Churn Rate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2621756" y="3964781"/>
            <a:ext cx="16502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&lt;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10%</a:t>
            </a:r>
            <a:endParaRPr lang="en-US" sz="784" dirty="0"/>
          </a:p>
        </p:txBody>
      </p:sp>
      <p:sp>
        <p:nvSpPr>
          <p:cNvPr id="48" name="Shape 45"/>
          <p:cNvSpPr/>
          <p:nvPr/>
        </p:nvSpPr>
        <p:spPr>
          <a:xfrm>
            <a:off x="2536031" y="4277320"/>
            <a:ext cx="1821656" cy="482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Shape 46"/>
          <p:cNvSpPr/>
          <p:nvPr/>
        </p:nvSpPr>
        <p:spPr>
          <a:xfrm>
            <a:off x="2536031" y="4277320"/>
            <a:ext cx="21431" cy="482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0" name="Text 47"/>
          <p:cNvSpPr/>
          <p:nvPr/>
        </p:nvSpPr>
        <p:spPr>
          <a:xfrm>
            <a:off x="2621756" y="4363045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MRR (Monthly Recurring Revenue)</a:t>
            </a:r>
            <a:endParaRPr lang="en-US" sz="634" dirty="0"/>
          </a:p>
        </p:txBody>
      </p:sp>
      <p:sp>
        <p:nvSpPr>
          <p:cNvPr id="51" name="Text 48"/>
          <p:cNvSpPr/>
          <p:nvPr/>
        </p:nvSpPr>
        <p:spPr>
          <a:xfrm>
            <a:off x="2621756" y="4518422"/>
            <a:ext cx="16502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$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500–3K</a:t>
            </a:r>
            <a:endParaRPr lang="en-US" sz="784" dirty="0"/>
          </a:p>
        </p:txBody>
      </p:sp>
      <p:sp>
        <p:nvSpPr>
          <p:cNvPr id="52" name="Shape 49"/>
          <p:cNvSpPr/>
          <p:nvPr/>
        </p:nvSpPr>
        <p:spPr>
          <a:xfrm>
            <a:off x="2536031" y="4830961"/>
            <a:ext cx="1821656" cy="482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3" name="Shape 50"/>
          <p:cNvSpPr/>
          <p:nvPr/>
        </p:nvSpPr>
        <p:spPr>
          <a:xfrm>
            <a:off x="2536031" y="4830961"/>
            <a:ext cx="21431" cy="482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4" name="Text 51"/>
          <p:cNvSpPr/>
          <p:nvPr/>
        </p:nvSpPr>
        <p:spPr>
          <a:xfrm>
            <a:off x="2621756" y="4916686"/>
            <a:ext cx="165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LTV (Lifetime Value)</a:t>
            </a:r>
            <a:endParaRPr lang="en-US" sz="634" dirty="0"/>
          </a:p>
        </p:txBody>
      </p:sp>
      <p:sp>
        <p:nvSpPr>
          <p:cNvPr id="55" name="Text 52"/>
          <p:cNvSpPr/>
          <p:nvPr/>
        </p:nvSpPr>
        <p:spPr>
          <a:xfrm>
            <a:off x="2621756" y="5072063"/>
            <a:ext cx="16502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&gt; $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100</a:t>
            </a:r>
            <a:endParaRPr lang="en-US" sz="784" dirty="0"/>
          </a:p>
        </p:txBody>
      </p:sp>
      <p:sp>
        <p:nvSpPr>
          <p:cNvPr id="56" name="Shape 53"/>
          <p:cNvSpPr/>
          <p:nvPr/>
        </p:nvSpPr>
        <p:spPr>
          <a:xfrm>
            <a:off x="5393531" y="2129730"/>
            <a:ext cx="2571750" cy="257175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531" y="2129730"/>
            <a:ext cx="257175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Technology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Stack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37680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Frontend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71500" y="1807369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Core Framework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571500" y="1977033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Next.js 14+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571500" y="2173486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React 19+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571500" y="2369939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TypeScript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571500" y="2623542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Styling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571500" y="2793206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Tailwind CSS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571500" y="2989659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CSS Modules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571500" y="3243263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State &amp; Routing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571500" y="3412927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React Hooks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571500" y="3609380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Next.js Router</a:t>
            </a:r>
            <a:endParaRPr lang="en-US" sz="674" dirty="0"/>
          </a:p>
        </p:txBody>
      </p:sp>
      <p:sp>
        <p:nvSpPr>
          <p:cNvPr id="15" name="Shape 12"/>
          <p:cNvSpPr/>
          <p:nvPr/>
        </p:nvSpPr>
        <p:spPr>
          <a:xfrm>
            <a:off x="571500" y="3805833"/>
            <a:ext cx="1850231" cy="4143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571500" y="3805833"/>
            <a:ext cx="21431" cy="41433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197703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571500" y="2173486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571500" y="2369939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571500" y="2793206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571500" y="2989659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571500" y="3412927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571500" y="3609380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642938" y="3877270"/>
            <a:ext cx="17073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Hosting</a:t>
            </a:r>
            <a:endParaRPr lang="en-US" sz="568" dirty="0"/>
          </a:p>
        </p:txBody>
      </p:sp>
      <p:sp>
        <p:nvSpPr>
          <p:cNvPr id="25" name="Text 22"/>
          <p:cNvSpPr/>
          <p:nvPr/>
        </p:nvSpPr>
        <p:spPr>
          <a:xfrm>
            <a:off x="642938" y="4013002"/>
            <a:ext cx="1707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Vercel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2621756" y="1437680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Backend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2621756" y="1807369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Serverless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2621756" y="1977033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Vercel Functions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2621756" y="2173486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Node.js Runtime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2621756" y="2427089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Database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2621756" y="2596753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Supabase PostgreSQL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2621756" y="2793206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Prisma ORM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2621756" y="3046809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Authentication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2621756" y="3216473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Supabase Auth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2621756" y="3412927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JWT Tokens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2621756" y="3666530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API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2621756" y="3836194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REST API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2621756" y="4032647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API Routes</a:t>
            </a:r>
            <a:endParaRPr lang="en-US" sz="674" dirty="0"/>
          </a:p>
        </p:txBody>
      </p:sp>
      <p:sp>
        <p:nvSpPr>
          <p:cNvPr id="39" name="Shape 36"/>
          <p:cNvSpPr/>
          <p:nvPr/>
        </p:nvSpPr>
        <p:spPr>
          <a:xfrm>
            <a:off x="2621756" y="4229100"/>
            <a:ext cx="1850231" cy="4143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Shape 37"/>
          <p:cNvSpPr/>
          <p:nvPr/>
        </p:nvSpPr>
        <p:spPr>
          <a:xfrm>
            <a:off x="2621756" y="4229100"/>
            <a:ext cx="21431" cy="41433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1" name="Text 38"/>
          <p:cNvSpPr/>
          <p:nvPr/>
        </p:nvSpPr>
        <p:spPr>
          <a:xfrm>
            <a:off x="2621756" y="197703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2621756" y="2173486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2621756" y="259675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2621756" y="2793206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2621756" y="321647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2621756" y="3412927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47" name="Text 44"/>
          <p:cNvSpPr/>
          <p:nvPr/>
        </p:nvSpPr>
        <p:spPr>
          <a:xfrm>
            <a:off x="2621756" y="3836194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48" name="Text 45"/>
          <p:cNvSpPr/>
          <p:nvPr/>
        </p:nvSpPr>
        <p:spPr>
          <a:xfrm>
            <a:off x="2621756" y="4032647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2693194" y="4300538"/>
            <a:ext cx="17073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Database</a:t>
            </a:r>
            <a:endParaRPr lang="en-US" sz="568" dirty="0"/>
          </a:p>
        </p:txBody>
      </p:sp>
      <p:sp>
        <p:nvSpPr>
          <p:cNvPr id="50" name="Text 47"/>
          <p:cNvSpPr/>
          <p:nvPr/>
        </p:nvSpPr>
        <p:spPr>
          <a:xfrm>
            <a:off x="2693194" y="4436269"/>
            <a:ext cx="1707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PostgreSQL</a:t>
            </a:r>
            <a:endParaRPr lang="en-US" sz="683" dirty="0"/>
          </a:p>
        </p:txBody>
      </p:sp>
      <p:sp>
        <p:nvSpPr>
          <p:cNvPr id="51" name="Text 48"/>
          <p:cNvSpPr/>
          <p:nvPr/>
        </p:nvSpPr>
        <p:spPr>
          <a:xfrm>
            <a:off x="4672013" y="1437680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AI &amp; ML</a:t>
            </a:r>
            <a:endParaRPr lang="en-US" sz="784" dirty="0"/>
          </a:p>
        </p:txBody>
      </p:sp>
      <p:sp>
        <p:nvSpPr>
          <p:cNvPr id="52" name="Text 49"/>
          <p:cNvSpPr/>
          <p:nvPr/>
        </p:nvSpPr>
        <p:spPr>
          <a:xfrm>
            <a:off x="4672013" y="1807369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LLM Integration</a:t>
            </a:r>
            <a:endParaRPr lang="en-US" sz="634" dirty="0"/>
          </a:p>
        </p:txBody>
      </p:sp>
      <p:sp>
        <p:nvSpPr>
          <p:cNvPr id="53" name="Text 50"/>
          <p:cNvSpPr/>
          <p:nvPr/>
        </p:nvSpPr>
        <p:spPr>
          <a:xfrm>
            <a:off x="4672013" y="1977033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OpenAI API</a:t>
            </a:r>
            <a:endParaRPr lang="en-US" sz="674" dirty="0"/>
          </a:p>
        </p:txBody>
      </p:sp>
      <p:sp>
        <p:nvSpPr>
          <p:cNvPr id="54" name="Text 51"/>
          <p:cNvSpPr/>
          <p:nvPr/>
        </p:nvSpPr>
        <p:spPr>
          <a:xfrm>
            <a:off x="4672013" y="2173486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GPT-4 Turbo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4672013" y="2369939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LangChain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4672013" y="2623542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Prompt Engineering</a:t>
            </a:r>
            <a:endParaRPr lang="en-US" sz="634" dirty="0"/>
          </a:p>
        </p:txBody>
      </p:sp>
      <p:sp>
        <p:nvSpPr>
          <p:cNvPr id="57" name="Text 54"/>
          <p:cNvSpPr/>
          <p:nvPr/>
        </p:nvSpPr>
        <p:spPr>
          <a:xfrm>
            <a:off x="4672013" y="2793206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Custom Prompts</a:t>
            </a:r>
            <a:endParaRPr lang="en-US" sz="674" dirty="0"/>
          </a:p>
        </p:txBody>
      </p:sp>
      <p:sp>
        <p:nvSpPr>
          <p:cNvPr id="58" name="Text 55"/>
          <p:cNvSpPr/>
          <p:nvPr/>
        </p:nvSpPr>
        <p:spPr>
          <a:xfrm>
            <a:off x="4672013" y="2989659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Temperature Control</a:t>
            </a:r>
            <a:endParaRPr lang="en-US" sz="674" dirty="0"/>
          </a:p>
        </p:txBody>
      </p:sp>
      <p:sp>
        <p:nvSpPr>
          <p:cNvPr id="59" name="Text 56"/>
          <p:cNvSpPr/>
          <p:nvPr/>
        </p:nvSpPr>
        <p:spPr>
          <a:xfrm>
            <a:off x="4672013" y="3186113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Token Optimization</a:t>
            </a:r>
            <a:endParaRPr lang="en-US" sz="674" dirty="0"/>
          </a:p>
        </p:txBody>
      </p:sp>
      <p:sp>
        <p:nvSpPr>
          <p:cNvPr id="60" name="Text 57"/>
          <p:cNvSpPr/>
          <p:nvPr/>
        </p:nvSpPr>
        <p:spPr>
          <a:xfrm>
            <a:off x="4672013" y="3439716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Embeddings</a:t>
            </a:r>
            <a:endParaRPr lang="en-US" sz="634" dirty="0"/>
          </a:p>
        </p:txBody>
      </p:sp>
      <p:sp>
        <p:nvSpPr>
          <p:cNvPr id="61" name="Text 58"/>
          <p:cNvSpPr/>
          <p:nvPr/>
        </p:nvSpPr>
        <p:spPr>
          <a:xfrm>
            <a:off x="4672013" y="3609380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OpenAI Embeddings</a:t>
            </a:r>
            <a:endParaRPr lang="en-US" sz="674" dirty="0"/>
          </a:p>
        </p:txBody>
      </p:sp>
      <p:sp>
        <p:nvSpPr>
          <p:cNvPr id="62" name="Text 59"/>
          <p:cNvSpPr/>
          <p:nvPr/>
        </p:nvSpPr>
        <p:spPr>
          <a:xfrm>
            <a:off x="4672013" y="3805833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Vector Storage</a:t>
            </a:r>
            <a:endParaRPr lang="en-US" sz="674" dirty="0"/>
          </a:p>
        </p:txBody>
      </p:sp>
      <p:sp>
        <p:nvSpPr>
          <p:cNvPr id="63" name="Shape 60"/>
          <p:cNvSpPr/>
          <p:nvPr/>
        </p:nvSpPr>
        <p:spPr>
          <a:xfrm>
            <a:off x="4672013" y="4002286"/>
            <a:ext cx="1850231" cy="4143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4" name="Shape 61"/>
          <p:cNvSpPr/>
          <p:nvPr/>
        </p:nvSpPr>
        <p:spPr>
          <a:xfrm>
            <a:off x="4672013" y="4002286"/>
            <a:ext cx="21431" cy="41433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5" name="Text 62"/>
          <p:cNvSpPr/>
          <p:nvPr/>
        </p:nvSpPr>
        <p:spPr>
          <a:xfrm>
            <a:off x="4672013" y="197703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66" name="Text 63"/>
          <p:cNvSpPr/>
          <p:nvPr/>
        </p:nvSpPr>
        <p:spPr>
          <a:xfrm>
            <a:off x="4672013" y="2173486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67" name="Text 64"/>
          <p:cNvSpPr/>
          <p:nvPr/>
        </p:nvSpPr>
        <p:spPr>
          <a:xfrm>
            <a:off x="4672013" y="2369939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68" name="Text 65"/>
          <p:cNvSpPr/>
          <p:nvPr/>
        </p:nvSpPr>
        <p:spPr>
          <a:xfrm>
            <a:off x="4672013" y="2793206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69" name="Text 66"/>
          <p:cNvSpPr/>
          <p:nvPr/>
        </p:nvSpPr>
        <p:spPr>
          <a:xfrm>
            <a:off x="4672013" y="2989659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70" name="Text 67"/>
          <p:cNvSpPr/>
          <p:nvPr/>
        </p:nvSpPr>
        <p:spPr>
          <a:xfrm>
            <a:off x="4672013" y="318611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71" name="Text 68"/>
          <p:cNvSpPr/>
          <p:nvPr/>
        </p:nvSpPr>
        <p:spPr>
          <a:xfrm>
            <a:off x="4672013" y="3609380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72" name="Text 69"/>
          <p:cNvSpPr/>
          <p:nvPr/>
        </p:nvSpPr>
        <p:spPr>
          <a:xfrm>
            <a:off x="4672013" y="380583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73" name="Text 70"/>
          <p:cNvSpPr/>
          <p:nvPr/>
        </p:nvSpPr>
        <p:spPr>
          <a:xfrm>
            <a:off x="4743450" y="4073723"/>
            <a:ext cx="17073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AI Provider</a:t>
            </a:r>
            <a:endParaRPr lang="en-US" sz="568" dirty="0"/>
          </a:p>
        </p:txBody>
      </p:sp>
      <p:sp>
        <p:nvSpPr>
          <p:cNvPr id="74" name="Text 71"/>
          <p:cNvSpPr/>
          <p:nvPr/>
        </p:nvSpPr>
        <p:spPr>
          <a:xfrm>
            <a:off x="4743450" y="4209455"/>
            <a:ext cx="1707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OpenAI</a:t>
            </a:r>
            <a:endParaRPr lang="en-US" sz="683" dirty="0"/>
          </a:p>
        </p:txBody>
      </p:sp>
      <p:sp>
        <p:nvSpPr>
          <p:cNvPr id="75" name="Text 72"/>
          <p:cNvSpPr/>
          <p:nvPr/>
        </p:nvSpPr>
        <p:spPr>
          <a:xfrm>
            <a:off x="6722269" y="1437680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Tools &amp; Services</a:t>
            </a:r>
            <a:endParaRPr lang="en-US" sz="784" dirty="0"/>
          </a:p>
        </p:txBody>
      </p:sp>
      <p:sp>
        <p:nvSpPr>
          <p:cNvPr id="76" name="Text 73"/>
          <p:cNvSpPr/>
          <p:nvPr/>
        </p:nvSpPr>
        <p:spPr>
          <a:xfrm>
            <a:off x="6722269" y="1807369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Payments</a:t>
            </a:r>
            <a:endParaRPr lang="en-US" sz="634" dirty="0"/>
          </a:p>
        </p:txBody>
      </p:sp>
      <p:sp>
        <p:nvSpPr>
          <p:cNvPr id="77" name="Text 74"/>
          <p:cNvSpPr/>
          <p:nvPr/>
        </p:nvSpPr>
        <p:spPr>
          <a:xfrm>
            <a:off x="6722269" y="1977033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Stripe API</a:t>
            </a:r>
            <a:endParaRPr lang="en-US" sz="674" dirty="0"/>
          </a:p>
        </p:txBody>
      </p:sp>
      <p:sp>
        <p:nvSpPr>
          <p:cNvPr id="78" name="Text 75"/>
          <p:cNvSpPr/>
          <p:nvPr/>
        </p:nvSpPr>
        <p:spPr>
          <a:xfrm>
            <a:off x="6722269" y="2173486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Webhook Handling</a:t>
            </a:r>
            <a:endParaRPr lang="en-US" sz="674" dirty="0"/>
          </a:p>
        </p:txBody>
      </p:sp>
      <p:sp>
        <p:nvSpPr>
          <p:cNvPr id="79" name="Text 76"/>
          <p:cNvSpPr/>
          <p:nvPr/>
        </p:nvSpPr>
        <p:spPr>
          <a:xfrm>
            <a:off x="6722269" y="2427089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Email</a:t>
            </a:r>
            <a:endParaRPr lang="en-US" sz="634" dirty="0"/>
          </a:p>
        </p:txBody>
      </p:sp>
      <p:sp>
        <p:nvSpPr>
          <p:cNvPr id="80" name="Text 77"/>
          <p:cNvSpPr/>
          <p:nvPr/>
        </p:nvSpPr>
        <p:spPr>
          <a:xfrm>
            <a:off x="6722269" y="2596753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SendGrid</a:t>
            </a:r>
            <a:endParaRPr lang="en-US" sz="674" dirty="0"/>
          </a:p>
        </p:txBody>
      </p:sp>
      <p:sp>
        <p:nvSpPr>
          <p:cNvPr id="81" name="Text 78"/>
          <p:cNvSpPr/>
          <p:nvPr/>
        </p:nvSpPr>
        <p:spPr>
          <a:xfrm>
            <a:off x="6722269" y="2793206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Email Templates</a:t>
            </a:r>
            <a:endParaRPr lang="en-US" sz="674" dirty="0"/>
          </a:p>
        </p:txBody>
      </p:sp>
      <p:sp>
        <p:nvSpPr>
          <p:cNvPr id="82" name="Text 79"/>
          <p:cNvSpPr/>
          <p:nvPr/>
        </p:nvSpPr>
        <p:spPr>
          <a:xfrm>
            <a:off x="6722269" y="3046809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Version Control</a:t>
            </a:r>
            <a:endParaRPr lang="en-US" sz="634" dirty="0"/>
          </a:p>
        </p:txBody>
      </p:sp>
      <p:sp>
        <p:nvSpPr>
          <p:cNvPr id="83" name="Text 80"/>
          <p:cNvSpPr/>
          <p:nvPr/>
        </p:nvSpPr>
        <p:spPr>
          <a:xfrm>
            <a:off x="6722269" y="3216473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GitHub</a:t>
            </a:r>
            <a:endParaRPr lang="en-US" sz="674" dirty="0"/>
          </a:p>
        </p:txBody>
      </p:sp>
      <p:sp>
        <p:nvSpPr>
          <p:cNvPr id="84" name="Text 81"/>
          <p:cNvSpPr/>
          <p:nvPr/>
        </p:nvSpPr>
        <p:spPr>
          <a:xfrm>
            <a:off x="6722269" y="3412927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Git Workflows</a:t>
            </a:r>
            <a:endParaRPr lang="en-US" sz="674" dirty="0"/>
          </a:p>
        </p:txBody>
      </p:sp>
      <p:sp>
        <p:nvSpPr>
          <p:cNvPr id="85" name="Text 82"/>
          <p:cNvSpPr/>
          <p:nvPr/>
        </p:nvSpPr>
        <p:spPr>
          <a:xfrm>
            <a:off x="6722269" y="3666530"/>
            <a:ext cx="18502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Monitoring</a:t>
            </a:r>
            <a:endParaRPr lang="en-US" sz="634" dirty="0"/>
          </a:p>
        </p:txBody>
      </p:sp>
      <p:sp>
        <p:nvSpPr>
          <p:cNvPr id="86" name="Text 83"/>
          <p:cNvSpPr/>
          <p:nvPr/>
        </p:nvSpPr>
        <p:spPr>
          <a:xfrm>
            <a:off x="6722269" y="3836194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Vercel Analytics</a:t>
            </a:r>
            <a:endParaRPr lang="en-US" sz="674" dirty="0"/>
          </a:p>
        </p:txBody>
      </p:sp>
      <p:sp>
        <p:nvSpPr>
          <p:cNvPr id="87" name="Text 84"/>
          <p:cNvSpPr/>
          <p:nvPr/>
        </p:nvSpPr>
        <p:spPr>
          <a:xfrm>
            <a:off x="6722269" y="4032647"/>
            <a:ext cx="1850231" cy="1393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Error Tracking</a:t>
            </a:r>
            <a:endParaRPr lang="en-US" sz="674" dirty="0"/>
          </a:p>
        </p:txBody>
      </p:sp>
      <p:sp>
        <p:nvSpPr>
          <p:cNvPr id="88" name="Shape 85"/>
          <p:cNvSpPr/>
          <p:nvPr/>
        </p:nvSpPr>
        <p:spPr>
          <a:xfrm>
            <a:off x="6722269" y="4229100"/>
            <a:ext cx="1850231" cy="4143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9" name="Shape 86"/>
          <p:cNvSpPr/>
          <p:nvPr/>
        </p:nvSpPr>
        <p:spPr>
          <a:xfrm>
            <a:off x="6722269" y="4229100"/>
            <a:ext cx="21431" cy="41433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90" name="Text 87"/>
          <p:cNvSpPr/>
          <p:nvPr/>
        </p:nvSpPr>
        <p:spPr>
          <a:xfrm>
            <a:off x="6722269" y="197703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91" name="Text 88"/>
          <p:cNvSpPr/>
          <p:nvPr/>
        </p:nvSpPr>
        <p:spPr>
          <a:xfrm>
            <a:off x="6722269" y="2173486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92" name="Text 89"/>
          <p:cNvSpPr/>
          <p:nvPr/>
        </p:nvSpPr>
        <p:spPr>
          <a:xfrm>
            <a:off x="6722269" y="259675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93" name="Text 90"/>
          <p:cNvSpPr/>
          <p:nvPr/>
        </p:nvSpPr>
        <p:spPr>
          <a:xfrm>
            <a:off x="6722269" y="2793206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94" name="Text 91"/>
          <p:cNvSpPr/>
          <p:nvPr/>
        </p:nvSpPr>
        <p:spPr>
          <a:xfrm>
            <a:off x="6722269" y="321647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95" name="Text 92"/>
          <p:cNvSpPr/>
          <p:nvPr/>
        </p:nvSpPr>
        <p:spPr>
          <a:xfrm>
            <a:off x="6722269" y="3412927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96" name="Text 93"/>
          <p:cNvSpPr/>
          <p:nvPr/>
        </p:nvSpPr>
        <p:spPr>
          <a:xfrm>
            <a:off x="6722269" y="3836194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97" name="Text 94"/>
          <p:cNvSpPr/>
          <p:nvPr/>
        </p:nvSpPr>
        <p:spPr>
          <a:xfrm>
            <a:off x="6722269" y="4032647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•</a:t>
            </a:r>
            <a:endParaRPr lang="en-US" sz="683" dirty="0"/>
          </a:p>
        </p:txBody>
      </p:sp>
      <p:sp>
        <p:nvSpPr>
          <p:cNvPr id="98" name="Text 95"/>
          <p:cNvSpPr/>
          <p:nvPr/>
        </p:nvSpPr>
        <p:spPr>
          <a:xfrm>
            <a:off x="6793706" y="4300538"/>
            <a:ext cx="17073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CI/CD</a:t>
            </a:r>
            <a:endParaRPr lang="en-US" sz="568" dirty="0"/>
          </a:p>
        </p:txBody>
      </p:sp>
      <p:sp>
        <p:nvSpPr>
          <p:cNvPr id="99" name="Text 96"/>
          <p:cNvSpPr/>
          <p:nvPr/>
        </p:nvSpPr>
        <p:spPr>
          <a:xfrm>
            <a:off x="6793706" y="4436269"/>
            <a:ext cx="1707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GitHub + Vercel</a:t>
            </a:r>
            <a:endParaRPr lang="en-US" sz="68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Budget &amp;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Resources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23380"/>
            <a:ext cx="3857625" cy="366117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" name="Text 2"/>
          <p:cNvSpPr/>
          <p:nvPr/>
        </p:nvSpPr>
        <p:spPr>
          <a:xfrm>
            <a:off x="657225" y="1438573"/>
            <a:ext cx="11965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Total 8-Week Budget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3763166" y="1409105"/>
            <a:ext cx="5802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$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300"/>
                </a:solidFill>
              </a:rPr>
              <a:t>25–50K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775222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Budget Allocation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571500" y="2002036"/>
            <a:ext cx="3857625" cy="2786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002036"/>
            <a:ext cx="21431" cy="278606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0" name="Text 7"/>
          <p:cNvSpPr/>
          <p:nvPr/>
        </p:nvSpPr>
        <p:spPr>
          <a:xfrm>
            <a:off x="642938" y="2077938"/>
            <a:ext cx="10239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Development (Salaries)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3566517" y="2073473"/>
            <a:ext cx="4024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$12–20K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026145" y="2087761"/>
            <a:ext cx="3315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(48–50%)</a:t>
            </a:r>
            <a:endParaRPr lang="en-US" sz="568" dirty="0"/>
          </a:p>
        </p:txBody>
      </p:sp>
      <p:sp>
        <p:nvSpPr>
          <p:cNvPr id="13" name="Shape 10"/>
          <p:cNvSpPr/>
          <p:nvPr/>
        </p:nvSpPr>
        <p:spPr>
          <a:xfrm>
            <a:off x="571500" y="2337792"/>
            <a:ext cx="3857625" cy="2786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2337792"/>
            <a:ext cx="21431" cy="278606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2938" y="2413695"/>
            <a:ext cx="9701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Infrastructure &amp; Tools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3680957" y="2409230"/>
            <a:ext cx="2880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$3–5K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026145" y="2423517"/>
            <a:ext cx="3315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(12–20%)</a:t>
            </a:r>
            <a:endParaRPr lang="en-US" sz="568" dirty="0"/>
          </a:p>
        </p:txBody>
      </p:sp>
      <p:sp>
        <p:nvSpPr>
          <p:cNvPr id="18" name="Shape 15"/>
          <p:cNvSpPr/>
          <p:nvPr/>
        </p:nvSpPr>
        <p:spPr>
          <a:xfrm>
            <a:off x="571500" y="2673548"/>
            <a:ext cx="3857625" cy="2786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2673548"/>
            <a:ext cx="21431" cy="278606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0" name="Text 17"/>
          <p:cNvSpPr/>
          <p:nvPr/>
        </p:nvSpPr>
        <p:spPr>
          <a:xfrm>
            <a:off x="642938" y="2749451"/>
            <a:ext cx="107041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Marketing &amp; Acquisition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3623751" y="2744986"/>
            <a:ext cx="3452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$8–20K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026145" y="2759273"/>
            <a:ext cx="3315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(32–40%)</a:t>
            </a:r>
            <a:endParaRPr lang="en-US" sz="568" dirty="0"/>
          </a:p>
        </p:txBody>
      </p:sp>
      <p:sp>
        <p:nvSpPr>
          <p:cNvPr id="23" name="Shape 20"/>
          <p:cNvSpPr/>
          <p:nvPr/>
        </p:nvSpPr>
        <p:spPr>
          <a:xfrm>
            <a:off x="571500" y="3009305"/>
            <a:ext cx="3857625" cy="2786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3009305"/>
            <a:ext cx="21431" cy="278606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5" name="Text 22"/>
          <p:cNvSpPr/>
          <p:nvPr/>
        </p:nvSpPr>
        <p:spPr>
          <a:xfrm>
            <a:off x="642938" y="3085207"/>
            <a:ext cx="824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Contingency (10%)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3725912" y="3080742"/>
            <a:ext cx="2880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$2–5K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071100" y="3095030"/>
            <a:ext cx="2865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(8–10%)</a:t>
            </a:r>
            <a:endParaRPr lang="en-US" sz="568" dirty="0"/>
          </a:p>
        </p:txBody>
      </p:sp>
      <p:sp>
        <p:nvSpPr>
          <p:cNvPr id="28" name="Text 25"/>
          <p:cNvSpPr/>
          <p:nvPr/>
        </p:nvSpPr>
        <p:spPr>
          <a:xfrm>
            <a:off x="571500" y="3459361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Resource Requirements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571500" y="3686175"/>
            <a:ext cx="3857625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1–2 Full-time Developers (Full Stack)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571500" y="3868341"/>
            <a:ext cx="3857625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1 Part-time Product Manager / Marketer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571500" y="4050506"/>
            <a:ext cx="3857625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1 Part-time Designer (UI/UX)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571500" y="4232672"/>
            <a:ext cx="3857625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Cloud infrastructure (Vercel, Supabase)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571500" y="4414838"/>
            <a:ext cx="3857625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API costs (OpenAI, Stripe, SendGrid)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571500" y="3686175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571500" y="3868341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571500" y="4050506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571500" y="4232672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571500" y="4414838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→</a:t>
            </a:r>
            <a:endParaRPr lang="en-US" sz="584" dirty="0"/>
          </a:p>
        </p:txBody>
      </p:sp>
      <p:sp>
        <p:nvSpPr>
          <p:cNvPr id="39" name="Text 36"/>
          <p:cNvSpPr/>
          <p:nvPr/>
        </p:nvSpPr>
        <p:spPr>
          <a:xfrm>
            <a:off x="5214938" y="1323380"/>
            <a:ext cx="2857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ROI Projections</a:t>
            </a:r>
            <a:endParaRPr lang="en-US" sz="784" dirty="0"/>
          </a:p>
        </p:txBody>
      </p:sp>
      <p:sp>
        <p:nvSpPr>
          <p:cNvPr id="40" name="Shape 37"/>
          <p:cNvSpPr/>
          <p:nvPr/>
        </p:nvSpPr>
        <p:spPr>
          <a:xfrm>
            <a:off x="5214938" y="1550194"/>
            <a:ext cx="895341" cy="58935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Shape 38"/>
          <p:cNvSpPr/>
          <p:nvPr/>
        </p:nvSpPr>
        <p:spPr>
          <a:xfrm>
            <a:off x="5214938" y="1550194"/>
            <a:ext cx="21431" cy="589359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2" name="Text 39"/>
          <p:cNvSpPr/>
          <p:nvPr/>
        </p:nvSpPr>
        <p:spPr>
          <a:xfrm>
            <a:off x="5297091" y="1621631"/>
            <a:ext cx="67918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Week 8 Revenue</a:t>
            </a:r>
            <a:endParaRPr lang="en-US" sz="568" dirty="0"/>
          </a:p>
        </p:txBody>
      </p:sp>
      <p:sp>
        <p:nvSpPr>
          <p:cNvPr id="43" name="Text 40"/>
          <p:cNvSpPr/>
          <p:nvPr/>
        </p:nvSpPr>
        <p:spPr>
          <a:xfrm>
            <a:off x="5297091" y="1757363"/>
            <a:ext cx="73103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$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500–3K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 MRR</a:t>
            </a:r>
            <a:endParaRPr lang="en-US" sz="784" dirty="0"/>
          </a:p>
        </p:txBody>
      </p:sp>
      <p:sp>
        <p:nvSpPr>
          <p:cNvPr id="44" name="Shape 41"/>
          <p:cNvSpPr/>
          <p:nvPr/>
        </p:nvSpPr>
        <p:spPr>
          <a:xfrm>
            <a:off x="6185288" y="1550194"/>
            <a:ext cx="895341" cy="58935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5" name="Shape 42"/>
          <p:cNvSpPr/>
          <p:nvPr/>
        </p:nvSpPr>
        <p:spPr>
          <a:xfrm>
            <a:off x="6185288" y="1550194"/>
            <a:ext cx="21431" cy="589359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6" name="Text 43"/>
          <p:cNvSpPr/>
          <p:nvPr/>
        </p:nvSpPr>
        <p:spPr>
          <a:xfrm>
            <a:off x="6267441" y="1645741"/>
            <a:ext cx="73103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Month 3 Revenue</a:t>
            </a:r>
            <a:endParaRPr lang="en-US" sz="568" dirty="0"/>
          </a:p>
        </p:txBody>
      </p:sp>
      <p:sp>
        <p:nvSpPr>
          <p:cNvPr id="47" name="Text 44"/>
          <p:cNvSpPr/>
          <p:nvPr/>
        </p:nvSpPr>
        <p:spPr>
          <a:xfrm>
            <a:off x="6267441" y="1888629"/>
            <a:ext cx="6829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$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5–75K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 MRR</a:t>
            </a:r>
            <a:endParaRPr lang="en-US" sz="784" dirty="0"/>
          </a:p>
        </p:txBody>
      </p:sp>
      <p:sp>
        <p:nvSpPr>
          <p:cNvPr id="48" name="Shape 45"/>
          <p:cNvSpPr/>
          <p:nvPr/>
        </p:nvSpPr>
        <p:spPr>
          <a:xfrm>
            <a:off x="7155638" y="1550194"/>
            <a:ext cx="895341" cy="58935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Shape 46"/>
          <p:cNvSpPr/>
          <p:nvPr/>
        </p:nvSpPr>
        <p:spPr>
          <a:xfrm>
            <a:off x="7155638" y="1550194"/>
            <a:ext cx="21431" cy="589359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0" name="Text 47"/>
          <p:cNvSpPr/>
          <p:nvPr/>
        </p:nvSpPr>
        <p:spPr>
          <a:xfrm>
            <a:off x="7237791" y="1699320"/>
            <a:ext cx="6775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Payback Period</a:t>
            </a:r>
            <a:endParaRPr lang="en-US" sz="568" dirty="0"/>
          </a:p>
        </p:txBody>
      </p:sp>
      <p:sp>
        <p:nvSpPr>
          <p:cNvPr id="51" name="Text 48"/>
          <p:cNvSpPr/>
          <p:nvPr/>
        </p:nvSpPr>
        <p:spPr>
          <a:xfrm>
            <a:off x="7237791" y="1835051"/>
            <a:ext cx="6572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3–6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 months</a:t>
            </a:r>
            <a:endParaRPr lang="en-US" sz="784" dirty="0"/>
          </a:p>
        </p:txBody>
      </p:sp>
      <p:sp>
        <p:nvSpPr>
          <p:cNvPr id="52" name="Shape 49"/>
          <p:cNvSpPr/>
          <p:nvPr/>
        </p:nvSpPr>
        <p:spPr>
          <a:xfrm>
            <a:off x="5357813" y="2368153"/>
            <a:ext cx="2571750" cy="2143125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3" y="2368153"/>
            <a:ext cx="257175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Risk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 Mitigation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364331" y="1437680"/>
            <a:ext cx="2683650" cy="1643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364331" y="1437680"/>
            <a:ext cx="2683650" cy="16430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High Impact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364331" y="1673423"/>
            <a:ext cx="2683650" cy="21252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1. High API Costs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364331" y="1943100"/>
            <a:ext cx="26836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OpenAI API costs could exceed budget if usage is higher than projected, reducing profitability.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364331" y="2297385"/>
            <a:ext cx="26836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5FF"/>
                </a:solidFill>
              </a:rPr>
              <a:t>Mitigation Strategies: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364331" y="2456334"/>
            <a:ext cx="2683650" cy="278606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Implement usage limits and tier-based pricing to control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costs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364331" y="2777803"/>
            <a:ext cx="2683650" cy="13930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Optimize prompts to reduce token usage and API calls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364331" y="2959968"/>
            <a:ext cx="2683650" cy="13930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Monitor API costs daily and set budget alerts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364331" y="2456334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364331" y="2777803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364331" y="2959968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3240863" y="1437680"/>
            <a:ext cx="2683678" cy="1643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3"/>
          <p:cNvSpPr/>
          <p:nvPr/>
        </p:nvSpPr>
        <p:spPr>
          <a:xfrm>
            <a:off x="3240863" y="1437680"/>
            <a:ext cx="2683678" cy="16430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High Impact</a:t>
            </a:r>
            <a:endParaRPr lang="en-US" sz="568" dirty="0"/>
          </a:p>
        </p:txBody>
      </p:sp>
      <p:sp>
        <p:nvSpPr>
          <p:cNvPr id="17" name="Text 14"/>
          <p:cNvSpPr/>
          <p:nvPr/>
        </p:nvSpPr>
        <p:spPr>
          <a:xfrm>
            <a:off x="3240863" y="1673423"/>
            <a:ext cx="2683678" cy="21252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2. High Churn Rate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3240863" y="1943100"/>
            <a:ext cx="268367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Users may cancel subscriptions if they don't see value or if the product doesn't meet expectations.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3240863" y="2297385"/>
            <a:ext cx="26836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5FF"/>
                </a:solidFill>
              </a:rPr>
              <a:t>Mitigation Strategies: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3240863" y="2456334"/>
            <a:ext cx="2683678" cy="278606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Implement strong onboarding with tutorials and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walkthroughs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3240863" y="2777803"/>
            <a:ext cx="2683678" cy="13930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Collect user feedback weekly and iterate on features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3240863" y="2959968"/>
            <a:ext cx="2683678" cy="13930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email sequences to re-engage inactive users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3240863" y="2456334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3240863" y="2777803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3240863" y="2959968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26" name="Shape 23"/>
          <p:cNvSpPr/>
          <p:nvPr/>
        </p:nvSpPr>
        <p:spPr>
          <a:xfrm>
            <a:off x="6117422" y="1437680"/>
            <a:ext cx="2683650" cy="1643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4"/>
          <p:cNvSpPr/>
          <p:nvPr/>
        </p:nvSpPr>
        <p:spPr>
          <a:xfrm>
            <a:off x="6117422" y="1437680"/>
            <a:ext cx="2683650" cy="16430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Medium Impact</a:t>
            </a:r>
            <a:endParaRPr lang="en-US" sz="568" dirty="0"/>
          </a:p>
        </p:txBody>
      </p:sp>
      <p:sp>
        <p:nvSpPr>
          <p:cNvPr id="28" name="Text 25"/>
          <p:cNvSpPr/>
          <p:nvPr/>
        </p:nvSpPr>
        <p:spPr>
          <a:xfrm>
            <a:off x="6117422" y="1673423"/>
            <a:ext cx="2683650" cy="21252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3. Low Conversion Rate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6117422" y="1943100"/>
            <a:ext cx="26836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Free-to-paid conversion may be lower than projected, impacting revenue targets.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6117422" y="2297385"/>
            <a:ext cx="26836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5FF"/>
                </a:solidFill>
              </a:rPr>
              <a:t>Mitigation Strategies: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6117422" y="2456334"/>
            <a:ext cx="2683650" cy="278606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A/B test pricing, features, and messaging to optimize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conversion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6117422" y="2777803"/>
            <a:ext cx="2683650" cy="278606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Implement feature limits on free tier to encourage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upgrades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6117422" y="3099271"/>
            <a:ext cx="2683650" cy="13930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comparison pages and case studies showing ROI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6117422" y="2456334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6117422" y="2777803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6117422" y="3099271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37" name="Shape 34"/>
          <p:cNvSpPr/>
          <p:nvPr/>
        </p:nvSpPr>
        <p:spPr>
          <a:xfrm>
            <a:off x="364331" y="3367162"/>
            <a:ext cx="2683650" cy="1643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8" name="Text 35"/>
          <p:cNvSpPr/>
          <p:nvPr/>
        </p:nvSpPr>
        <p:spPr>
          <a:xfrm>
            <a:off x="364331" y="3367162"/>
            <a:ext cx="2683650" cy="16430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Medium Impact</a:t>
            </a:r>
            <a:endParaRPr lang="en-US" sz="568" dirty="0"/>
          </a:p>
        </p:txBody>
      </p:sp>
      <p:sp>
        <p:nvSpPr>
          <p:cNvPr id="39" name="Text 36"/>
          <p:cNvSpPr/>
          <p:nvPr/>
        </p:nvSpPr>
        <p:spPr>
          <a:xfrm>
            <a:off x="364331" y="3602906"/>
            <a:ext cx="2683650" cy="21252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4. Competitive Pressure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364331" y="3872582"/>
            <a:ext cx="26836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Established competitors may lower prices or improve features, reducing market share.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364331" y="4226868"/>
            <a:ext cx="26836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5FF"/>
                </a:solidFill>
              </a:rPr>
              <a:t>Mitigation Strategies: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364331" y="4385816"/>
            <a:ext cx="2683650" cy="13930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Focus on niche markets (specific industries or use cases)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364331" y="4567982"/>
            <a:ext cx="2683650" cy="278606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Build unique features competitors don't have (integrations,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templates)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364331" y="4889450"/>
            <a:ext cx="2683650" cy="13930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Maintain fast iteration cycle to stay ahead of competition</a:t>
            </a:r>
            <a:endParaRPr lang="en-US" sz="674" dirty="0"/>
          </a:p>
        </p:txBody>
      </p:sp>
      <p:sp>
        <p:nvSpPr>
          <p:cNvPr id="45" name="Text 42"/>
          <p:cNvSpPr/>
          <p:nvPr/>
        </p:nvSpPr>
        <p:spPr>
          <a:xfrm>
            <a:off x="364331" y="4385816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46" name="Text 43"/>
          <p:cNvSpPr/>
          <p:nvPr/>
        </p:nvSpPr>
        <p:spPr>
          <a:xfrm>
            <a:off x="364331" y="4567982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47" name="Text 44"/>
          <p:cNvSpPr/>
          <p:nvPr/>
        </p:nvSpPr>
        <p:spPr>
          <a:xfrm>
            <a:off x="364331" y="4889450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48" name="Shape 45"/>
          <p:cNvSpPr/>
          <p:nvPr/>
        </p:nvSpPr>
        <p:spPr>
          <a:xfrm>
            <a:off x="3240863" y="3367162"/>
            <a:ext cx="2683678" cy="1643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Text 46"/>
          <p:cNvSpPr/>
          <p:nvPr/>
        </p:nvSpPr>
        <p:spPr>
          <a:xfrm>
            <a:off x="3240863" y="3367162"/>
            <a:ext cx="2683678" cy="16430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Medium Impact</a:t>
            </a:r>
            <a:endParaRPr lang="en-US" sz="568" dirty="0"/>
          </a:p>
        </p:txBody>
      </p:sp>
      <p:sp>
        <p:nvSpPr>
          <p:cNvPr id="50" name="Text 47"/>
          <p:cNvSpPr/>
          <p:nvPr/>
        </p:nvSpPr>
        <p:spPr>
          <a:xfrm>
            <a:off x="3240863" y="3602906"/>
            <a:ext cx="2683678" cy="21252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5. Regulatory Issues</a:t>
            </a:r>
            <a:endParaRPr lang="en-US" sz="784" dirty="0"/>
          </a:p>
        </p:txBody>
      </p:sp>
      <p:sp>
        <p:nvSpPr>
          <p:cNvPr id="51" name="Text 48"/>
          <p:cNvSpPr/>
          <p:nvPr/>
        </p:nvSpPr>
        <p:spPr>
          <a:xfrm>
            <a:off x="3240863" y="3872582"/>
            <a:ext cx="268367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AI regulations or copyright concerns may impact product availability or require compliance changes.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3240863" y="4226868"/>
            <a:ext cx="26836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5FF"/>
                </a:solidFill>
              </a:rPr>
              <a:t>Mitigation Strategies:</a:t>
            </a:r>
            <a:endParaRPr lang="en-US" sz="584" dirty="0"/>
          </a:p>
        </p:txBody>
      </p:sp>
      <p:sp>
        <p:nvSpPr>
          <p:cNvPr id="53" name="Text 50"/>
          <p:cNvSpPr/>
          <p:nvPr/>
        </p:nvSpPr>
        <p:spPr>
          <a:xfrm>
            <a:off x="3240863" y="4385816"/>
            <a:ext cx="2683678" cy="278606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Monitor AI regulation updates and compliance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requirements</a:t>
            </a:r>
            <a:endParaRPr lang="en-US" sz="674" dirty="0"/>
          </a:p>
        </p:txBody>
      </p:sp>
      <p:sp>
        <p:nvSpPr>
          <p:cNvPr id="54" name="Text 51"/>
          <p:cNvSpPr/>
          <p:nvPr/>
        </p:nvSpPr>
        <p:spPr>
          <a:xfrm>
            <a:off x="3240863" y="4707285"/>
            <a:ext cx="2683678" cy="13930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Add copyright disclaimers and user responsibility clauses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3240863" y="4889450"/>
            <a:ext cx="2683678" cy="13930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Implement content moderation to prevent misuse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3240863" y="4385816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57" name="Text 54"/>
          <p:cNvSpPr/>
          <p:nvPr/>
        </p:nvSpPr>
        <p:spPr>
          <a:xfrm>
            <a:off x="3240863" y="4707285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  <p:sp>
        <p:nvSpPr>
          <p:cNvPr id="58" name="Text 55"/>
          <p:cNvSpPr/>
          <p:nvPr/>
        </p:nvSpPr>
        <p:spPr>
          <a:xfrm>
            <a:off x="3240863" y="4889450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✓</a:t>
            </a:r>
            <a:endParaRPr lang="en-US" sz="58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8 Critical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Success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 Factors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37680"/>
            <a:ext cx="3857625" cy="82153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37680"/>
            <a:ext cx="28575" cy="8215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" name="Text 3"/>
          <p:cNvSpPr/>
          <p:nvPr/>
        </p:nvSpPr>
        <p:spPr>
          <a:xfrm>
            <a:off x="657225" y="1523405"/>
            <a:ext cx="36861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Factor 1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657225" y="1682353"/>
            <a:ext cx="3686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Product Quality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657225" y="1894880"/>
            <a:ext cx="3686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Build high-quality, reliable features that generate excellent article content. User satisfaction directly impacts retention and referrals.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571500" y="2344936"/>
            <a:ext cx="3857625" cy="82153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344936"/>
            <a:ext cx="28575" cy="8215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1" name="Text 8"/>
          <p:cNvSpPr/>
          <p:nvPr/>
        </p:nvSpPr>
        <p:spPr>
          <a:xfrm>
            <a:off x="657225" y="2430661"/>
            <a:ext cx="36861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Factor 2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657225" y="2589609"/>
            <a:ext cx="3686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Fast Iteration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57225" y="2802136"/>
            <a:ext cx="3686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Ship features quickly and iterate based on user feedback. Weekly releases and rapid experimentation accelerate learning and product-market fit.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571500" y="3252192"/>
            <a:ext cx="3857625" cy="82153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252192"/>
            <a:ext cx="28575" cy="8215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6" name="Text 13"/>
          <p:cNvSpPr/>
          <p:nvPr/>
        </p:nvSpPr>
        <p:spPr>
          <a:xfrm>
            <a:off x="657225" y="3337917"/>
            <a:ext cx="36861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Factor 3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657225" y="3496866"/>
            <a:ext cx="3686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Conversion Optimization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657225" y="3709392"/>
            <a:ext cx="3686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Continuously optimize the free-to-paid conversion funnel through A/B testing, pricing experiments, and feature positioning to maximize revenue.</a:t>
            </a:r>
            <a:endParaRPr lang="en-US" sz="674" dirty="0"/>
          </a:p>
        </p:txBody>
      </p:sp>
      <p:sp>
        <p:nvSpPr>
          <p:cNvPr id="19" name="Shape 16"/>
          <p:cNvSpPr/>
          <p:nvPr/>
        </p:nvSpPr>
        <p:spPr>
          <a:xfrm>
            <a:off x="571500" y="4159448"/>
            <a:ext cx="3857625" cy="82153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571500" y="4159448"/>
            <a:ext cx="28575" cy="8215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1" name="Text 18"/>
          <p:cNvSpPr/>
          <p:nvPr/>
        </p:nvSpPr>
        <p:spPr>
          <a:xfrm>
            <a:off x="657225" y="4245173"/>
            <a:ext cx="36861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Factor 4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657225" y="4404122"/>
            <a:ext cx="3686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Content Marketing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657225" y="4616648"/>
            <a:ext cx="3686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valuable blog posts, YouTube videos, and social media content that drive organic traffic and establish thought leadership in the AI writing space.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4714875" y="1437680"/>
            <a:ext cx="3857625" cy="82153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4714875" y="1437680"/>
            <a:ext cx="28575" cy="8215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1523405"/>
            <a:ext cx="36861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Factor 5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4800600" y="1682353"/>
            <a:ext cx="3686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Email Marketing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800600" y="1894880"/>
            <a:ext cx="3686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Build an engaged email list and execute targeted email sequences for onboarding, feature education, and upselling to drive conversions and retention.</a:t>
            </a:r>
            <a:endParaRPr lang="en-US" sz="674" dirty="0"/>
          </a:p>
        </p:txBody>
      </p:sp>
      <p:sp>
        <p:nvSpPr>
          <p:cNvPr id="29" name="Shape 26"/>
          <p:cNvSpPr/>
          <p:nvPr/>
        </p:nvSpPr>
        <p:spPr>
          <a:xfrm>
            <a:off x="4714875" y="2344936"/>
            <a:ext cx="3857625" cy="82153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Shape 27"/>
          <p:cNvSpPr/>
          <p:nvPr/>
        </p:nvSpPr>
        <p:spPr>
          <a:xfrm>
            <a:off x="4714875" y="2344936"/>
            <a:ext cx="28575" cy="8215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1" name="Text 28"/>
          <p:cNvSpPr/>
          <p:nvPr/>
        </p:nvSpPr>
        <p:spPr>
          <a:xfrm>
            <a:off x="4800600" y="2430661"/>
            <a:ext cx="36861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Factor 6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4800600" y="2589609"/>
            <a:ext cx="3686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Community Building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4800600" y="2802136"/>
            <a:ext cx="3686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Engage with users on social media, respond to feedback, and build a community around the product. Word-of-mouth and referrals drive sustainable growth.</a:t>
            </a:r>
            <a:endParaRPr lang="en-US" sz="674" dirty="0"/>
          </a:p>
        </p:txBody>
      </p:sp>
      <p:sp>
        <p:nvSpPr>
          <p:cNvPr id="34" name="Shape 31"/>
          <p:cNvSpPr/>
          <p:nvPr/>
        </p:nvSpPr>
        <p:spPr>
          <a:xfrm>
            <a:off x="4714875" y="3252192"/>
            <a:ext cx="3857625" cy="82153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5" name="Shape 32"/>
          <p:cNvSpPr/>
          <p:nvPr/>
        </p:nvSpPr>
        <p:spPr>
          <a:xfrm>
            <a:off x="4714875" y="3252192"/>
            <a:ext cx="28575" cy="8215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6" name="Text 33"/>
          <p:cNvSpPr/>
          <p:nvPr/>
        </p:nvSpPr>
        <p:spPr>
          <a:xfrm>
            <a:off x="4800600" y="3337917"/>
            <a:ext cx="36861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Factor 7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4800600" y="3496866"/>
            <a:ext cx="3686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Customer Success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4800600" y="3709392"/>
            <a:ext cx="3686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Provide excellent onboarding, support, and customer success to reduce churn and increase lifetime value. Happy customers become advocates and referral sources.</a:t>
            </a:r>
            <a:endParaRPr lang="en-US" sz="674" dirty="0"/>
          </a:p>
        </p:txBody>
      </p:sp>
      <p:sp>
        <p:nvSpPr>
          <p:cNvPr id="39" name="Shape 36"/>
          <p:cNvSpPr/>
          <p:nvPr/>
        </p:nvSpPr>
        <p:spPr>
          <a:xfrm>
            <a:off x="4714875" y="4159448"/>
            <a:ext cx="3857625" cy="82153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Shape 37"/>
          <p:cNvSpPr/>
          <p:nvPr/>
        </p:nvSpPr>
        <p:spPr>
          <a:xfrm>
            <a:off x="4714875" y="4159448"/>
            <a:ext cx="28575" cy="8215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1" name="Text 38"/>
          <p:cNvSpPr/>
          <p:nvPr/>
        </p:nvSpPr>
        <p:spPr>
          <a:xfrm>
            <a:off x="4800600" y="4245173"/>
            <a:ext cx="36861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300"/>
                </a:solidFill>
              </a:rPr>
              <a:t>Factor 8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4800600" y="4404122"/>
            <a:ext cx="3686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Data-Driven Decisions</a:t>
            </a:r>
            <a:endParaRPr lang="en-US" sz="784" dirty="0"/>
          </a:p>
        </p:txBody>
      </p:sp>
      <p:sp>
        <p:nvSpPr>
          <p:cNvPr id="43" name="Text 40"/>
          <p:cNvSpPr/>
          <p:nvPr/>
        </p:nvSpPr>
        <p:spPr>
          <a:xfrm>
            <a:off x="4800600" y="4616648"/>
            <a:ext cx="3686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Track metrics obsessively (signups, conversions, churn, MRR) and make decisions based on data. Measure everything and optimize ruthlessly.</a:t>
            </a:r>
            <a:endParaRPr lang="en-US" sz="67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95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429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Beyond Week 8: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Month 2–3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 Growth Plan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237655"/>
            <a:ext cx="4071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Primary Goals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1484114"/>
            <a:ext cx="40719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Expand feature set, accelerate user acquisition, optimize monetization, and establish enterprise strategy.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428625" y="1998464"/>
            <a:ext cx="4071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Month 2 Initiatives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2244923"/>
            <a:ext cx="407193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Advanced Features Development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437805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AI-powered article editing and refinement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28625" y="2619970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Multi-language support (Spanish, French, German)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28625" y="2802136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Custom tone and style profiles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428625" y="2984302"/>
            <a:ext cx="407193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Marketing Expansion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28625" y="3177183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Expand paid advertising (Google Ads, Facebook Ads)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428625" y="3359348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Launch affiliate program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28625" y="3541514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Partner with content creators and influencers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428625" y="3723680"/>
            <a:ext cx="407193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Customer Success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28625" y="3916561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Implement customer support system (Intercom, Zendesk)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28625" y="4098727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user onboarding videos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428625" y="4280892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Launch community (Discord, Slack)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428625" y="2244923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514350" y="2437805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514350" y="2619970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514350" y="2802136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428625" y="2984302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14350" y="3177183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514350" y="3359348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514350" y="3541514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428625" y="3723680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514350" y="3916561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514350" y="4098727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514350" y="4280892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4643438" y="1237655"/>
            <a:ext cx="4071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Month 3 Initiatives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4643438" y="1484114"/>
            <a:ext cx="407193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Enterprise Strategy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4643438" y="1676995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Develop enterprise pricing and features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4643438" y="1859161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API for third-party integrations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4643438" y="2041327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Launch team collaboration features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4643438" y="2223492"/>
            <a:ext cx="407193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Advanced Analytics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4643438" y="2416373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Implement comprehensive usage analytics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4643438" y="2598539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Build ROI calculator for users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4643438" y="2780705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performance dashboards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4643438" y="2962870"/>
            <a:ext cx="4071938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Strategic Partnerships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4643438" y="3155752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Partner with content platforms (Medium, Substack)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4643438" y="3337917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Integrate with productivity tools (Notion, Zapier)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4643438" y="3520083"/>
            <a:ext cx="4071938" cy="13930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Explore acquisition opportunities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4643438" y="1484114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4729163" y="1676995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46" name="Text 43"/>
          <p:cNvSpPr/>
          <p:nvPr/>
        </p:nvSpPr>
        <p:spPr>
          <a:xfrm>
            <a:off x="4729163" y="1859161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4729163" y="2041327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48" name="Text 45"/>
          <p:cNvSpPr/>
          <p:nvPr/>
        </p:nvSpPr>
        <p:spPr>
          <a:xfrm>
            <a:off x="4643438" y="2223492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4729163" y="2416373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50" name="Text 47"/>
          <p:cNvSpPr/>
          <p:nvPr/>
        </p:nvSpPr>
        <p:spPr>
          <a:xfrm>
            <a:off x="4729163" y="2598539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51" name="Text 48"/>
          <p:cNvSpPr/>
          <p:nvPr/>
        </p:nvSpPr>
        <p:spPr>
          <a:xfrm>
            <a:off x="4729163" y="2780705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52" name="Text 49"/>
          <p:cNvSpPr/>
          <p:nvPr/>
        </p:nvSpPr>
        <p:spPr>
          <a:xfrm>
            <a:off x="4643438" y="2962870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4729163" y="3155752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54" name="Text 51"/>
          <p:cNvSpPr/>
          <p:nvPr/>
        </p:nvSpPr>
        <p:spPr>
          <a:xfrm>
            <a:off x="4729163" y="3337917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55" name="Text 52"/>
          <p:cNvSpPr/>
          <p:nvPr/>
        </p:nvSpPr>
        <p:spPr>
          <a:xfrm>
            <a:off x="4729163" y="3520083"/>
            <a:ext cx="349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55FF"/>
                </a:solidFill>
              </a:rPr>
              <a:t>•</a:t>
            </a:r>
            <a:endParaRPr lang="en-US" sz="634" dirty="0"/>
          </a:p>
        </p:txBody>
      </p:sp>
      <p:sp>
        <p:nvSpPr>
          <p:cNvPr id="56" name="Text 53"/>
          <p:cNvSpPr/>
          <p:nvPr/>
        </p:nvSpPr>
        <p:spPr>
          <a:xfrm>
            <a:off x="4643438" y="3787973"/>
            <a:ext cx="4071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Expected Outcomes (Month 3)</a:t>
            </a:r>
            <a:endParaRPr lang="en-US" sz="885" dirty="0"/>
          </a:p>
        </p:txBody>
      </p:sp>
      <p:sp>
        <p:nvSpPr>
          <p:cNvPr id="57" name="Shape 54"/>
          <p:cNvSpPr/>
          <p:nvPr/>
        </p:nvSpPr>
        <p:spPr>
          <a:xfrm>
            <a:off x="4643438" y="4034433"/>
            <a:ext cx="1993106" cy="47684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8" name="Shape 55"/>
          <p:cNvSpPr/>
          <p:nvPr/>
        </p:nvSpPr>
        <p:spPr>
          <a:xfrm>
            <a:off x="4643438" y="4034433"/>
            <a:ext cx="21431" cy="47684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9" name="Text 56"/>
          <p:cNvSpPr/>
          <p:nvPr/>
        </p:nvSpPr>
        <p:spPr>
          <a:xfrm>
            <a:off x="4714875" y="4105870"/>
            <a:ext cx="18502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Free Users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4714875" y="4264819"/>
            <a:ext cx="8731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10,000–50,000</a:t>
            </a:r>
            <a:endParaRPr lang="en-US" sz="885" dirty="0"/>
          </a:p>
        </p:txBody>
      </p:sp>
      <p:sp>
        <p:nvSpPr>
          <p:cNvPr id="61" name="Shape 58"/>
          <p:cNvSpPr/>
          <p:nvPr/>
        </p:nvSpPr>
        <p:spPr>
          <a:xfrm>
            <a:off x="6722269" y="4034433"/>
            <a:ext cx="1993106" cy="47684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2" name="Shape 59"/>
          <p:cNvSpPr/>
          <p:nvPr/>
        </p:nvSpPr>
        <p:spPr>
          <a:xfrm>
            <a:off x="6722269" y="4034433"/>
            <a:ext cx="21431" cy="47684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3" name="Text 60"/>
          <p:cNvSpPr/>
          <p:nvPr/>
        </p:nvSpPr>
        <p:spPr>
          <a:xfrm>
            <a:off x="6793706" y="4105870"/>
            <a:ext cx="18502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Paid Users</a:t>
            </a:r>
            <a:endParaRPr lang="en-US" sz="621" dirty="0"/>
          </a:p>
        </p:txBody>
      </p:sp>
      <p:sp>
        <p:nvSpPr>
          <p:cNvPr id="64" name="Text 61"/>
          <p:cNvSpPr/>
          <p:nvPr/>
        </p:nvSpPr>
        <p:spPr>
          <a:xfrm>
            <a:off x="6793706" y="4264819"/>
            <a:ext cx="6158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200–2,500</a:t>
            </a:r>
            <a:endParaRPr lang="en-US" sz="885" dirty="0"/>
          </a:p>
        </p:txBody>
      </p:sp>
      <p:sp>
        <p:nvSpPr>
          <p:cNvPr id="65" name="Shape 62"/>
          <p:cNvSpPr/>
          <p:nvPr/>
        </p:nvSpPr>
        <p:spPr>
          <a:xfrm>
            <a:off x="4643438" y="4597003"/>
            <a:ext cx="1993106" cy="47684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6" name="Shape 63"/>
          <p:cNvSpPr/>
          <p:nvPr/>
        </p:nvSpPr>
        <p:spPr>
          <a:xfrm>
            <a:off x="4643438" y="4597003"/>
            <a:ext cx="21431" cy="47684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7" name="Text 64"/>
          <p:cNvSpPr/>
          <p:nvPr/>
        </p:nvSpPr>
        <p:spPr>
          <a:xfrm>
            <a:off x="4714875" y="4668441"/>
            <a:ext cx="18502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MRR</a:t>
            </a:r>
            <a:endParaRPr lang="en-US" sz="621" dirty="0"/>
          </a:p>
        </p:txBody>
      </p:sp>
      <p:sp>
        <p:nvSpPr>
          <p:cNvPr id="68" name="Text 65"/>
          <p:cNvSpPr/>
          <p:nvPr/>
        </p:nvSpPr>
        <p:spPr>
          <a:xfrm>
            <a:off x="4714875" y="4827389"/>
            <a:ext cx="18502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$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5,000–75,000</a:t>
            </a:r>
            <a:endParaRPr lang="en-US" sz="885" dirty="0"/>
          </a:p>
        </p:txBody>
      </p:sp>
      <p:sp>
        <p:nvSpPr>
          <p:cNvPr id="69" name="Shape 66"/>
          <p:cNvSpPr/>
          <p:nvPr/>
        </p:nvSpPr>
        <p:spPr>
          <a:xfrm>
            <a:off x="6722269" y="4597003"/>
            <a:ext cx="1993106" cy="47684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0" name="Shape 67"/>
          <p:cNvSpPr/>
          <p:nvPr/>
        </p:nvSpPr>
        <p:spPr>
          <a:xfrm>
            <a:off x="6722269" y="4597003"/>
            <a:ext cx="21431" cy="47684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71" name="Text 68"/>
          <p:cNvSpPr/>
          <p:nvPr/>
        </p:nvSpPr>
        <p:spPr>
          <a:xfrm>
            <a:off x="6793706" y="4668441"/>
            <a:ext cx="18502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Churn Rate</a:t>
            </a:r>
            <a:endParaRPr lang="en-US" sz="621" dirty="0"/>
          </a:p>
        </p:txBody>
      </p:sp>
      <p:sp>
        <p:nvSpPr>
          <p:cNvPr id="72" name="Text 69"/>
          <p:cNvSpPr/>
          <p:nvPr/>
        </p:nvSpPr>
        <p:spPr>
          <a:xfrm>
            <a:off x="6793706" y="4827389"/>
            <a:ext cx="18502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&lt;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8%</a:t>
            </a:r>
            <a:endParaRPr lang="en-US" sz="88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29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Summary &amp;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Next Steps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237655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Roadmap Summary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484114"/>
            <a:ext cx="3857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8-week implementation roadmap provides a structured path to launch the AI Writing Assistant from concept to market. The plan balances rapid development with strategic marketing to achieve sustainable growth.</a:t>
            </a:r>
            <a:endParaRPr lang="en-US" sz="780" dirty="0"/>
          </a:p>
        </p:txBody>
      </p:sp>
      <p:sp>
        <p:nvSpPr>
          <p:cNvPr id="6" name="Shape 3"/>
          <p:cNvSpPr/>
          <p:nvPr/>
        </p:nvSpPr>
        <p:spPr>
          <a:xfrm>
            <a:off x="571500" y="2055614"/>
            <a:ext cx="3857625" cy="4482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055614"/>
            <a:ext cx="21431" cy="44827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8" name="Text 5"/>
          <p:cNvSpPr/>
          <p:nvPr/>
        </p:nvSpPr>
        <p:spPr>
          <a:xfrm>
            <a:off x="628650" y="2112764"/>
            <a:ext cx="3743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Phase 1: Foundation (Weeks 1–2)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628650" y="2271713"/>
            <a:ext cx="37433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Planning &amp; Infrastructure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571500" y="2561034"/>
            <a:ext cx="3857625" cy="4482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561034"/>
            <a:ext cx="21431" cy="44827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2" name="Text 9"/>
          <p:cNvSpPr/>
          <p:nvPr/>
        </p:nvSpPr>
        <p:spPr>
          <a:xfrm>
            <a:off x="628650" y="2618184"/>
            <a:ext cx="3743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Phase 2: Development (Weeks 3–5)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628650" y="2777133"/>
            <a:ext cx="37433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Core Features &amp; UX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571500" y="3066455"/>
            <a:ext cx="3857625" cy="4482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066455"/>
            <a:ext cx="21431" cy="44827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6" name="Text 13"/>
          <p:cNvSpPr/>
          <p:nvPr/>
        </p:nvSpPr>
        <p:spPr>
          <a:xfrm>
            <a:off x="628650" y="3123605"/>
            <a:ext cx="3743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Phase 3: Launch &amp; Growth (Weeks 6–8)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628650" y="3282553"/>
            <a:ext cx="37433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Marketing &amp; Scaling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71500" y="3657600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Expected Outcomes (Week 8)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571500" y="3904059"/>
            <a:ext cx="3857625" cy="4482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571500" y="3904059"/>
            <a:ext cx="21431" cy="44827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1" name="Text 18"/>
          <p:cNvSpPr/>
          <p:nvPr/>
        </p:nvSpPr>
        <p:spPr>
          <a:xfrm>
            <a:off x="628650" y="3961209"/>
            <a:ext cx="3743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Free Users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628650" y="4120158"/>
            <a:ext cx="7260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1,000–5,000</a:t>
            </a:r>
            <a:endParaRPr lang="en-US" sz="885" dirty="0"/>
          </a:p>
        </p:txBody>
      </p:sp>
      <p:sp>
        <p:nvSpPr>
          <p:cNvPr id="23" name="Shape 20"/>
          <p:cNvSpPr/>
          <p:nvPr/>
        </p:nvSpPr>
        <p:spPr>
          <a:xfrm>
            <a:off x="571500" y="4409480"/>
            <a:ext cx="3857625" cy="4482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4409480"/>
            <a:ext cx="21431" cy="44827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5" name="Text 22"/>
          <p:cNvSpPr/>
          <p:nvPr/>
        </p:nvSpPr>
        <p:spPr>
          <a:xfrm>
            <a:off x="628650" y="4466630"/>
            <a:ext cx="3743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Conversion Rate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628650" y="4625578"/>
            <a:ext cx="3272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2–5%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4714875" y="1237655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Immediate Next Steps (Week 1)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4714875" y="1484114"/>
            <a:ext cx="3857625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Finalize project scope and MVP feature list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4714875" y="1676995"/>
            <a:ext cx="3857625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Conduct competitive analysis (5–10 tools)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714875" y="1869877"/>
            <a:ext cx="3857625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Select and validate tech stack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4714875" y="2062758"/>
            <a:ext cx="3857625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Create project documentation and architecture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4714875" y="2255639"/>
            <a:ext cx="3857625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Set up GitHub repository and development environment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4714875" y="1484114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4714875" y="167699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4714875" y="186987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4714875" y="2062758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4714875" y="2255639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4714875" y="2534245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Critical Success Factors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4714875" y="2780705"/>
            <a:ext cx="3857625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Product quality and feature completeness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4714875" y="2973586"/>
            <a:ext cx="3857625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Fast iteration and rapid deployment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4714875" y="3166467"/>
            <a:ext cx="3857625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Effective conversion funnel optimization</a:t>
            </a:r>
            <a:endParaRPr lang="en-US" sz="727" dirty="0"/>
          </a:p>
        </p:txBody>
      </p:sp>
      <p:sp>
        <p:nvSpPr>
          <p:cNvPr id="42" name="Text 39"/>
          <p:cNvSpPr/>
          <p:nvPr/>
        </p:nvSpPr>
        <p:spPr>
          <a:xfrm>
            <a:off x="4714875" y="3359348"/>
            <a:ext cx="3857625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Consistent content marketing execution</a:t>
            </a:r>
            <a:endParaRPr lang="en-US" sz="727" dirty="0"/>
          </a:p>
        </p:txBody>
      </p:sp>
      <p:sp>
        <p:nvSpPr>
          <p:cNvPr id="43" name="Text 40"/>
          <p:cNvSpPr/>
          <p:nvPr/>
        </p:nvSpPr>
        <p:spPr>
          <a:xfrm>
            <a:off x="4714875" y="3552230"/>
            <a:ext cx="3857625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Email marketing and user engagement</a:t>
            </a:r>
            <a:endParaRPr lang="en-US" sz="727" dirty="0"/>
          </a:p>
        </p:txBody>
      </p:sp>
      <p:sp>
        <p:nvSpPr>
          <p:cNvPr id="44" name="Text 41"/>
          <p:cNvSpPr/>
          <p:nvPr/>
        </p:nvSpPr>
        <p:spPr>
          <a:xfrm>
            <a:off x="4714875" y="3745111"/>
            <a:ext cx="3857625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Community building and organic growth</a:t>
            </a:r>
            <a:endParaRPr lang="en-US" sz="727" dirty="0"/>
          </a:p>
        </p:txBody>
      </p:sp>
      <p:sp>
        <p:nvSpPr>
          <p:cNvPr id="45" name="Text 42"/>
          <p:cNvSpPr/>
          <p:nvPr/>
        </p:nvSpPr>
        <p:spPr>
          <a:xfrm>
            <a:off x="4714875" y="278070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4714875" y="2973586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47" name="Text 44"/>
          <p:cNvSpPr/>
          <p:nvPr/>
        </p:nvSpPr>
        <p:spPr>
          <a:xfrm>
            <a:off x="4714875" y="316646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48" name="Text 45"/>
          <p:cNvSpPr/>
          <p:nvPr/>
        </p:nvSpPr>
        <p:spPr>
          <a:xfrm>
            <a:off x="4714875" y="3359348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4714875" y="3552230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50" name="Text 47"/>
          <p:cNvSpPr/>
          <p:nvPr/>
        </p:nvSpPr>
        <p:spPr>
          <a:xfrm>
            <a:off x="4714875" y="3745111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Questions &amp;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Discussion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209080"/>
            <a:ext cx="8001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Let's discuss the roadmap, challenges, and opportunities ahead.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571500" y="1586247"/>
            <a:ext cx="3786188" cy="22681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Strategic Questions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71500" y="1927361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What is our primary target market and user persona?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195950"/>
            <a:ext cx="378618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How do we differentiate from established competitors like Jasper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and Copy.ai?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647401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What is our long-term vision beyond Month 3?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2915989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Should we focus on B2B, B2C, or both?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1927361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2195950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2647401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71500" y="2915989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71500" y="3241728"/>
            <a:ext cx="3786188" cy="22681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Technical Questions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571500" y="3582842"/>
            <a:ext cx="378618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Are we confident in the tech stack choices (Next.js, Supabase,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OpenAI)?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71500" y="4034293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What are the infrastructure scalability limits?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571500" y="4302882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How do we handle API rate limiting and cost control?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71500" y="4571470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What are the data privacy and security considerations?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571500" y="3582842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571500" y="4034293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71500" y="4302882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571500" y="4571470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4786313" y="1586247"/>
            <a:ext cx="3786188" cy="22681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Financial &amp; Growth Questions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786313" y="1927361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Are the revenue projections realistic and achievable?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786313" y="2195950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What is our customer acquisition cost (CAC) target?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786313" y="2464538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How do we achieve the projected conversion rates?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4786313" y="2733126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What is our pricing strategy and willingness to adjust?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4786313" y="1927361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4786313" y="2195950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4786313" y="2464538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4786313" y="2733126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4786313" y="3058864"/>
            <a:ext cx="3786188" cy="22681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Operational Questions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4786313" y="3399979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Do we have the right team and resources in place?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4786313" y="3668567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What are the biggest risks and how do we mitigate them?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4786313" y="3937155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How do we measure success and adjust the plan?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4786313" y="4205743"/>
            <a:ext cx="3786188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What is our decision-making framework for pivots?</a:t>
            </a:r>
            <a:endParaRPr lang="en-US" sz="834" dirty="0"/>
          </a:p>
        </p:txBody>
      </p:sp>
      <p:sp>
        <p:nvSpPr>
          <p:cNvPr id="37" name="Shape 34"/>
          <p:cNvSpPr/>
          <p:nvPr/>
        </p:nvSpPr>
        <p:spPr>
          <a:xfrm>
            <a:off x="4786313" y="4588632"/>
            <a:ext cx="3786188" cy="4725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8" name="Shape 35"/>
          <p:cNvSpPr/>
          <p:nvPr/>
        </p:nvSpPr>
        <p:spPr>
          <a:xfrm>
            <a:off x="4786313" y="4588632"/>
            <a:ext cx="28575" cy="47254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9" name="Text 36"/>
          <p:cNvSpPr/>
          <p:nvPr/>
        </p:nvSpPr>
        <p:spPr>
          <a:xfrm>
            <a:off x="4786313" y="3399979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4786313" y="3668567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4786313" y="3937155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42" name="Text 39"/>
          <p:cNvSpPr/>
          <p:nvPr/>
        </p:nvSpPr>
        <p:spPr>
          <a:xfrm>
            <a:off x="4786313" y="4205743"/>
            <a:ext cx="61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5FF"/>
                </a:solidFill>
              </a:rPr>
              <a:t>?</a:t>
            </a:r>
            <a:endParaRPr lang="en-US" sz="885" dirty="0"/>
          </a:p>
        </p:txBody>
      </p:sp>
      <p:sp>
        <p:nvSpPr>
          <p:cNvPr id="43" name="Text 40"/>
          <p:cNvSpPr/>
          <p:nvPr/>
        </p:nvSpPr>
        <p:spPr>
          <a:xfrm>
            <a:off x="4843463" y="4645782"/>
            <a:ext cx="36718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Ready to Discuss?</a:t>
            </a:r>
            <a:endParaRPr lang="en-US" sz="784" dirty="0"/>
          </a:p>
        </p:txBody>
      </p:sp>
      <p:sp>
        <p:nvSpPr>
          <p:cNvPr id="44" name="Text 41"/>
          <p:cNvSpPr/>
          <p:nvPr/>
        </p:nvSpPr>
        <p:spPr>
          <a:xfrm>
            <a:off x="4843463" y="4844021"/>
            <a:ext cx="36718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Share your thoughts — your feedback will shape our execution.</a:t>
            </a:r>
            <a:endParaRPr lang="en-US" sz="727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29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Contact &amp;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5FF"/>
                </a:solidFill>
              </a:rPr>
              <a:t>Resources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066205"/>
            <a:ext cx="80010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Everything you need to get started and stay connected.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428625" y="1334793"/>
            <a:ext cx="4086225" cy="241102"/>
          </a:xfrm>
          <a:prstGeom prst="rect">
            <a:avLst/>
          </a:prstGeom>
          <a:noFill/>
          <a:ln/>
        </p:spPr>
        <p:txBody>
          <a:bodyPr wrap="square" lIns="0" tIns="51054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Contact Information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28625" y="1633045"/>
            <a:ext cx="408622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Project Lead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428625" y="1784486"/>
            <a:ext cx="40862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team@aiwritingassistant.com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1987358"/>
            <a:ext cx="408622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Technical Support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428625" y="2138800"/>
            <a:ext cx="40862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support@aiwritingassistant.com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28625" y="2341671"/>
            <a:ext cx="408622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Sales &amp; Partnerships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428625" y="2493113"/>
            <a:ext cx="40862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sales@aiwritingassistant.com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28625" y="2695984"/>
            <a:ext cx="408622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Website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428625" y="2847426"/>
            <a:ext cx="40862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www.aiwritingassistant.com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28625" y="3050298"/>
            <a:ext cx="408622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GitHub Repository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428625" y="3201739"/>
            <a:ext cx="40862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github.com/aiwritingassistant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28625" y="3461761"/>
            <a:ext cx="4086225" cy="198574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For urgent inquiries, reach out to the project lead directly. Response time: 24 hours.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629150" y="1334793"/>
            <a:ext cx="2000250" cy="241102"/>
          </a:xfrm>
          <a:prstGeom prst="rect">
            <a:avLst/>
          </a:prstGeom>
          <a:noFill/>
          <a:ln/>
        </p:spPr>
        <p:txBody>
          <a:bodyPr wrap="square" lIns="0" tIns="51054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Documentation &amp; Resources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629150" y="1633045"/>
            <a:ext cx="2000250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Product Roadmap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— 8-week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implementation plan and milestones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629150" y="1975945"/>
            <a:ext cx="2000250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Technical Architecture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— System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design and technology stack details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629150" y="2318845"/>
            <a:ext cx="2000250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API Documentation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— Integration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guides and endpoint references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4629150" y="2661745"/>
            <a:ext cx="2000250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User Guide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— Feature walkthrough and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best practices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629150" y="3004645"/>
            <a:ext cx="2000250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FAQ &amp; Troubleshooting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— Common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questions and solutions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4629150" y="3347545"/>
            <a:ext cx="2000250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Blog &amp; Tutorials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— Content marketing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and educational resources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4629150" y="3690445"/>
            <a:ext cx="2000250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Community Forum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— User discussions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and peer support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4629150" y="4047632"/>
            <a:ext cx="2000250" cy="495709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All documentation is maintained and updated weekly. Check the GitHub wiki for the latest versions.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4629150" y="163304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629150" y="197594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629150" y="231884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4629150" y="266174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629150" y="300464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629150" y="334754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4629150" y="369044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00"/>
                </a:solidFill>
              </a:rPr>
              <a:t>→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6715125" y="1334793"/>
            <a:ext cx="2000250" cy="241102"/>
          </a:xfrm>
          <a:prstGeom prst="rect">
            <a:avLst/>
          </a:prstGeom>
          <a:noFill/>
          <a:ln/>
        </p:spPr>
        <p:txBody>
          <a:bodyPr wrap="square" lIns="0" tIns="51054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5FF"/>
                </a:solidFill>
              </a:rPr>
              <a:t>Tools &amp; Platforms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6715125" y="1633045"/>
            <a:ext cx="9429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Frontend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6715125" y="1802709"/>
            <a:ext cx="942975" cy="450056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Next.js 14+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(React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framework)</a:t>
            </a:r>
            <a:endParaRPr lang="en-US" sz="727" dirty="0"/>
          </a:p>
        </p:txBody>
      </p:sp>
      <p:sp>
        <p:nvSpPr>
          <p:cNvPr id="36" name="Text 33"/>
          <p:cNvSpPr/>
          <p:nvPr/>
        </p:nvSpPr>
        <p:spPr>
          <a:xfrm>
            <a:off x="6715125" y="2281340"/>
            <a:ext cx="942975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TypeScript (type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safety)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6715125" y="2609952"/>
            <a:ext cx="942975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Tailwind CSS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(styling)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6715125" y="2995715"/>
            <a:ext cx="9429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Backend &amp; Database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6715125" y="3292180"/>
            <a:ext cx="942975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Vercel Functions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(serverless)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6715125" y="3620793"/>
            <a:ext cx="942975" cy="450056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Supabase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PostgreSQL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(database)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6715125" y="4099424"/>
            <a:ext cx="942975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Prisma ORM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(data access)</a:t>
            </a:r>
            <a:endParaRPr lang="en-US" sz="727" dirty="0"/>
          </a:p>
        </p:txBody>
      </p:sp>
      <p:sp>
        <p:nvSpPr>
          <p:cNvPr id="42" name="Text 39"/>
          <p:cNvSpPr/>
          <p:nvPr/>
        </p:nvSpPr>
        <p:spPr>
          <a:xfrm>
            <a:off x="7772400" y="1633045"/>
            <a:ext cx="9429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AI &amp; APIs</a:t>
            </a:r>
            <a:endParaRPr lang="en-US" sz="634" dirty="0"/>
          </a:p>
        </p:txBody>
      </p:sp>
      <p:sp>
        <p:nvSpPr>
          <p:cNvPr id="43" name="Text 40"/>
          <p:cNvSpPr/>
          <p:nvPr/>
        </p:nvSpPr>
        <p:spPr>
          <a:xfrm>
            <a:off x="7772400" y="1802709"/>
            <a:ext cx="942975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OpenAI GPT-4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Turbo (LLM)</a:t>
            </a:r>
            <a:endParaRPr lang="en-US" sz="727" dirty="0"/>
          </a:p>
        </p:txBody>
      </p:sp>
      <p:sp>
        <p:nvSpPr>
          <p:cNvPr id="44" name="Text 41"/>
          <p:cNvSpPr/>
          <p:nvPr/>
        </p:nvSpPr>
        <p:spPr>
          <a:xfrm>
            <a:off x="7772400" y="2131321"/>
            <a:ext cx="942975" cy="450056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LangChain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(prompt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engineering)</a:t>
            </a:r>
            <a:endParaRPr lang="en-US" sz="727" dirty="0"/>
          </a:p>
        </p:txBody>
      </p:sp>
      <p:sp>
        <p:nvSpPr>
          <p:cNvPr id="45" name="Text 42"/>
          <p:cNvSpPr/>
          <p:nvPr/>
        </p:nvSpPr>
        <p:spPr>
          <a:xfrm>
            <a:off x="7772400" y="2609952"/>
            <a:ext cx="942975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Stripe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(payments)</a:t>
            </a:r>
            <a:endParaRPr lang="en-US" sz="727" dirty="0"/>
          </a:p>
        </p:txBody>
      </p:sp>
      <p:sp>
        <p:nvSpPr>
          <p:cNvPr id="46" name="Text 43"/>
          <p:cNvSpPr/>
          <p:nvPr/>
        </p:nvSpPr>
        <p:spPr>
          <a:xfrm>
            <a:off x="7772400" y="2995715"/>
            <a:ext cx="9429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Deployment &amp; Monitoring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7772400" y="3292180"/>
            <a:ext cx="942975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Vercel (hosting &amp;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CI/CD)</a:t>
            </a:r>
            <a:endParaRPr lang="en-US" sz="727" dirty="0"/>
          </a:p>
        </p:txBody>
      </p:sp>
      <p:sp>
        <p:nvSpPr>
          <p:cNvPr id="48" name="Text 45"/>
          <p:cNvSpPr/>
          <p:nvPr/>
        </p:nvSpPr>
        <p:spPr>
          <a:xfrm>
            <a:off x="7772400" y="3620793"/>
            <a:ext cx="942975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GitHub (version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control)</a:t>
            </a:r>
            <a:endParaRPr lang="en-US" sz="727" dirty="0"/>
          </a:p>
        </p:txBody>
      </p:sp>
      <p:sp>
        <p:nvSpPr>
          <p:cNvPr id="49" name="Text 46"/>
          <p:cNvSpPr/>
          <p:nvPr/>
        </p:nvSpPr>
        <p:spPr>
          <a:xfrm>
            <a:off x="7772400" y="3958335"/>
            <a:ext cx="942975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SendGrid (email)</a:t>
            </a:r>
            <a:endParaRPr lang="en-US" sz="727" dirty="0"/>
          </a:p>
        </p:txBody>
      </p:sp>
      <p:sp>
        <p:nvSpPr>
          <p:cNvPr id="50" name="Text 47"/>
          <p:cNvSpPr/>
          <p:nvPr/>
        </p:nvSpPr>
        <p:spPr>
          <a:xfrm>
            <a:off x="6715125" y="4485187"/>
            <a:ext cx="2000250" cy="495709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For detailed setup instructions and configuration guides, refer to the technical documentation.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6715125" y="1802709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  <p:sp>
        <p:nvSpPr>
          <p:cNvPr id="52" name="Text 49"/>
          <p:cNvSpPr/>
          <p:nvPr/>
        </p:nvSpPr>
        <p:spPr>
          <a:xfrm>
            <a:off x="6715125" y="2281340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6715125" y="2609952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  <p:sp>
        <p:nvSpPr>
          <p:cNvPr id="54" name="Text 51"/>
          <p:cNvSpPr/>
          <p:nvPr/>
        </p:nvSpPr>
        <p:spPr>
          <a:xfrm>
            <a:off x="6715125" y="3292180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  <p:sp>
        <p:nvSpPr>
          <p:cNvPr id="55" name="Text 52"/>
          <p:cNvSpPr/>
          <p:nvPr/>
        </p:nvSpPr>
        <p:spPr>
          <a:xfrm>
            <a:off x="6715125" y="362079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  <p:sp>
        <p:nvSpPr>
          <p:cNvPr id="56" name="Text 53"/>
          <p:cNvSpPr/>
          <p:nvPr/>
        </p:nvSpPr>
        <p:spPr>
          <a:xfrm>
            <a:off x="6715125" y="4099424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  <p:sp>
        <p:nvSpPr>
          <p:cNvPr id="57" name="Text 54"/>
          <p:cNvSpPr/>
          <p:nvPr/>
        </p:nvSpPr>
        <p:spPr>
          <a:xfrm>
            <a:off x="7772400" y="1802709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  <p:sp>
        <p:nvSpPr>
          <p:cNvPr id="58" name="Text 55"/>
          <p:cNvSpPr/>
          <p:nvPr/>
        </p:nvSpPr>
        <p:spPr>
          <a:xfrm>
            <a:off x="7772400" y="2131321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  <p:sp>
        <p:nvSpPr>
          <p:cNvPr id="59" name="Text 56"/>
          <p:cNvSpPr/>
          <p:nvPr/>
        </p:nvSpPr>
        <p:spPr>
          <a:xfrm>
            <a:off x="7772400" y="2609952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  <p:sp>
        <p:nvSpPr>
          <p:cNvPr id="60" name="Text 57"/>
          <p:cNvSpPr/>
          <p:nvPr/>
        </p:nvSpPr>
        <p:spPr>
          <a:xfrm>
            <a:off x="7772400" y="3292180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  <p:sp>
        <p:nvSpPr>
          <p:cNvPr id="61" name="Text 58"/>
          <p:cNvSpPr/>
          <p:nvPr/>
        </p:nvSpPr>
        <p:spPr>
          <a:xfrm>
            <a:off x="7772400" y="3620793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  <p:sp>
        <p:nvSpPr>
          <p:cNvPr id="62" name="Text 59"/>
          <p:cNvSpPr/>
          <p:nvPr/>
        </p:nvSpPr>
        <p:spPr>
          <a:xfrm>
            <a:off x="7772400" y="3958335"/>
            <a:ext cx="3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5FF"/>
                </a:solidFill>
              </a:rPr>
              <a:t>•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2026-02-10T10:21:15Z</dcterms:created>
  <dcterms:modified xsi:type="dcterms:W3CDTF">2026-02-10T10:21:15Z</dcterms:modified>
</cp:coreProperties>
</file>