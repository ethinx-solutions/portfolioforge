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271615"/>
            <a:ext cx="3714750" cy="480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</a:rPr>
              <a:t>PromptForge MVP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1923120"/>
            <a:ext cx="371475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8E8E8"/>
                </a:solidFill>
              </a:rPr>
              <a:t>Foundation &amp; Setup Phase: Establishing Infrastructure for Production-Ready Development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571500" y="2986060"/>
            <a:ext cx="4613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Duration: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1118583" y="2986060"/>
            <a:ext cx="12502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0D0D0"/>
                </a:solidFill>
              </a:rPr>
              <a:t>2 weeks (10 working days)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571500" y="3236091"/>
            <a:ext cx="2912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Team: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948472" y="3236091"/>
            <a:ext cx="77400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0D0D0"/>
                </a:solidFill>
              </a:rPr>
              <a:t>3 core members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571500" y="3486122"/>
            <a:ext cx="3038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Effort: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961086" y="3486122"/>
            <a:ext cx="70910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0D0D0"/>
                </a:solidFill>
              </a:rPr>
              <a:t>94 story points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571500" y="3736153"/>
            <a:ext cx="3824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Budget: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1039695" y="3736153"/>
            <a:ext cx="3705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0D0D0"/>
                </a:solidFill>
              </a:rPr>
              <a:t>$40,000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0000">
              <a:alpha val="9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409467"/>
            <a:ext cx="3929063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F3A7D"/>
                </a:solidFill>
              </a:rPr>
              <a:t>Foundation &amp; Setup Phase: Building the Backbone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428625" y="2312426"/>
            <a:ext cx="1878806" cy="8393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2312426"/>
            <a:ext cx="28575" cy="83939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600075" y="2483876"/>
            <a:ext cx="153590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2 weeks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600075" y="2853565"/>
            <a:ext cx="15359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</a:rPr>
              <a:t>Duration</a:t>
            </a:r>
            <a:endParaRPr lang="en-US" sz="634" dirty="0"/>
          </a:p>
        </p:txBody>
      </p:sp>
      <p:sp>
        <p:nvSpPr>
          <p:cNvPr id="8" name="Shape 5"/>
          <p:cNvSpPr/>
          <p:nvPr/>
        </p:nvSpPr>
        <p:spPr>
          <a:xfrm>
            <a:off x="2478881" y="2312426"/>
            <a:ext cx="1878806" cy="8393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2478881" y="2312426"/>
            <a:ext cx="28575" cy="83939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2650331" y="2483876"/>
            <a:ext cx="153590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3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2650331" y="2853565"/>
            <a:ext cx="15359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</a:rPr>
              <a:t>Team Members</a:t>
            </a:r>
            <a:endParaRPr lang="en-US" sz="634" dirty="0"/>
          </a:p>
        </p:txBody>
      </p:sp>
      <p:sp>
        <p:nvSpPr>
          <p:cNvPr id="12" name="Shape 9"/>
          <p:cNvSpPr/>
          <p:nvPr/>
        </p:nvSpPr>
        <p:spPr>
          <a:xfrm>
            <a:off x="428625" y="3323267"/>
            <a:ext cx="1878806" cy="8393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3323267"/>
            <a:ext cx="28575" cy="83939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600075" y="3494717"/>
            <a:ext cx="153590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94</a:t>
            </a:r>
            <a:endParaRPr lang="en-US" sz="1602" dirty="0"/>
          </a:p>
        </p:txBody>
      </p:sp>
      <p:sp>
        <p:nvSpPr>
          <p:cNvPr id="15" name="Text 12"/>
          <p:cNvSpPr/>
          <p:nvPr/>
        </p:nvSpPr>
        <p:spPr>
          <a:xfrm>
            <a:off x="600075" y="3864406"/>
            <a:ext cx="15359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</a:rPr>
              <a:t>Story Points</a:t>
            </a:r>
            <a:endParaRPr lang="en-US" sz="634" dirty="0"/>
          </a:p>
        </p:txBody>
      </p:sp>
      <p:sp>
        <p:nvSpPr>
          <p:cNvPr id="16" name="Shape 13"/>
          <p:cNvSpPr/>
          <p:nvPr/>
        </p:nvSpPr>
        <p:spPr>
          <a:xfrm>
            <a:off x="2478881" y="3323267"/>
            <a:ext cx="1878806" cy="8393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2478881" y="3323267"/>
            <a:ext cx="28575" cy="83939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/>
          <p:nvPr/>
        </p:nvSpPr>
        <p:spPr>
          <a:xfrm>
            <a:off x="2650331" y="3494717"/>
            <a:ext cx="153590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6B35"/>
                </a:solidFill>
              </a:rPr>
              <a:t>$40K</a:t>
            </a:r>
            <a:endParaRPr lang="en-US" sz="1602" dirty="0"/>
          </a:p>
        </p:txBody>
      </p:sp>
      <p:sp>
        <p:nvSpPr>
          <p:cNvPr id="19" name="Text 16"/>
          <p:cNvSpPr/>
          <p:nvPr/>
        </p:nvSpPr>
        <p:spPr>
          <a:xfrm>
            <a:off x="2650331" y="3864406"/>
            <a:ext cx="15359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</a:rPr>
              <a:t>Budget</a:t>
            </a:r>
            <a:endParaRPr lang="en-US" sz="634" dirty="0"/>
          </a:p>
        </p:txBody>
      </p:sp>
      <p:sp>
        <p:nvSpPr>
          <p:cNvPr id="20" name="Shape 17"/>
          <p:cNvSpPr/>
          <p:nvPr/>
        </p:nvSpPr>
        <p:spPr>
          <a:xfrm>
            <a:off x="4786313" y="854794"/>
            <a:ext cx="3929063" cy="12265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5014913" y="1083394"/>
            <a:ext cx="34718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Objective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5014913" y="1372716"/>
            <a:ext cx="347186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Establish complete development infrastructure, tooling, and architectural foundations that enable rapid, high-quality development in subsequent phases.</a:t>
            </a: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4786313" y="2252793"/>
            <a:ext cx="3929063" cy="12265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5014913" y="2481393"/>
            <a:ext cx="34718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Impact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5014913" y="2770715"/>
            <a:ext cx="3471863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Success in this phase directly impacts the velocity and quality of all downstream development work. This phase removes infrastructure as a blocker for the entire project.</a:t>
            </a:r>
            <a:endParaRPr lang="en-US" sz="727" dirty="0"/>
          </a:p>
        </p:txBody>
      </p:sp>
      <p:sp>
        <p:nvSpPr>
          <p:cNvPr id="26" name="Shape 23"/>
          <p:cNvSpPr/>
          <p:nvPr/>
        </p:nvSpPr>
        <p:spPr>
          <a:xfrm>
            <a:off x="4786313" y="3650791"/>
            <a:ext cx="3929063" cy="10665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5014913" y="3879391"/>
            <a:ext cx="34718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Outcome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5014913" y="4168713"/>
            <a:ext cx="34718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Phase completion enables </a:t>
            </a:r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Phase 2 (Core Platform Development)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 to 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44444"/>
                </a:solidFill>
              </a:rPr>
              <a:t>begin immediately with zero infrastructure blockers.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7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91120"/>
            <a:ext cx="6352496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F3A7D"/>
                </a:solidFill>
              </a:rPr>
              <a:t>Week 1: Infrastructure Setup Delivers Foundation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6971156" y="357188"/>
            <a:ext cx="22885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39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6785809" y="659011"/>
            <a:ext cx="59957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Story Points</a:t>
            </a:r>
            <a:endParaRPr lang="en-US" sz="584" dirty="0"/>
          </a:p>
        </p:txBody>
      </p:sp>
      <p:sp>
        <p:nvSpPr>
          <p:cNvPr id="6" name="Text 3"/>
          <p:cNvSpPr/>
          <p:nvPr/>
        </p:nvSpPr>
        <p:spPr>
          <a:xfrm>
            <a:off x="7888570" y="357188"/>
            <a:ext cx="11444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2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7613982" y="659011"/>
            <a:ext cx="6636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Team Members</a:t>
            </a:r>
            <a:endParaRPr lang="en-US" sz="584" dirty="0"/>
          </a:p>
        </p:txBody>
      </p:sp>
      <p:sp>
        <p:nvSpPr>
          <p:cNvPr id="8" name="Text 5"/>
          <p:cNvSpPr/>
          <p:nvPr/>
        </p:nvSpPr>
        <p:spPr>
          <a:xfrm>
            <a:off x="8553552" y="357188"/>
            <a:ext cx="11444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5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8506197" y="659011"/>
            <a:ext cx="2091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Days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428625" y="1060847"/>
            <a:ext cx="8286750" cy="590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" y="1060847"/>
            <a:ext cx="28575" cy="59078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1203722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1203722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1000125" y="1203722"/>
            <a:ext cx="75723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GitHub Repositories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1000125" y="1378744"/>
            <a:ext cx="757237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3 fully configured repositories (backend, frontend, mobile) with branch protection and team access</a:t>
            </a:r>
            <a:endParaRPr lang="en-US" sz="674" dirty="0"/>
          </a:p>
        </p:txBody>
      </p:sp>
      <p:sp>
        <p:nvSpPr>
          <p:cNvPr id="16" name="Shape 13"/>
          <p:cNvSpPr/>
          <p:nvPr/>
        </p:nvSpPr>
        <p:spPr>
          <a:xfrm>
            <a:off x="428625" y="1765929"/>
            <a:ext cx="8286750" cy="590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1765929"/>
            <a:ext cx="28575" cy="59078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1908804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" y="1908804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2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1000125" y="1908804"/>
            <a:ext cx="75723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CI/CD Pipeline</a:t>
            </a:r>
            <a:endParaRPr lang="en-US" sz="734" dirty="0"/>
          </a:p>
        </p:txBody>
      </p:sp>
      <p:sp>
        <p:nvSpPr>
          <p:cNvPr id="21" name="Text 18"/>
          <p:cNvSpPr/>
          <p:nvPr/>
        </p:nvSpPr>
        <p:spPr>
          <a:xfrm>
            <a:off x="1000125" y="2083826"/>
            <a:ext cx="757237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Automated testing, linting, and deployment workflows via GitHub Actions</a:t>
            </a:r>
            <a:endParaRPr lang="en-US" sz="674" dirty="0"/>
          </a:p>
        </p:txBody>
      </p:sp>
      <p:sp>
        <p:nvSpPr>
          <p:cNvPr id="22" name="Shape 19"/>
          <p:cNvSpPr/>
          <p:nvPr/>
        </p:nvSpPr>
        <p:spPr>
          <a:xfrm>
            <a:off x="428625" y="2471012"/>
            <a:ext cx="8286750" cy="590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428625" y="2471012"/>
            <a:ext cx="28575" cy="59078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Shape 21"/>
          <p:cNvSpPr/>
          <p:nvPr/>
        </p:nvSpPr>
        <p:spPr>
          <a:xfrm>
            <a:off x="571500" y="2613887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2"/>
          <p:cNvSpPr/>
          <p:nvPr/>
        </p:nvSpPr>
        <p:spPr>
          <a:xfrm>
            <a:off x="571500" y="261388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3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1000125" y="2613887"/>
            <a:ext cx="75723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AWS Infrastructure</a:t>
            </a:r>
            <a:endParaRPr lang="en-US" sz="734" dirty="0"/>
          </a:p>
        </p:txBody>
      </p:sp>
      <p:sp>
        <p:nvSpPr>
          <p:cNvPr id="27" name="Text 24"/>
          <p:cNvSpPr/>
          <p:nvPr/>
        </p:nvSpPr>
        <p:spPr>
          <a:xfrm>
            <a:off x="1000125" y="2788909"/>
            <a:ext cx="757237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RDS PostgreSQL, ElastiCache Redis, S3 storage, and Lambda functions across dev/staging/prod</a:t>
            </a:r>
            <a:endParaRPr lang="en-US" sz="674" dirty="0"/>
          </a:p>
        </p:txBody>
      </p:sp>
      <p:sp>
        <p:nvSpPr>
          <p:cNvPr id="28" name="Shape 25"/>
          <p:cNvSpPr/>
          <p:nvPr/>
        </p:nvSpPr>
        <p:spPr>
          <a:xfrm>
            <a:off x="428625" y="3176095"/>
            <a:ext cx="8286750" cy="590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428625" y="3176095"/>
            <a:ext cx="28575" cy="59078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0" name="Shape 27"/>
          <p:cNvSpPr/>
          <p:nvPr/>
        </p:nvSpPr>
        <p:spPr>
          <a:xfrm>
            <a:off x="571500" y="3318970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Text 28"/>
          <p:cNvSpPr/>
          <p:nvPr/>
        </p:nvSpPr>
        <p:spPr>
          <a:xfrm>
            <a:off x="571500" y="331897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4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1000125" y="3318970"/>
            <a:ext cx="75723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Monitoring &amp; Logging</a:t>
            </a:r>
            <a:endParaRPr lang="en-US" sz="734" dirty="0"/>
          </a:p>
        </p:txBody>
      </p:sp>
      <p:sp>
        <p:nvSpPr>
          <p:cNvPr id="33" name="Text 30"/>
          <p:cNvSpPr/>
          <p:nvPr/>
        </p:nvSpPr>
        <p:spPr>
          <a:xfrm>
            <a:off x="1000125" y="3493991"/>
            <a:ext cx="757237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Sentry error tracking, New Relic APM, CloudWatch logging with dashboards and alerts</a:t>
            </a:r>
            <a:endParaRPr lang="en-US" sz="674" dirty="0"/>
          </a:p>
        </p:txBody>
      </p:sp>
      <p:sp>
        <p:nvSpPr>
          <p:cNvPr id="34" name="Shape 31"/>
          <p:cNvSpPr/>
          <p:nvPr/>
        </p:nvSpPr>
        <p:spPr>
          <a:xfrm>
            <a:off x="428625" y="3881177"/>
            <a:ext cx="8286750" cy="590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428625" y="3881177"/>
            <a:ext cx="28575" cy="59078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6" name="Shape 33"/>
          <p:cNvSpPr/>
          <p:nvPr/>
        </p:nvSpPr>
        <p:spPr>
          <a:xfrm>
            <a:off x="571500" y="4024052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7" name="Text 34"/>
          <p:cNvSpPr/>
          <p:nvPr/>
        </p:nvSpPr>
        <p:spPr>
          <a:xfrm>
            <a:off x="571500" y="4024052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5</a:t>
            </a:r>
            <a:endParaRPr lang="en-US" sz="885" dirty="0"/>
          </a:p>
        </p:txBody>
      </p:sp>
      <p:sp>
        <p:nvSpPr>
          <p:cNvPr id="38" name="Text 35"/>
          <p:cNvSpPr/>
          <p:nvPr/>
        </p:nvSpPr>
        <p:spPr>
          <a:xfrm>
            <a:off x="1000125" y="4024052"/>
            <a:ext cx="75723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Development Guide</a:t>
            </a:r>
            <a:endParaRPr lang="en-US" sz="734" dirty="0"/>
          </a:p>
        </p:txBody>
      </p:sp>
      <p:sp>
        <p:nvSpPr>
          <p:cNvPr id="39" name="Text 36"/>
          <p:cNvSpPr/>
          <p:nvPr/>
        </p:nvSpPr>
        <p:spPr>
          <a:xfrm>
            <a:off x="1000125" y="4199074"/>
            <a:ext cx="757237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Comprehensive setup documentation enabling all team members to begin development immediately</a:t>
            </a:r>
            <a:endParaRPr lang="en-US" sz="674" dirty="0"/>
          </a:p>
        </p:txBody>
      </p:sp>
      <p:sp>
        <p:nvSpPr>
          <p:cNvPr id="40" name="Shape 37"/>
          <p:cNvSpPr/>
          <p:nvPr/>
        </p:nvSpPr>
        <p:spPr>
          <a:xfrm>
            <a:off x="428625" y="4700560"/>
            <a:ext cx="8286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28625" y="4700560"/>
            <a:ext cx="828675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39"/>
          <p:cNvSpPr/>
          <p:nvPr/>
        </p:nvSpPr>
        <p:spPr>
          <a:xfrm>
            <a:off x="428625" y="4933624"/>
            <a:ext cx="43659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</a:rPr>
              <a:t>Week 1 completion enables Week 2 backend development and removes infrastructure as a blocker</a:t>
            </a:r>
            <a:endParaRPr lang="en-US" sz="634" dirty="0"/>
          </a:p>
        </p:txBody>
      </p:sp>
      <p:sp>
        <p:nvSpPr>
          <p:cNvPr id="43" name="Shape 40"/>
          <p:cNvSpPr/>
          <p:nvPr/>
        </p:nvSpPr>
        <p:spPr>
          <a:xfrm>
            <a:off x="7582895" y="4843435"/>
            <a:ext cx="1132480" cy="307181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44" name="Shape 41"/>
          <p:cNvSpPr/>
          <p:nvPr/>
        </p:nvSpPr>
        <p:spPr>
          <a:xfrm>
            <a:off x="7582895" y="4843435"/>
            <a:ext cx="21431" cy="307181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45" name="Text 42"/>
          <p:cNvSpPr/>
          <p:nvPr/>
        </p:nvSpPr>
        <p:spPr>
          <a:xfrm>
            <a:off x="7582895" y="4843435"/>
            <a:ext cx="1132480" cy="30718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✓ Ready for Phase 2</a:t>
            </a:r>
            <a:endParaRPr lang="en-US" sz="6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F3A7D"/>
                </a:solidFill>
              </a:rPr>
              <a:t>Week 1 Task Breakdown: Five Critical Initiatives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764381"/>
            <a:ext cx="8286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Detailed allocation of infrastructure setup tasks with story points, assignees, and timeline</a:t>
            </a:r>
            <a:endParaRPr lang="en-US" sz="727" dirty="0"/>
          </a:p>
        </p:txBody>
      </p:sp>
      <p:sp>
        <p:nvSpPr>
          <p:cNvPr id="5" name="Shape 2"/>
          <p:cNvSpPr/>
          <p:nvPr/>
        </p:nvSpPr>
        <p:spPr>
          <a:xfrm>
            <a:off x="428625" y="1128713"/>
            <a:ext cx="8286750" cy="25788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128713"/>
            <a:ext cx="8286750" cy="341114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128713"/>
            <a:ext cx="2900363" cy="34111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Task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3328988" y="1128713"/>
            <a:ext cx="1243013" cy="34111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Story Points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4572000" y="1128713"/>
            <a:ext cx="1657350" cy="34111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Assignee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6229350" y="1128713"/>
            <a:ext cx="1243013" cy="34111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Due Date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7472363" y="1128713"/>
            <a:ext cx="1243013" cy="34111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Status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428625" y="1469827"/>
            <a:ext cx="2900363" cy="36790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Initialize GitHub Repositories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3328988" y="1469827"/>
            <a:ext cx="1243013" cy="36790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5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4572000" y="1469827"/>
            <a:ext cx="1657350" cy="36790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Engineering Lead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6229350" y="1469827"/>
            <a:ext cx="1243013" cy="36790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Day 1</a:t>
            </a:r>
            <a:endParaRPr lang="en-US" sz="674" dirty="0"/>
          </a:p>
        </p:txBody>
      </p:sp>
      <p:sp>
        <p:nvSpPr>
          <p:cNvPr id="16" name="Shape 13"/>
          <p:cNvSpPr/>
          <p:nvPr/>
        </p:nvSpPr>
        <p:spPr>
          <a:xfrm>
            <a:off x="7586663" y="1569839"/>
            <a:ext cx="427453" cy="164306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17" name="Text 14"/>
          <p:cNvSpPr/>
          <p:nvPr/>
        </p:nvSpPr>
        <p:spPr>
          <a:xfrm>
            <a:off x="7586663" y="1569839"/>
            <a:ext cx="427453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F3A7D"/>
                </a:solidFill>
              </a:rPr>
              <a:t>Planned</a:t>
            </a:r>
            <a:endParaRPr lang="en-US" sz="534" dirty="0"/>
          </a:p>
        </p:txBody>
      </p:sp>
      <p:sp>
        <p:nvSpPr>
          <p:cNvPr id="18" name="Text 15"/>
          <p:cNvSpPr/>
          <p:nvPr/>
        </p:nvSpPr>
        <p:spPr>
          <a:xfrm>
            <a:off x="428625" y="1837730"/>
            <a:ext cx="2900363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Set Up GitHub Actions CI/CD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3328988" y="1837730"/>
            <a:ext cx="1243013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8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4572000" y="1837730"/>
            <a:ext cx="1657350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DevOps Engineer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6229350" y="1837730"/>
            <a:ext cx="1243013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Day 2</a:t>
            </a:r>
            <a:endParaRPr lang="en-US" sz="674" dirty="0"/>
          </a:p>
        </p:txBody>
      </p:sp>
      <p:sp>
        <p:nvSpPr>
          <p:cNvPr id="22" name="Shape 19"/>
          <p:cNvSpPr/>
          <p:nvPr/>
        </p:nvSpPr>
        <p:spPr>
          <a:xfrm>
            <a:off x="7586663" y="1941314"/>
            <a:ext cx="427453" cy="164306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23" name="Text 20"/>
          <p:cNvSpPr/>
          <p:nvPr/>
        </p:nvSpPr>
        <p:spPr>
          <a:xfrm>
            <a:off x="7586663" y="1941314"/>
            <a:ext cx="427453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F3A7D"/>
                </a:solidFill>
              </a:rPr>
              <a:t>Planned</a:t>
            </a:r>
            <a:endParaRPr lang="en-US" sz="534" dirty="0"/>
          </a:p>
        </p:txBody>
      </p:sp>
      <p:sp>
        <p:nvSpPr>
          <p:cNvPr id="24" name="Text 21"/>
          <p:cNvSpPr/>
          <p:nvPr/>
        </p:nvSpPr>
        <p:spPr>
          <a:xfrm>
            <a:off x="428625" y="2209205"/>
            <a:ext cx="2900363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Configure AWS Infrastructure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3328988" y="2209205"/>
            <a:ext cx="1243013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13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4572000" y="2209205"/>
            <a:ext cx="1657350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DevOps Engineer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6229350" y="2209205"/>
            <a:ext cx="1243013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Day 3</a:t>
            </a:r>
            <a:endParaRPr lang="en-US" sz="674" dirty="0"/>
          </a:p>
        </p:txBody>
      </p:sp>
      <p:sp>
        <p:nvSpPr>
          <p:cNvPr id="28" name="Shape 25"/>
          <p:cNvSpPr/>
          <p:nvPr/>
        </p:nvSpPr>
        <p:spPr>
          <a:xfrm>
            <a:off x="7586663" y="2312789"/>
            <a:ext cx="427453" cy="164306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29" name="Text 26"/>
          <p:cNvSpPr/>
          <p:nvPr/>
        </p:nvSpPr>
        <p:spPr>
          <a:xfrm>
            <a:off x="7586663" y="2312789"/>
            <a:ext cx="427453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F3A7D"/>
                </a:solidFill>
              </a:rPr>
              <a:t>Planned</a:t>
            </a:r>
            <a:endParaRPr lang="en-US" sz="534" dirty="0"/>
          </a:p>
        </p:txBody>
      </p:sp>
      <p:sp>
        <p:nvSpPr>
          <p:cNvPr id="30" name="Text 27"/>
          <p:cNvSpPr/>
          <p:nvPr/>
        </p:nvSpPr>
        <p:spPr>
          <a:xfrm>
            <a:off x="428625" y="2580680"/>
            <a:ext cx="2900363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Set Up Monitoring &amp; Logging</a:t>
            </a:r>
            <a:endParaRPr lang="en-US" sz="634" dirty="0"/>
          </a:p>
        </p:txBody>
      </p:sp>
      <p:sp>
        <p:nvSpPr>
          <p:cNvPr id="31" name="Text 28"/>
          <p:cNvSpPr/>
          <p:nvPr/>
        </p:nvSpPr>
        <p:spPr>
          <a:xfrm>
            <a:off x="3328988" y="2580680"/>
            <a:ext cx="1243013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8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4572000" y="2580680"/>
            <a:ext cx="1657350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DevOps Engineer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6229350" y="2580680"/>
            <a:ext cx="1243013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Day 4</a:t>
            </a:r>
            <a:endParaRPr lang="en-US" sz="674" dirty="0"/>
          </a:p>
        </p:txBody>
      </p:sp>
      <p:sp>
        <p:nvSpPr>
          <p:cNvPr id="34" name="Shape 31"/>
          <p:cNvSpPr/>
          <p:nvPr/>
        </p:nvSpPr>
        <p:spPr>
          <a:xfrm>
            <a:off x="7586663" y="2684264"/>
            <a:ext cx="427453" cy="164306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35" name="Text 32"/>
          <p:cNvSpPr/>
          <p:nvPr/>
        </p:nvSpPr>
        <p:spPr>
          <a:xfrm>
            <a:off x="7586663" y="2684264"/>
            <a:ext cx="427453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F3A7D"/>
                </a:solidFill>
              </a:rPr>
              <a:t>Planned</a:t>
            </a:r>
            <a:endParaRPr lang="en-US" sz="534" dirty="0"/>
          </a:p>
        </p:txBody>
      </p:sp>
      <p:sp>
        <p:nvSpPr>
          <p:cNvPr id="36" name="Text 33"/>
          <p:cNvSpPr/>
          <p:nvPr/>
        </p:nvSpPr>
        <p:spPr>
          <a:xfrm>
            <a:off x="428625" y="2952155"/>
            <a:ext cx="2900363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Create Dev Environment Guide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3328988" y="2952155"/>
            <a:ext cx="1243013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5</a:t>
            </a:r>
            <a:endParaRPr lang="en-US" sz="634" dirty="0"/>
          </a:p>
        </p:txBody>
      </p:sp>
      <p:sp>
        <p:nvSpPr>
          <p:cNvPr id="38" name="Text 35"/>
          <p:cNvSpPr/>
          <p:nvPr/>
        </p:nvSpPr>
        <p:spPr>
          <a:xfrm>
            <a:off x="4572000" y="2952155"/>
            <a:ext cx="1657350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Engineering Lead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6229350" y="2952155"/>
            <a:ext cx="1243013" cy="37147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Day 5</a:t>
            </a:r>
            <a:endParaRPr lang="en-US" sz="674" dirty="0"/>
          </a:p>
        </p:txBody>
      </p:sp>
      <p:sp>
        <p:nvSpPr>
          <p:cNvPr id="40" name="Shape 37"/>
          <p:cNvSpPr/>
          <p:nvPr/>
        </p:nvSpPr>
        <p:spPr>
          <a:xfrm>
            <a:off x="7586663" y="3055739"/>
            <a:ext cx="427453" cy="164306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41" name="Text 38"/>
          <p:cNvSpPr/>
          <p:nvPr/>
        </p:nvSpPr>
        <p:spPr>
          <a:xfrm>
            <a:off x="7586663" y="3055739"/>
            <a:ext cx="427453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F3A7D"/>
                </a:solidFill>
              </a:rPr>
              <a:t>Planned</a:t>
            </a:r>
            <a:endParaRPr lang="en-US" sz="534" dirty="0"/>
          </a:p>
        </p:txBody>
      </p:sp>
      <p:sp>
        <p:nvSpPr>
          <p:cNvPr id="42" name="Shape 39"/>
          <p:cNvSpPr/>
          <p:nvPr/>
        </p:nvSpPr>
        <p:spPr>
          <a:xfrm>
            <a:off x="428625" y="3323630"/>
            <a:ext cx="8286750" cy="376833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3" name="Text 40"/>
          <p:cNvSpPr/>
          <p:nvPr/>
        </p:nvSpPr>
        <p:spPr>
          <a:xfrm>
            <a:off x="428625" y="3323630"/>
            <a:ext cx="2900363" cy="37683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Week 1 Total</a:t>
            </a:r>
            <a:endParaRPr lang="en-US" sz="634" dirty="0"/>
          </a:p>
        </p:txBody>
      </p:sp>
      <p:sp>
        <p:nvSpPr>
          <p:cNvPr id="44" name="Text 41"/>
          <p:cNvSpPr/>
          <p:nvPr/>
        </p:nvSpPr>
        <p:spPr>
          <a:xfrm>
            <a:off x="3328988" y="3323630"/>
            <a:ext cx="1243013" cy="37683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39</a:t>
            </a:r>
            <a:endParaRPr lang="en-US" sz="784" dirty="0"/>
          </a:p>
        </p:txBody>
      </p:sp>
      <p:sp>
        <p:nvSpPr>
          <p:cNvPr id="45" name="Text 42"/>
          <p:cNvSpPr/>
          <p:nvPr/>
        </p:nvSpPr>
        <p:spPr>
          <a:xfrm>
            <a:off x="4572000" y="3323630"/>
            <a:ext cx="1657350" cy="37683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2 people</a:t>
            </a:r>
            <a:endParaRPr lang="en-US" sz="634" dirty="0"/>
          </a:p>
        </p:txBody>
      </p:sp>
      <p:sp>
        <p:nvSpPr>
          <p:cNvPr id="46" name="Text 43"/>
          <p:cNvSpPr/>
          <p:nvPr/>
        </p:nvSpPr>
        <p:spPr>
          <a:xfrm>
            <a:off x="6229350" y="3323630"/>
            <a:ext cx="1243013" cy="37683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Day 5</a:t>
            </a:r>
            <a:endParaRPr lang="en-US" sz="634" dirty="0"/>
          </a:p>
        </p:txBody>
      </p:sp>
      <p:sp>
        <p:nvSpPr>
          <p:cNvPr id="47" name="Text 44"/>
          <p:cNvSpPr/>
          <p:nvPr/>
        </p:nvSpPr>
        <p:spPr>
          <a:xfrm>
            <a:off x="7472363" y="3323630"/>
            <a:ext cx="1243013" cy="37683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Ready</a:t>
            </a:r>
            <a:endParaRPr lang="en-US" sz="634" dirty="0"/>
          </a:p>
        </p:txBody>
      </p:sp>
      <p:sp>
        <p:nvSpPr>
          <p:cNvPr id="48" name="Shape 45"/>
          <p:cNvSpPr/>
          <p:nvPr/>
        </p:nvSpPr>
        <p:spPr>
          <a:xfrm>
            <a:off x="428625" y="4702373"/>
            <a:ext cx="8286750" cy="44112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428625" y="4702373"/>
            <a:ext cx="828675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0" name="Text 47"/>
          <p:cNvSpPr/>
          <p:nvPr/>
        </p:nvSpPr>
        <p:spPr>
          <a:xfrm>
            <a:off x="428625" y="4852392"/>
            <a:ext cx="171475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Key Dependencies</a:t>
            </a:r>
            <a:endParaRPr lang="en-US" sz="534" dirty="0"/>
          </a:p>
        </p:txBody>
      </p:sp>
      <p:sp>
        <p:nvSpPr>
          <p:cNvPr id="51" name="Text 48"/>
          <p:cNvSpPr/>
          <p:nvPr/>
        </p:nvSpPr>
        <p:spPr>
          <a:xfrm>
            <a:off x="428625" y="4988123"/>
            <a:ext cx="17147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None (Week 1 is foundational)</a:t>
            </a:r>
            <a:endParaRPr lang="en-US" sz="784" dirty="0"/>
          </a:p>
        </p:txBody>
      </p:sp>
      <p:sp>
        <p:nvSpPr>
          <p:cNvPr id="52" name="Text 49"/>
          <p:cNvSpPr/>
          <p:nvPr/>
        </p:nvSpPr>
        <p:spPr>
          <a:xfrm>
            <a:off x="3410806" y="4852392"/>
            <a:ext cx="186027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Team Utilization</a:t>
            </a:r>
            <a:endParaRPr lang="en-US" sz="534" dirty="0"/>
          </a:p>
        </p:txBody>
      </p:sp>
      <p:sp>
        <p:nvSpPr>
          <p:cNvPr id="53" name="Text 50"/>
          <p:cNvSpPr/>
          <p:nvPr/>
        </p:nvSpPr>
        <p:spPr>
          <a:xfrm>
            <a:off x="3410806" y="4988123"/>
            <a:ext cx="18602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39 SP ÷ 2 people = </a:t>
            </a:r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19.5 SP/person</a:t>
            </a:r>
            <a:endParaRPr lang="en-US" sz="784" dirty="0"/>
          </a:p>
        </p:txBody>
      </p:sp>
      <p:sp>
        <p:nvSpPr>
          <p:cNvPr id="54" name="Text 51"/>
          <p:cNvSpPr/>
          <p:nvPr/>
        </p:nvSpPr>
        <p:spPr>
          <a:xfrm>
            <a:off x="6538513" y="4852392"/>
            <a:ext cx="217686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Impact</a:t>
            </a:r>
            <a:endParaRPr lang="en-US" sz="534" dirty="0"/>
          </a:p>
        </p:txBody>
      </p:sp>
      <p:sp>
        <p:nvSpPr>
          <p:cNvPr id="55" name="Text 52"/>
          <p:cNvSpPr/>
          <p:nvPr/>
        </p:nvSpPr>
        <p:spPr>
          <a:xfrm>
            <a:off x="6538513" y="4988123"/>
            <a:ext cx="21768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Enables Week 2 backend development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256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6444862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F3A7D"/>
                </a:solidFill>
              </a:rPr>
              <a:t>Week 2: Backend Architecture Enables Core Platform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7038045" y="440234"/>
            <a:ext cx="22885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47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6873487" y="742057"/>
            <a:ext cx="557966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Story Points</a:t>
            </a:r>
            <a:endParaRPr lang="en-US" sz="584" dirty="0"/>
          </a:p>
        </p:txBody>
      </p:sp>
      <p:sp>
        <p:nvSpPr>
          <p:cNvPr id="6" name="Text 3"/>
          <p:cNvSpPr/>
          <p:nvPr/>
        </p:nvSpPr>
        <p:spPr>
          <a:xfrm>
            <a:off x="7911592" y="440234"/>
            <a:ext cx="11444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2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7660053" y="742057"/>
            <a:ext cx="617544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Team Members</a:t>
            </a:r>
            <a:endParaRPr lang="en-US" sz="584" dirty="0"/>
          </a:p>
        </p:txBody>
      </p:sp>
      <p:sp>
        <p:nvSpPr>
          <p:cNvPr id="8" name="Text 5"/>
          <p:cNvSpPr/>
          <p:nvPr/>
        </p:nvSpPr>
        <p:spPr>
          <a:xfrm>
            <a:off x="8553552" y="440234"/>
            <a:ext cx="11444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6B35"/>
                </a:solidFill>
              </a:rPr>
              <a:t>5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8506197" y="742057"/>
            <a:ext cx="2091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Days</a:t>
            </a:r>
            <a:endParaRPr lang="en-US" sz="584" dirty="0"/>
          </a:p>
        </p:txBody>
      </p:sp>
      <p:sp>
        <p:nvSpPr>
          <p:cNvPr id="10" name="Shape 7"/>
          <p:cNvSpPr/>
          <p:nvPr/>
        </p:nvSpPr>
        <p:spPr>
          <a:xfrm>
            <a:off x="428625" y="1228725"/>
            <a:ext cx="8286750" cy="590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" y="1228725"/>
            <a:ext cx="28575" cy="59078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1371600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137160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1000125" y="1371600"/>
            <a:ext cx="75723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Express Backend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1000125" y="1546622"/>
            <a:ext cx="757237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Production-ready Node.js/Express application with TypeScript, proper project structure, and middleware</a:t>
            </a:r>
            <a:endParaRPr lang="en-US" sz="674" dirty="0"/>
          </a:p>
        </p:txBody>
      </p:sp>
      <p:sp>
        <p:nvSpPr>
          <p:cNvPr id="16" name="Shape 13"/>
          <p:cNvSpPr/>
          <p:nvPr/>
        </p:nvSpPr>
        <p:spPr>
          <a:xfrm>
            <a:off x="428625" y="1933808"/>
            <a:ext cx="8286750" cy="590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1933808"/>
            <a:ext cx="28575" cy="59078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2076683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" y="207668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2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1000125" y="2076683"/>
            <a:ext cx="75723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Database Schema</a:t>
            </a:r>
            <a:endParaRPr lang="en-US" sz="734" dirty="0"/>
          </a:p>
        </p:txBody>
      </p:sp>
      <p:sp>
        <p:nvSpPr>
          <p:cNvPr id="21" name="Text 18"/>
          <p:cNvSpPr/>
          <p:nvPr/>
        </p:nvSpPr>
        <p:spPr>
          <a:xfrm>
            <a:off x="1000125" y="2251704"/>
            <a:ext cx="757237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8 core tables with relationships, indexes, constraints, and migration system</a:t>
            </a:r>
            <a:endParaRPr lang="en-US" sz="674" dirty="0"/>
          </a:p>
        </p:txBody>
      </p:sp>
      <p:sp>
        <p:nvSpPr>
          <p:cNvPr id="22" name="Shape 19"/>
          <p:cNvSpPr/>
          <p:nvPr/>
        </p:nvSpPr>
        <p:spPr>
          <a:xfrm>
            <a:off x="428625" y="2638890"/>
            <a:ext cx="8286750" cy="590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428625" y="2638890"/>
            <a:ext cx="28575" cy="59078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Shape 21"/>
          <p:cNvSpPr/>
          <p:nvPr/>
        </p:nvSpPr>
        <p:spPr>
          <a:xfrm>
            <a:off x="571500" y="2781765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2"/>
          <p:cNvSpPr/>
          <p:nvPr/>
        </p:nvSpPr>
        <p:spPr>
          <a:xfrm>
            <a:off x="571500" y="2781765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3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1000125" y="2781765"/>
            <a:ext cx="75723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Authentication System</a:t>
            </a:r>
            <a:endParaRPr lang="en-US" sz="734" dirty="0"/>
          </a:p>
        </p:txBody>
      </p:sp>
      <p:sp>
        <p:nvSpPr>
          <p:cNvPr id="27" name="Text 24"/>
          <p:cNvSpPr/>
          <p:nvPr/>
        </p:nvSpPr>
        <p:spPr>
          <a:xfrm>
            <a:off x="1000125" y="2956787"/>
            <a:ext cx="757237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JWT tokens, OAuth 2.0 integration (Google, GitHub), password management, and security measures</a:t>
            </a:r>
            <a:endParaRPr lang="en-US" sz="674" dirty="0"/>
          </a:p>
        </p:txBody>
      </p:sp>
      <p:sp>
        <p:nvSpPr>
          <p:cNvPr id="28" name="Shape 25"/>
          <p:cNvSpPr/>
          <p:nvPr/>
        </p:nvSpPr>
        <p:spPr>
          <a:xfrm>
            <a:off x="428625" y="3343973"/>
            <a:ext cx="8286750" cy="590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428625" y="3343973"/>
            <a:ext cx="28575" cy="59078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0" name="Shape 27"/>
          <p:cNvSpPr/>
          <p:nvPr/>
        </p:nvSpPr>
        <p:spPr>
          <a:xfrm>
            <a:off x="571500" y="3486848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Text 28"/>
          <p:cNvSpPr/>
          <p:nvPr/>
        </p:nvSpPr>
        <p:spPr>
          <a:xfrm>
            <a:off x="571500" y="3486848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4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1000125" y="3486848"/>
            <a:ext cx="75723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API Gateway</a:t>
            </a:r>
            <a:endParaRPr lang="en-US" sz="734" dirty="0"/>
          </a:p>
        </p:txBody>
      </p:sp>
      <p:sp>
        <p:nvSpPr>
          <p:cNvPr id="33" name="Text 30"/>
          <p:cNvSpPr/>
          <p:nvPr/>
        </p:nvSpPr>
        <p:spPr>
          <a:xfrm>
            <a:off x="1000125" y="3661870"/>
            <a:ext cx="757237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Express router with versioning, middleware stack (logging, validation, rate limiting, CORS), and standardized response formats</a:t>
            </a:r>
            <a:endParaRPr lang="en-US" sz="674" dirty="0"/>
          </a:p>
        </p:txBody>
      </p:sp>
      <p:sp>
        <p:nvSpPr>
          <p:cNvPr id="34" name="Shape 31"/>
          <p:cNvSpPr/>
          <p:nvPr/>
        </p:nvSpPr>
        <p:spPr>
          <a:xfrm>
            <a:off x="428625" y="4049055"/>
            <a:ext cx="8286750" cy="5907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428625" y="4049055"/>
            <a:ext cx="28575" cy="59078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6" name="Shape 33"/>
          <p:cNvSpPr/>
          <p:nvPr/>
        </p:nvSpPr>
        <p:spPr>
          <a:xfrm>
            <a:off x="571500" y="4191930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7" name="Text 34"/>
          <p:cNvSpPr/>
          <p:nvPr/>
        </p:nvSpPr>
        <p:spPr>
          <a:xfrm>
            <a:off x="571500" y="419193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5</a:t>
            </a:r>
            <a:endParaRPr lang="en-US" sz="885" dirty="0"/>
          </a:p>
        </p:txBody>
      </p:sp>
      <p:sp>
        <p:nvSpPr>
          <p:cNvPr id="38" name="Text 35"/>
          <p:cNvSpPr/>
          <p:nvPr/>
        </p:nvSpPr>
        <p:spPr>
          <a:xfrm>
            <a:off x="1000125" y="4191930"/>
            <a:ext cx="75723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Core Services</a:t>
            </a:r>
            <a:endParaRPr lang="en-US" sz="734" dirty="0"/>
          </a:p>
        </p:txBody>
      </p:sp>
      <p:sp>
        <p:nvSpPr>
          <p:cNvPr id="39" name="Text 36"/>
          <p:cNvSpPr/>
          <p:nvPr/>
        </p:nvSpPr>
        <p:spPr>
          <a:xfrm>
            <a:off x="1000125" y="4366952"/>
            <a:ext cx="757237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User, Project, and Pack services with CRUD operations and business logic scaffolding</a:t>
            </a:r>
            <a:endParaRPr lang="en-US" sz="674" dirty="0"/>
          </a:p>
        </p:txBody>
      </p:sp>
      <p:sp>
        <p:nvSpPr>
          <p:cNvPr id="40" name="Shape 37"/>
          <p:cNvSpPr/>
          <p:nvPr/>
        </p:nvSpPr>
        <p:spPr>
          <a:xfrm>
            <a:off x="428625" y="4868438"/>
            <a:ext cx="8286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28625" y="4868438"/>
            <a:ext cx="828675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2" name="Text 39"/>
          <p:cNvSpPr/>
          <p:nvPr/>
        </p:nvSpPr>
        <p:spPr>
          <a:xfrm>
            <a:off x="428625" y="5101503"/>
            <a:ext cx="42753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666666"/>
                </a:solidFill>
              </a:rPr>
              <a:t>Week 2 completion enables Week 3 core platform development with zero infrastructure blockers</a:t>
            </a:r>
            <a:endParaRPr lang="en-US" sz="634" dirty="0"/>
          </a:p>
        </p:txBody>
      </p:sp>
      <p:sp>
        <p:nvSpPr>
          <p:cNvPr id="43" name="Shape 40"/>
          <p:cNvSpPr/>
          <p:nvPr/>
        </p:nvSpPr>
        <p:spPr>
          <a:xfrm>
            <a:off x="7582895" y="5011313"/>
            <a:ext cx="1132480" cy="307181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44" name="Shape 41"/>
          <p:cNvSpPr/>
          <p:nvPr/>
        </p:nvSpPr>
        <p:spPr>
          <a:xfrm>
            <a:off x="7582895" y="5011313"/>
            <a:ext cx="21431" cy="307181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45" name="Text 42"/>
          <p:cNvSpPr/>
          <p:nvPr/>
        </p:nvSpPr>
        <p:spPr>
          <a:xfrm>
            <a:off x="7582895" y="5011313"/>
            <a:ext cx="1132480" cy="30718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✓ Ready for Phase 2</a:t>
            </a:r>
            <a:endParaRPr lang="en-US" sz="6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528637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3A7D"/>
                </a:solidFill>
              </a:rPr>
              <a:t>Week 2 Tasks: Five Backend Architecture Initiatives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1077255"/>
            <a:ext cx="5286375" cy="31860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077255"/>
            <a:ext cx="5286375" cy="439341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077255"/>
            <a:ext cx="634343" cy="439341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Task ID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1062968" y="1077255"/>
            <a:ext cx="1691646" cy="439341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Task Name</a:t>
            </a:r>
            <a:endParaRPr lang="en-US" sz="584" dirty="0"/>
          </a:p>
        </p:txBody>
      </p:sp>
      <p:sp>
        <p:nvSpPr>
          <p:cNvPr id="8" name="Text 5"/>
          <p:cNvSpPr/>
          <p:nvPr/>
        </p:nvSpPr>
        <p:spPr>
          <a:xfrm>
            <a:off x="2754613" y="1077255"/>
            <a:ext cx="634343" cy="439341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Story Points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3388956" y="1077255"/>
            <a:ext cx="1162980" cy="439341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Assignee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4551936" y="1077255"/>
            <a:ext cx="1163064" cy="439341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Due Date</a:t>
            </a:r>
            <a:endParaRPr lang="en-US" sz="584" dirty="0"/>
          </a:p>
        </p:txBody>
      </p:sp>
      <p:sp>
        <p:nvSpPr>
          <p:cNvPr id="11" name="Shape 8"/>
          <p:cNvSpPr/>
          <p:nvPr/>
        </p:nvSpPr>
        <p:spPr>
          <a:xfrm>
            <a:off x="428625" y="1516596"/>
            <a:ext cx="5286375" cy="46361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1973070"/>
            <a:ext cx="5286375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1516596"/>
            <a:ext cx="634343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PFORGE-201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1062968" y="1516596"/>
            <a:ext cx="1691646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Set Up Express Backend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2754613" y="1516596"/>
            <a:ext cx="634343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8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3388956" y="1516596"/>
            <a:ext cx="1162980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Backend Lead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4551936" y="1516596"/>
            <a:ext cx="1163064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Day 6</a:t>
            </a:r>
            <a:endParaRPr lang="en-US" sz="674" dirty="0"/>
          </a:p>
        </p:txBody>
      </p:sp>
      <p:sp>
        <p:nvSpPr>
          <p:cNvPr id="18" name="Shape 15"/>
          <p:cNvSpPr/>
          <p:nvPr/>
        </p:nvSpPr>
        <p:spPr>
          <a:xfrm>
            <a:off x="428625" y="1976642"/>
            <a:ext cx="5286375" cy="4636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2433117"/>
            <a:ext cx="5286375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0" name="Text 17"/>
          <p:cNvSpPr/>
          <p:nvPr/>
        </p:nvSpPr>
        <p:spPr>
          <a:xfrm>
            <a:off x="428625" y="1976642"/>
            <a:ext cx="634343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PFORGE-202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1062968" y="1976642"/>
            <a:ext cx="1691646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Create Database Schema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2754613" y="1976642"/>
            <a:ext cx="634343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13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3388956" y="1976642"/>
            <a:ext cx="1162980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Backend Lead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4551936" y="1976642"/>
            <a:ext cx="1163064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Day 7</a:t>
            </a:r>
            <a:endParaRPr lang="en-US" sz="674" dirty="0"/>
          </a:p>
        </p:txBody>
      </p:sp>
      <p:sp>
        <p:nvSpPr>
          <p:cNvPr id="25" name="Shape 22"/>
          <p:cNvSpPr/>
          <p:nvPr/>
        </p:nvSpPr>
        <p:spPr>
          <a:xfrm>
            <a:off x="428625" y="2436688"/>
            <a:ext cx="5286375" cy="46361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Shape 23"/>
          <p:cNvSpPr/>
          <p:nvPr/>
        </p:nvSpPr>
        <p:spPr>
          <a:xfrm>
            <a:off x="428625" y="2893163"/>
            <a:ext cx="5286375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7" name="Text 24"/>
          <p:cNvSpPr/>
          <p:nvPr/>
        </p:nvSpPr>
        <p:spPr>
          <a:xfrm>
            <a:off x="428625" y="2436688"/>
            <a:ext cx="634343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PFORGE-203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1062968" y="2436688"/>
            <a:ext cx="1691646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Implement JWT &amp; OAuth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2754613" y="2436688"/>
            <a:ext cx="634343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10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3388956" y="2436688"/>
            <a:ext cx="1162980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Backend Lead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4551936" y="2436688"/>
            <a:ext cx="1163064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Day 8</a:t>
            </a:r>
            <a:endParaRPr lang="en-US" sz="674" dirty="0"/>
          </a:p>
        </p:txBody>
      </p:sp>
      <p:sp>
        <p:nvSpPr>
          <p:cNvPr id="32" name="Shape 29"/>
          <p:cNvSpPr/>
          <p:nvPr/>
        </p:nvSpPr>
        <p:spPr>
          <a:xfrm>
            <a:off x="428625" y="2896735"/>
            <a:ext cx="5286375" cy="4636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0"/>
          <p:cNvSpPr/>
          <p:nvPr/>
        </p:nvSpPr>
        <p:spPr>
          <a:xfrm>
            <a:off x="428625" y="3353209"/>
            <a:ext cx="5286375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4" name="Text 31"/>
          <p:cNvSpPr/>
          <p:nvPr/>
        </p:nvSpPr>
        <p:spPr>
          <a:xfrm>
            <a:off x="428625" y="2896735"/>
            <a:ext cx="634343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PFORGE-204</a:t>
            </a:r>
            <a:endParaRPr lang="en-US" sz="634" dirty="0"/>
          </a:p>
        </p:txBody>
      </p:sp>
      <p:sp>
        <p:nvSpPr>
          <p:cNvPr id="35" name="Text 32"/>
          <p:cNvSpPr/>
          <p:nvPr/>
        </p:nvSpPr>
        <p:spPr>
          <a:xfrm>
            <a:off x="1062968" y="2896735"/>
            <a:ext cx="1691646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Create API Gateway &amp; Middleware</a:t>
            </a:r>
            <a:endParaRPr lang="en-US" sz="634" dirty="0"/>
          </a:p>
        </p:txBody>
      </p:sp>
      <p:sp>
        <p:nvSpPr>
          <p:cNvPr id="36" name="Text 33"/>
          <p:cNvSpPr/>
          <p:nvPr/>
        </p:nvSpPr>
        <p:spPr>
          <a:xfrm>
            <a:off x="2754613" y="2896735"/>
            <a:ext cx="634343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8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3388956" y="2896735"/>
            <a:ext cx="1162980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Backend Lead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4551936" y="2896735"/>
            <a:ext cx="1163064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Day 9</a:t>
            </a:r>
            <a:endParaRPr lang="en-US" sz="674" dirty="0"/>
          </a:p>
        </p:txBody>
      </p:sp>
      <p:sp>
        <p:nvSpPr>
          <p:cNvPr id="39" name="Shape 36"/>
          <p:cNvSpPr/>
          <p:nvPr/>
        </p:nvSpPr>
        <p:spPr>
          <a:xfrm>
            <a:off x="428625" y="3356781"/>
            <a:ext cx="5286375" cy="46361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0" name="Shape 37"/>
          <p:cNvSpPr/>
          <p:nvPr/>
        </p:nvSpPr>
        <p:spPr>
          <a:xfrm>
            <a:off x="428625" y="3813256"/>
            <a:ext cx="5286375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1" name="Text 38"/>
          <p:cNvSpPr/>
          <p:nvPr/>
        </p:nvSpPr>
        <p:spPr>
          <a:xfrm>
            <a:off x="428625" y="3356781"/>
            <a:ext cx="634343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PFORGE-205</a:t>
            </a:r>
            <a:endParaRPr lang="en-US" sz="634" dirty="0"/>
          </a:p>
        </p:txBody>
      </p:sp>
      <p:sp>
        <p:nvSpPr>
          <p:cNvPr id="42" name="Text 39"/>
          <p:cNvSpPr/>
          <p:nvPr/>
        </p:nvSpPr>
        <p:spPr>
          <a:xfrm>
            <a:off x="1062968" y="3356781"/>
            <a:ext cx="1691646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Create Core Services</a:t>
            </a:r>
            <a:endParaRPr lang="en-US" sz="634" dirty="0"/>
          </a:p>
        </p:txBody>
      </p:sp>
      <p:sp>
        <p:nvSpPr>
          <p:cNvPr id="43" name="Text 40"/>
          <p:cNvSpPr/>
          <p:nvPr/>
        </p:nvSpPr>
        <p:spPr>
          <a:xfrm>
            <a:off x="2754613" y="3356781"/>
            <a:ext cx="634343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8</a:t>
            </a:r>
            <a:endParaRPr lang="en-US" sz="634" dirty="0"/>
          </a:p>
        </p:txBody>
      </p:sp>
      <p:sp>
        <p:nvSpPr>
          <p:cNvPr id="44" name="Text 41"/>
          <p:cNvSpPr/>
          <p:nvPr/>
        </p:nvSpPr>
        <p:spPr>
          <a:xfrm>
            <a:off x="3388956" y="3356781"/>
            <a:ext cx="1162980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Backend Lead</a:t>
            </a:r>
            <a:endParaRPr lang="en-US" sz="674" dirty="0"/>
          </a:p>
        </p:txBody>
      </p:sp>
      <p:sp>
        <p:nvSpPr>
          <p:cNvPr id="45" name="Text 42"/>
          <p:cNvSpPr/>
          <p:nvPr/>
        </p:nvSpPr>
        <p:spPr>
          <a:xfrm>
            <a:off x="4551936" y="3356781"/>
            <a:ext cx="1163064" cy="460046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Day 10</a:t>
            </a:r>
            <a:endParaRPr lang="en-US" sz="674" dirty="0"/>
          </a:p>
        </p:txBody>
      </p:sp>
      <p:sp>
        <p:nvSpPr>
          <p:cNvPr id="46" name="Text 43"/>
          <p:cNvSpPr/>
          <p:nvPr/>
        </p:nvSpPr>
        <p:spPr>
          <a:xfrm>
            <a:off x="428625" y="3938271"/>
            <a:ext cx="55285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Week 2 Total:</a:t>
            </a:r>
            <a:endParaRPr lang="en-US" sz="584" dirty="0"/>
          </a:p>
        </p:txBody>
      </p:sp>
      <p:sp>
        <p:nvSpPr>
          <p:cNvPr id="47" name="Text 44"/>
          <p:cNvSpPr/>
          <p:nvPr/>
        </p:nvSpPr>
        <p:spPr>
          <a:xfrm>
            <a:off x="1038634" y="3938271"/>
            <a:ext cx="142021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47 story points | 2 people | Day 10</a:t>
            </a:r>
            <a:endParaRPr lang="en-US" sz="584" dirty="0"/>
          </a:p>
        </p:txBody>
      </p:sp>
      <p:sp>
        <p:nvSpPr>
          <p:cNvPr id="48" name="Text 45"/>
          <p:cNvSpPr/>
          <p:nvPr/>
        </p:nvSpPr>
        <p:spPr>
          <a:xfrm>
            <a:off x="428625" y="4111507"/>
            <a:ext cx="78595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Key Dependencies:</a:t>
            </a:r>
            <a:endParaRPr lang="en-US" sz="584" dirty="0"/>
          </a:p>
        </p:txBody>
      </p:sp>
      <p:sp>
        <p:nvSpPr>
          <p:cNvPr id="49" name="Text 46"/>
          <p:cNvSpPr/>
          <p:nvPr/>
        </p:nvSpPr>
        <p:spPr>
          <a:xfrm>
            <a:off x="1271727" y="4111507"/>
            <a:ext cx="164945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Week 1 infrastructure must be complete</a:t>
            </a:r>
            <a:endParaRPr lang="en-US" sz="584" dirty="0"/>
          </a:p>
        </p:txBody>
      </p:sp>
      <p:sp>
        <p:nvSpPr>
          <p:cNvPr id="50" name="Shape 47"/>
          <p:cNvSpPr/>
          <p:nvPr/>
        </p:nvSpPr>
        <p:spPr>
          <a:xfrm>
            <a:off x="6000750" y="357188"/>
            <a:ext cx="2714625" cy="780455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51" name="Shape 48"/>
          <p:cNvSpPr/>
          <p:nvPr/>
        </p:nvSpPr>
        <p:spPr>
          <a:xfrm>
            <a:off x="6000750" y="357188"/>
            <a:ext cx="21431" cy="780455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52" name="Text 49"/>
          <p:cNvSpPr/>
          <p:nvPr/>
        </p:nvSpPr>
        <p:spPr>
          <a:xfrm>
            <a:off x="6115050" y="471488"/>
            <a:ext cx="24860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Week 2 Effort</a:t>
            </a:r>
            <a:endParaRPr lang="en-US" sz="634" dirty="0"/>
          </a:p>
        </p:txBody>
      </p:sp>
      <p:sp>
        <p:nvSpPr>
          <p:cNvPr id="53" name="Text 50"/>
          <p:cNvSpPr/>
          <p:nvPr/>
        </p:nvSpPr>
        <p:spPr>
          <a:xfrm>
            <a:off x="6115050" y="655439"/>
            <a:ext cx="24860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6B35"/>
                </a:solidFill>
              </a:rPr>
              <a:t>47 SP</a:t>
            </a:r>
            <a:endParaRPr lang="en-US" sz="987" dirty="0"/>
          </a:p>
        </p:txBody>
      </p:sp>
      <p:sp>
        <p:nvSpPr>
          <p:cNvPr id="54" name="Text 51"/>
          <p:cNvSpPr/>
          <p:nvPr/>
        </p:nvSpPr>
        <p:spPr>
          <a:xfrm>
            <a:off x="6115050" y="907256"/>
            <a:ext cx="24860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story points</a:t>
            </a:r>
            <a:endParaRPr lang="en-US" sz="621" dirty="0"/>
          </a:p>
        </p:txBody>
      </p:sp>
      <p:sp>
        <p:nvSpPr>
          <p:cNvPr id="55" name="Shape 52"/>
          <p:cNvSpPr/>
          <p:nvPr/>
        </p:nvSpPr>
        <p:spPr>
          <a:xfrm>
            <a:off x="6143625" y="1423392"/>
            <a:ext cx="2428875" cy="242887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25" y="1423392"/>
            <a:ext cx="2428875" cy="2428875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6670281" y="4080867"/>
            <a:ext cx="13755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Backend Implementation Process</a:t>
            </a:r>
            <a:endParaRPr lang="en-US" sz="5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F3A7D"/>
                </a:solidFill>
              </a:rPr>
              <a:t>Team Structure: Focused Expertise for Foundation Phase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428625" y="992981"/>
            <a:ext cx="2647931" cy="33754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992981"/>
            <a:ext cx="2647931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657225" y="1221581"/>
            <a:ext cx="21907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Engineering Lead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657225" y="1453753"/>
            <a:ext cx="219073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6B35"/>
                </a:solidFill>
              </a:rPr>
              <a:t>50%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657225" y="1687711"/>
            <a:ext cx="21907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Allocation</a:t>
            </a:r>
            <a:endParaRPr lang="en-US" sz="534" dirty="0"/>
          </a:p>
        </p:txBody>
      </p:sp>
      <p:sp>
        <p:nvSpPr>
          <p:cNvPr id="9" name="Text 6"/>
          <p:cNvSpPr/>
          <p:nvPr/>
        </p:nvSpPr>
        <p:spPr>
          <a:xfrm>
            <a:off x="657225" y="1937742"/>
            <a:ext cx="21907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Key Responsibilities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657225" y="2139553"/>
            <a:ext cx="2190731" cy="13001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GitHub repository setup and configuration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657225" y="2326714"/>
            <a:ext cx="2190731" cy="13001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Development environment documentation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657225" y="2513874"/>
            <a:ext cx="2190731" cy="13001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Architecture review and decisions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657225" y="2701035"/>
            <a:ext cx="2190731" cy="13001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Technical leadership and mentoring</a:t>
            </a:r>
            <a:endParaRPr lang="en-US" sz="674" dirty="0"/>
          </a:p>
        </p:txBody>
      </p:sp>
      <p:sp>
        <p:nvSpPr>
          <p:cNvPr id="14" name="Shape 11"/>
          <p:cNvSpPr/>
          <p:nvPr/>
        </p:nvSpPr>
        <p:spPr>
          <a:xfrm>
            <a:off x="3248006" y="992981"/>
            <a:ext cx="2647959" cy="33754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3248006" y="992981"/>
            <a:ext cx="2647959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657225" y="2139553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•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657225" y="2326714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•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657225" y="2513874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•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657225" y="2701035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•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3476606" y="1221581"/>
            <a:ext cx="21907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DevOps Engineer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3476606" y="1453753"/>
            <a:ext cx="219075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6B35"/>
                </a:solidFill>
              </a:rPr>
              <a:t>100%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3476606" y="1687711"/>
            <a:ext cx="219075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Allocation</a:t>
            </a:r>
            <a:endParaRPr lang="en-US" sz="534" dirty="0"/>
          </a:p>
        </p:txBody>
      </p:sp>
      <p:sp>
        <p:nvSpPr>
          <p:cNvPr id="23" name="Text 20"/>
          <p:cNvSpPr/>
          <p:nvPr/>
        </p:nvSpPr>
        <p:spPr>
          <a:xfrm>
            <a:off x="3476606" y="1937742"/>
            <a:ext cx="219075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Key Responsibilities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3476606" y="2139553"/>
            <a:ext cx="2190759" cy="13001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AWS infrastructure setup and configuration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3476606" y="2326714"/>
            <a:ext cx="2190759" cy="13001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CI/CD pipeline implementation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3476606" y="2513874"/>
            <a:ext cx="2190759" cy="13001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Monitoring and logging configuration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3476606" y="2701035"/>
            <a:ext cx="2190759" cy="13001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Infrastructure documentation and runbooks</a:t>
            </a:r>
            <a:endParaRPr lang="en-US" sz="674" dirty="0"/>
          </a:p>
        </p:txBody>
      </p:sp>
      <p:sp>
        <p:nvSpPr>
          <p:cNvPr id="28" name="Shape 25"/>
          <p:cNvSpPr/>
          <p:nvPr/>
        </p:nvSpPr>
        <p:spPr>
          <a:xfrm>
            <a:off x="6067416" y="992981"/>
            <a:ext cx="2647931" cy="33754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6067416" y="992981"/>
            <a:ext cx="2647931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0" name="Text 27"/>
          <p:cNvSpPr/>
          <p:nvPr/>
        </p:nvSpPr>
        <p:spPr>
          <a:xfrm>
            <a:off x="3476606" y="2139553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•</a:t>
            </a:r>
            <a:endParaRPr lang="en-US" sz="634" dirty="0"/>
          </a:p>
        </p:txBody>
      </p:sp>
      <p:sp>
        <p:nvSpPr>
          <p:cNvPr id="31" name="Text 28"/>
          <p:cNvSpPr/>
          <p:nvPr/>
        </p:nvSpPr>
        <p:spPr>
          <a:xfrm>
            <a:off x="3476606" y="2326714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•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3476606" y="2513874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•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3476606" y="2701035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•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6296016" y="1221581"/>
            <a:ext cx="21907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Backend Lead</a:t>
            </a:r>
            <a:endParaRPr lang="en-US" sz="885" dirty="0"/>
          </a:p>
        </p:txBody>
      </p:sp>
      <p:sp>
        <p:nvSpPr>
          <p:cNvPr id="35" name="Text 32"/>
          <p:cNvSpPr/>
          <p:nvPr/>
        </p:nvSpPr>
        <p:spPr>
          <a:xfrm>
            <a:off x="6296016" y="1453753"/>
            <a:ext cx="219073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6B35"/>
                </a:solidFill>
              </a:rPr>
              <a:t>100%</a:t>
            </a:r>
            <a:endParaRPr lang="en-US" sz="1193" dirty="0"/>
          </a:p>
        </p:txBody>
      </p:sp>
      <p:sp>
        <p:nvSpPr>
          <p:cNvPr id="36" name="Text 33"/>
          <p:cNvSpPr/>
          <p:nvPr/>
        </p:nvSpPr>
        <p:spPr>
          <a:xfrm>
            <a:off x="6296016" y="1687711"/>
            <a:ext cx="21907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Allocation (Week 2)</a:t>
            </a:r>
            <a:endParaRPr lang="en-US" sz="534" dirty="0"/>
          </a:p>
        </p:txBody>
      </p:sp>
      <p:sp>
        <p:nvSpPr>
          <p:cNvPr id="37" name="Text 34"/>
          <p:cNvSpPr/>
          <p:nvPr/>
        </p:nvSpPr>
        <p:spPr>
          <a:xfrm>
            <a:off x="6296016" y="1937742"/>
            <a:ext cx="21907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Key Responsibilities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6296016" y="2139553"/>
            <a:ext cx="2190731" cy="13001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Backend architecture and design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6296016" y="2326714"/>
            <a:ext cx="2190731" cy="13001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Database schema design and implementation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6296016" y="2513874"/>
            <a:ext cx="2190731" cy="13001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Authentication system implementation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6296016" y="2701035"/>
            <a:ext cx="2190731" cy="130011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API gateway and core services setup</a:t>
            </a:r>
            <a:endParaRPr lang="en-US" sz="674" dirty="0"/>
          </a:p>
        </p:txBody>
      </p:sp>
      <p:sp>
        <p:nvSpPr>
          <p:cNvPr id="42" name="Shape 39"/>
          <p:cNvSpPr/>
          <p:nvPr/>
        </p:nvSpPr>
        <p:spPr>
          <a:xfrm>
            <a:off x="428625" y="4597003"/>
            <a:ext cx="8286750" cy="54649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428625" y="4597003"/>
            <a:ext cx="828675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4" name="Text 41"/>
          <p:cNvSpPr/>
          <p:nvPr/>
        </p:nvSpPr>
        <p:spPr>
          <a:xfrm>
            <a:off x="6296016" y="2139553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•</a:t>
            </a:r>
            <a:endParaRPr lang="en-US" sz="634" dirty="0"/>
          </a:p>
        </p:txBody>
      </p:sp>
      <p:sp>
        <p:nvSpPr>
          <p:cNvPr id="45" name="Text 42"/>
          <p:cNvSpPr/>
          <p:nvPr/>
        </p:nvSpPr>
        <p:spPr>
          <a:xfrm>
            <a:off x="6296016" y="2326714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•</a:t>
            </a:r>
            <a:endParaRPr lang="en-US" sz="634" dirty="0"/>
          </a:p>
        </p:txBody>
      </p:sp>
      <p:sp>
        <p:nvSpPr>
          <p:cNvPr id="46" name="Text 43"/>
          <p:cNvSpPr/>
          <p:nvPr/>
        </p:nvSpPr>
        <p:spPr>
          <a:xfrm>
            <a:off x="6296016" y="2513874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•</a:t>
            </a:r>
            <a:endParaRPr lang="en-US" sz="634" dirty="0"/>
          </a:p>
        </p:txBody>
      </p:sp>
      <p:sp>
        <p:nvSpPr>
          <p:cNvPr id="47" name="Text 44"/>
          <p:cNvSpPr/>
          <p:nvPr/>
        </p:nvSpPr>
        <p:spPr>
          <a:xfrm>
            <a:off x="6296016" y="2701035"/>
            <a:ext cx="3490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•</a:t>
            </a:r>
            <a:endParaRPr lang="en-US" sz="634" dirty="0"/>
          </a:p>
        </p:txBody>
      </p:sp>
      <p:sp>
        <p:nvSpPr>
          <p:cNvPr id="48" name="Text 45"/>
          <p:cNvSpPr/>
          <p:nvPr/>
        </p:nvSpPr>
        <p:spPr>
          <a:xfrm>
            <a:off x="428625" y="4775597"/>
            <a:ext cx="26479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Total FTE</a:t>
            </a:r>
            <a:endParaRPr lang="en-US" sz="584" dirty="0"/>
          </a:p>
        </p:txBody>
      </p:sp>
      <p:sp>
        <p:nvSpPr>
          <p:cNvPr id="49" name="Text 46"/>
          <p:cNvSpPr/>
          <p:nvPr/>
        </p:nvSpPr>
        <p:spPr>
          <a:xfrm>
            <a:off x="428625" y="4948833"/>
            <a:ext cx="26479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3A7D"/>
                </a:solidFill>
              </a:rPr>
              <a:t>3.0</a:t>
            </a:r>
            <a:endParaRPr lang="en-US" sz="987" dirty="0"/>
          </a:p>
        </p:txBody>
      </p:sp>
      <p:sp>
        <p:nvSpPr>
          <p:cNvPr id="50" name="Text 47"/>
          <p:cNvSpPr/>
          <p:nvPr/>
        </p:nvSpPr>
        <p:spPr>
          <a:xfrm>
            <a:off x="3248006" y="4775597"/>
            <a:ext cx="264795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FTE-Days</a:t>
            </a:r>
            <a:endParaRPr lang="en-US" sz="584" dirty="0"/>
          </a:p>
        </p:txBody>
      </p:sp>
      <p:sp>
        <p:nvSpPr>
          <p:cNvPr id="51" name="Text 48"/>
          <p:cNvSpPr/>
          <p:nvPr/>
        </p:nvSpPr>
        <p:spPr>
          <a:xfrm>
            <a:off x="3248006" y="4948833"/>
            <a:ext cx="26479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3A7D"/>
                </a:solidFill>
              </a:rPr>
              <a:t>60</a:t>
            </a:r>
            <a:endParaRPr lang="en-US" sz="987" dirty="0"/>
          </a:p>
        </p:txBody>
      </p:sp>
      <p:sp>
        <p:nvSpPr>
          <p:cNvPr id="52" name="Text 49"/>
          <p:cNvSpPr/>
          <p:nvPr/>
        </p:nvSpPr>
        <p:spPr>
          <a:xfrm>
            <a:off x="6067416" y="4775597"/>
            <a:ext cx="264793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Utilization Rate</a:t>
            </a:r>
            <a:endParaRPr lang="en-US" sz="584" dirty="0"/>
          </a:p>
        </p:txBody>
      </p:sp>
      <p:sp>
        <p:nvSpPr>
          <p:cNvPr id="53" name="Text 50"/>
          <p:cNvSpPr/>
          <p:nvPr/>
        </p:nvSpPr>
        <p:spPr>
          <a:xfrm>
            <a:off x="6067416" y="4948833"/>
            <a:ext cx="26479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6B35"/>
                </a:solidFill>
              </a:rPr>
              <a:t>1.57 SP/FTE-day</a:t>
            </a:r>
            <a:endParaRPr lang="en-US" sz="98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970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57976" y="1576090"/>
            <a:ext cx="127036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F3A7D"/>
                </a:solidFill>
              </a:rPr>
              <a:t>Total Budget</a:t>
            </a:r>
            <a:endParaRPr lang="en-US" sz="1397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31" y="2077938"/>
            <a:ext cx="2000250" cy="2000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86313" y="357188"/>
            <a:ext cx="392906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F3A7D"/>
                </a:solidFill>
              </a:rPr>
              <a:t>Budget Breakdown: $40,000</a:t>
            </a:r>
            <a:endParaRPr lang="en-US" sz="1602" dirty="0"/>
          </a:p>
        </p:txBody>
      </p:sp>
      <p:sp>
        <p:nvSpPr>
          <p:cNvPr id="6" name="Shape 2"/>
          <p:cNvSpPr/>
          <p:nvPr/>
        </p:nvSpPr>
        <p:spPr>
          <a:xfrm>
            <a:off x="4786313" y="898327"/>
            <a:ext cx="3929063" cy="13751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4786313" y="898327"/>
            <a:ext cx="28575" cy="13751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4"/>
          <p:cNvSpPr/>
          <p:nvPr/>
        </p:nvSpPr>
        <p:spPr>
          <a:xfrm>
            <a:off x="4929188" y="1055489"/>
            <a:ext cx="85116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Personnel Costs</a:t>
            </a:r>
            <a:endParaRPr lang="en-US" sz="734" dirty="0"/>
          </a:p>
        </p:txBody>
      </p:sp>
      <p:sp>
        <p:nvSpPr>
          <p:cNvPr id="9" name="Text 5"/>
          <p:cNvSpPr/>
          <p:nvPr/>
        </p:nvSpPr>
        <p:spPr>
          <a:xfrm>
            <a:off x="8309521" y="1041202"/>
            <a:ext cx="2629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6B35"/>
                </a:solidFill>
              </a:rPr>
              <a:t>80%</a:t>
            </a:r>
            <a:endParaRPr lang="en-US" sz="885" dirty="0"/>
          </a:p>
        </p:txBody>
      </p:sp>
      <p:sp>
        <p:nvSpPr>
          <p:cNvPr id="10" name="Shape 6"/>
          <p:cNvSpPr/>
          <p:nvPr/>
        </p:nvSpPr>
        <p:spPr>
          <a:xfrm>
            <a:off x="4929188" y="1301948"/>
            <a:ext cx="3643313" cy="5715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1" name="Text 7"/>
          <p:cNvSpPr/>
          <p:nvPr/>
        </p:nvSpPr>
        <p:spPr>
          <a:xfrm>
            <a:off x="4929188" y="1444823"/>
            <a:ext cx="97076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44444"/>
                </a:solidFill>
              </a:rPr>
              <a:t>Engineering Lead (50%):</a:t>
            </a:r>
            <a:endParaRPr lang="en-US" sz="621" dirty="0"/>
          </a:p>
        </p:txBody>
      </p:sp>
      <p:sp>
        <p:nvSpPr>
          <p:cNvPr id="12" name="Text 8"/>
          <p:cNvSpPr/>
          <p:nvPr/>
        </p:nvSpPr>
        <p:spPr>
          <a:xfrm>
            <a:off x="8303382" y="1444823"/>
            <a:ext cx="2691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$7,500</a:t>
            </a:r>
            <a:endParaRPr lang="en-US" sz="584" dirty="0"/>
          </a:p>
        </p:txBody>
      </p:sp>
      <p:sp>
        <p:nvSpPr>
          <p:cNvPr id="13" name="Text 9"/>
          <p:cNvSpPr/>
          <p:nvPr/>
        </p:nvSpPr>
        <p:spPr>
          <a:xfrm>
            <a:off x="4929188" y="1603772"/>
            <a:ext cx="10113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44444"/>
                </a:solidFill>
              </a:rPr>
              <a:t>DevOps Engineer (100%):</a:t>
            </a:r>
            <a:endParaRPr lang="en-US" sz="621" dirty="0"/>
          </a:p>
        </p:txBody>
      </p:sp>
      <p:sp>
        <p:nvSpPr>
          <p:cNvPr id="14" name="Text 10"/>
          <p:cNvSpPr/>
          <p:nvPr/>
        </p:nvSpPr>
        <p:spPr>
          <a:xfrm>
            <a:off x="8254352" y="1603772"/>
            <a:ext cx="31814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$12,000</a:t>
            </a:r>
            <a:endParaRPr lang="en-US" sz="584" dirty="0"/>
          </a:p>
        </p:txBody>
      </p:sp>
      <p:sp>
        <p:nvSpPr>
          <p:cNvPr id="15" name="Text 11"/>
          <p:cNvSpPr/>
          <p:nvPr/>
        </p:nvSpPr>
        <p:spPr>
          <a:xfrm>
            <a:off x="4929188" y="1762720"/>
            <a:ext cx="121329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44444"/>
                </a:solidFill>
              </a:rPr>
              <a:t>Backend Lead (100%, Week 2):</a:t>
            </a:r>
            <a:endParaRPr lang="en-US" sz="621" dirty="0"/>
          </a:p>
        </p:txBody>
      </p:sp>
      <p:sp>
        <p:nvSpPr>
          <p:cNvPr id="16" name="Text 12"/>
          <p:cNvSpPr/>
          <p:nvPr/>
        </p:nvSpPr>
        <p:spPr>
          <a:xfrm>
            <a:off x="8254352" y="1762720"/>
            <a:ext cx="31814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$12,500</a:t>
            </a:r>
            <a:endParaRPr lang="en-US" sz="584" dirty="0"/>
          </a:p>
        </p:txBody>
      </p:sp>
      <p:sp>
        <p:nvSpPr>
          <p:cNvPr id="17" name="Text 13"/>
          <p:cNvSpPr/>
          <p:nvPr/>
        </p:nvSpPr>
        <p:spPr>
          <a:xfrm>
            <a:off x="4929188" y="2014538"/>
            <a:ext cx="38766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44444"/>
                </a:solidFill>
              </a:rPr>
              <a:t>Subtotal:</a:t>
            </a:r>
            <a:endParaRPr lang="en-US" sz="584" dirty="0"/>
          </a:p>
        </p:txBody>
      </p:sp>
      <p:sp>
        <p:nvSpPr>
          <p:cNvPr id="18" name="Text 14"/>
          <p:cNvSpPr/>
          <p:nvPr/>
        </p:nvSpPr>
        <p:spPr>
          <a:xfrm>
            <a:off x="8245366" y="2014538"/>
            <a:ext cx="3271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$32,000</a:t>
            </a:r>
            <a:endParaRPr lang="en-US" sz="584" dirty="0"/>
          </a:p>
        </p:txBody>
      </p:sp>
      <p:sp>
        <p:nvSpPr>
          <p:cNvPr id="19" name="Shape 15"/>
          <p:cNvSpPr/>
          <p:nvPr/>
        </p:nvSpPr>
        <p:spPr>
          <a:xfrm>
            <a:off x="4786313" y="2444948"/>
            <a:ext cx="3929063" cy="9644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4786313" y="2444948"/>
            <a:ext cx="28575" cy="9644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7"/>
          <p:cNvSpPr/>
          <p:nvPr/>
        </p:nvSpPr>
        <p:spPr>
          <a:xfrm>
            <a:off x="4929188" y="2602111"/>
            <a:ext cx="13378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Infrastructure &amp; Services</a:t>
            </a:r>
            <a:endParaRPr lang="en-US" sz="734" dirty="0"/>
          </a:p>
        </p:txBody>
      </p:sp>
      <p:sp>
        <p:nvSpPr>
          <p:cNvPr id="22" name="Text 18"/>
          <p:cNvSpPr/>
          <p:nvPr/>
        </p:nvSpPr>
        <p:spPr>
          <a:xfrm>
            <a:off x="8199323" y="2587823"/>
            <a:ext cx="37317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6B35"/>
                </a:solidFill>
              </a:rPr>
              <a:t>12.5%</a:t>
            </a:r>
            <a:endParaRPr lang="en-US" sz="885" dirty="0"/>
          </a:p>
        </p:txBody>
      </p:sp>
      <p:sp>
        <p:nvSpPr>
          <p:cNvPr id="23" name="Shape 19"/>
          <p:cNvSpPr/>
          <p:nvPr/>
        </p:nvSpPr>
        <p:spPr>
          <a:xfrm>
            <a:off x="4929188" y="2848570"/>
            <a:ext cx="3643313" cy="5715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4" name="Text 20"/>
          <p:cNvSpPr/>
          <p:nvPr/>
        </p:nvSpPr>
        <p:spPr>
          <a:xfrm>
            <a:off x="4929188" y="2991445"/>
            <a:ext cx="10056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44444"/>
                </a:solidFill>
              </a:rPr>
              <a:t>AWS setup &amp; initial costs:</a:t>
            </a:r>
            <a:endParaRPr lang="en-US" sz="621" dirty="0"/>
          </a:p>
        </p:txBody>
      </p:sp>
      <p:sp>
        <p:nvSpPr>
          <p:cNvPr id="25" name="Text 21"/>
          <p:cNvSpPr/>
          <p:nvPr/>
        </p:nvSpPr>
        <p:spPr>
          <a:xfrm>
            <a:off x="8303382" y="2991445"/>
            <a:ext cx="2691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$3,000</a:t>
            </a:r>
            <a:endParaRPr lang="en-US" sz="584" dirty="0"/>
          </a:p>
        </p:txBody>
      </p:sp>
      <p:sp>
        <p:nvSpPr>
          <p:cNvPr id="26" name="Text 22"/>
          <p:cNvSpPr/>
          <p:nvPr/>
        </p:nvSpPr>
        <p:spPr>
          <a:xfrm>
            <a:off x="4929188" y="3150394"/>
            <a:ext cx="11353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44444"/>
                </a:solidFill>
              </a:rPr>
              <a:t>Tools &amp; monitoring services:</a:t>
            </a:r>
            <a:endParaRPr lang="en-US" sz="621" dirty="0"/>
          </a:p>
        </p:txBody>
      </p:sp>
      <p:sp>
        <p:nvSpPr>
          <p:cNvPr id="27" name="Text 23"/>
          <p:cNvSpPr/>
          <p:nvPr/>
        </p:nvSpPr>
        <p:spPr>
          <a:xfrm>
            <a:off x="8303382" y="3150394"/>
            <a:ext cx="2691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$2,000</a:t>
            </a:r>
            <a:endParaRPr lang="en-US" sz="584" dirty="0"/>
          </a:p>
        </p:txBody>
      </p:sp>
      <p:sp>
        <p:nvSpPr>
          <p:cNvPr id="28" name="Shape 24"/>
          <p:cNvSpPr/>
          <p:nvPr/>
        </p:nvSpPr>
        <p:spPr>
          <a:xfrm>
            <a:off x="4786313" y="3580805"/>
            <a:ext cx="3929063" cy="80545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5"/>
          <p:cNvSpPr/>
          <p:nvPr/>
        </p:nvSpPr>
        <p:spPr>
          <a:xfrm>
            <a:off x="4786313" y="3580805"/>
            <a:ext cx="28575" cy="80545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0" name="Text 26"/>
          <p:cNvSpPr/>
          <p:nvPr/>
        </p:nvSpPr>
        <p:spPr>
          <a:xfrm>
            <a:off x="4929188" y="3737967"/>
            <a:ext cx="67221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Contingency</a:t>
            </a:r>
            <a:endParaRPr lang="en-US" sz="734" dirty="0"/>
          </a:p>
        </p:txBody>
      </p:sp>
      <p:sp>
        <p:nvSpPr>
          <p:cNvPr id="31" name="Text 27"/>
          <p:cNvSpPr/>
          <p:nvPr/>
        </p:nvSpPr>
        <p:spPr>
          <a:xfrm>
            <a:off x="8272881" y="3723680"/>
            <a:ext cx="2996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6B35"/>
                </a:solidFill>
              </a:rPr>
              <a:t>7.5%</a:t>
            </a:r>
            <a:endParaRPr lang="en-US" sz="885" dirty="0"/>
          </a:p>
        </p:txBody>
      </p:sp>
      <p:sp>
        <p:nvSpPr>
          <p:cNvPr id="32" name="Shape 28"/>
          <p:cNvSpPr/>
          <p:nvPr/>
        </p:nvSpPr>
        <p:spPr>
          <a:xfrm>
            <a:off x="4929188" y="3984427"/>
            <a:ext cx="3643313" cy="5715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3" name="Text 29"/>
          <p:cNvSpPr/>
          <p:nvPr/>
        </p:nvSpPr>
        <p:spPr>
          <a:xfrm>
            <a:off x="4929188" y="4127302"/>
            <a:ext cx="113630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44444"/>
                </a:solidFill>
              </a:rPr>
              <a:t>Buffer for unexpected costs:</a:t>
            </a:r>
            <a:endParaRPr lang="en-US" sz="621" dirty="0"/>
          </a:p>
        </p:txBody>
      </p:sp>
      <p:sp>
        <p:nvSpPr>
          <p:cNvPr id="34" name="Text 30"/>
          <p:cNvSpPr/>
          <p:nvPr/>
        </p:nvSpPr>
        <p:spPr>
          <a:xfrm>
            <a:off x="8303382" y="4127302"/>
            <a:ext cx="2691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$3,000</a:t>
            </a:r>
            <a:endParaRPr lang="en-US" sz="584" dirty="0"/>
          </a:p>
        </p:txBody>
      </p:sp>
      <p:sp>
        <p:nvSpPr>
          <p:cNvPr id="35" name="Shape 31"/>
          <p:cNvSpPr/>
          <p:nvPr/>
        </p:nvSpPr>
        <p:spPr>
          <a:xfrm>
            <a:off x="4786313" y="4614863"/>
            <a:ext cx="3929063" cy="682228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36" name="Shape 32"/>
          <p:cNvSpPr/>
          <p:nvPr/>
        </p:nvSpPr>
        <p:spPr>
          <a:xfrm>
            <a:off x="4786313" y="4614863"/>
            <a:ext cx="21431" cy="682228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37" name="Text 33"/>
          <p:cNvSpPr/>
          <p:nvPr/>
        </p:nvSpPr>
        <p:spPr>
          <a:xfrm>
            <a:off x="4929188" y="4772025"/>
            <a:ext cx="90817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Cost per Story Point:</a:t>
            </a:r>
            <a:endParaRPr lang="en-US" sz="634" dirty="0"/>
          </a:p>
        </p:txBody>
      </p:sp>
      <p:sp>
        <p:nvSpPr>
          <p:cNvPr id="38" name="Text 34"/>
          <p:cNvSpPr/>
          <p:nvPr/>
        </p:nvSpPr>
        <p:spPr>
          <a:xfrm>
            <a:off x="8310972" y="4757738"/>
            <a:ext cx="2615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$426</a:t>
            </a:r>
            <a:endParaRPr lang="en-US" sz="784" dirty="0"/>
          </a:p>
        </p:txBody>
      </p:sp>
      <p:sp>
        <p:nvSpPr>
          <p:cNvPr id="39" name="Text 35"/>
          <p:cNvSpPr/>
          <p:nvPr/>
        </p:nvSpPr>
        <p:spPr>
          <a:xfrm>
            <a:off x="4929188" y="5013127"/>
            <a:ext cx="7624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Cost per FTE-day:</a:t>
            </a:r>
            <a:endParaRPr lang="en-US" sz="634" dirty="0"/>
          </a:p>
        </p:txBody>
      </p:sp>
      <p:sp>
        <p:nvSpPr>
          <p:cNvPr id="40" name="Text 36"/>
          <p:cNvSpPr/>
          <p:nvPr/>
        </p:nvSpPr>
        <p:spPr>
          <a:xfrm>
            <a:off x="8310972" y="4998839"/>
            <a:ext cx="2615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$667</a:t>
            </a:r>
            <a:endParaRPr lang="en-US" sz="7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F3A7D"/>
                </a:solidFill>
              </a:rPr>
              <a:t>Success Metrics: Clear Success Criteria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428625" y="992981"/>
            <a:ext cx="1943100" cy="364331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992981"/>
            <a:ext cx="1943100" cy="36433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Infrastructure</a:t>
            </a:r>
            <a:endParaRPr lang="en-US" sz="683" dirty="0"/>
          </a:p>
        </p:txBody>
      </p:sp>
      <p:sp>
        <p:nvSpPr>
          <p:cNvPr id="6" name="Shape 3"/>
          <p:cNvSpPr/>
          <p:nvPr/>
        </p:nvSpPr>
        <p:spPr>
          <a:xfrm>
            <a:off x="428625" y="1471613"/>
            <a:ext cx="1943100" cy="4685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42925" y="158591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542925" y="15859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771525" y="1585913"/>
            <a:ext cx="148590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All GitHub repos created with branch protection</a:t>
            </a:r>
            <a:endParaRPr lang="en-US" sz="621" dirty="0"/>
          </a:p>
        </p:txBody>
      </p:sp>
      <p:sp>
        <p:nvSpPr>
          <p:cNvPr id="10" name="Shape 7"/>
          <p:cNvSpPr/>
          <p:nvPr/>
        </p:nvSpPr>
        <p:spPr>
          <a:xfrm>
            <a:off x="428625" y="2025923"/>
            <a:ext cx="1943100" cy="371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42925" y="214022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542925" y="214022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771525" y="2140223"/>
            <a:ext cx="131606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CI/CD pipeline passing all checks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428625" y="2483123"/>
            <a:ext cx="1943100" cy="4685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2925" y="259742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542925" y="259742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771525" y="2597423"/>
            <a:ext cx="148590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AWS infrastructure operational across all environments</a:t>
            </a:r>
            <a:endParaRPr lang="en-US" sz="621" dirty="0"/>
          </a:p>
        </p:txBody>
      </p:sp>
      <p:sp>
        <p:nvSpPr>
          <p:cNvPr id="18" name="Shape 15"/>
          <p:cNvSpPr/>
          <p:nvPr/>
        </p:nvSpPr>
        <p:spPr>
          <a:xfrm>
            <a:off x="428625" y="3037433"/>
            <a:ext cx="1943100" cy="4685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542925" y="315173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7"/>
          <p:cNvSpPr/>
          <p:nvPr/>
        </p:nvSpPr>
        <p:spPr>
          <a:xfrm>
            <a:off x="542925" y="315173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771525" y="3151733"/>
            <a:ext cx="148590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Monitoring dashboards live with 0 critical alerts</a:t>
            </a:r>
            <a:endParaRPr lang="en-US" sz="621" dirty="0"/>
          </a:p>
        </p:txBody>
      </p:sp>
      <p:sp>
        <p:nvSpPr>
          <p:cNvPr id="22" name="Shape 19"/>
          <p:cNvSpPr/>
          <p:nvPr/>
        </p:nvSpPr>
        <p:spPr>
          <a:xfrm>
            <a:off x="2543175" y="992981"/>
            <a:ext cx="1943100" cy="364331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23" name="Text 20"/>
          <p:cNvSpPr/>
          <p:nvPr/>
        </p:nvSpPr>
        <p:spPr>
          <a:xfrm>
            <a:off x="2543175" y="992981"/>
            <a:ext cx="1943100" cy="36433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Development</a:t>
            </a:r>
            <a:endParaRPr lang="en-US" sz="683" dirty="0"/>
          </a:p>
        </p:txBody>
      </p:sp>
      <p:sp>
        <p:nvSpPr>
          <p:cNvPr id="24" name="Shape 21"/>
          <p:cNvSpPr/>
          <p:nvPr/>
        </p:nvSpPr>
        <p:spPr>
          <a:xfrm>
            <a:off x="2543175" y="1471613"/>
            <a:ext cx="1943100" cy="4685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2657475" y="158591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3"/>
          <p:cNvSpPr/>
          <p:nvPr/>
        </p:nvSpPr>
        <p:spPr>
          <a:xfrm>
            <a:off x="2657475" y="15859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2886075" y="1585913"/>
            <a:ext cx="148590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Backend server running locally for all team members</a:t>
            </a:r>
            <a:endParaRPr lang="en-US" sz="621" dirty="0"/>
          </a:p>
        </p:txBody>
      </p:sp>
      <p:sp>
        <p:nvSpPr>
          <p:cNvPr id="28" name="Shape 25"/>
          <p:cNvSpPr/>
          <p:nvPr/>
        </p:nvSpPr>
        <p:spPr>
          <a:xfrm>
            <a:off x="2543175" y="2025923"/>
            <a:ext cx="1943100" cy="4685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2657475" y="214022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0" name="Text 27"/>
          <p:cNvSpPr/>
          <p:nvPr/>
        </p:nvSpPr>
        <p:spPr>
          <a:xfrm>
            <a:off x="2657475" y="214022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2886075" y="2140223"/>
            <a:ext cx="148590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Database schema complete with 8 tables</a:t>
            </a:r>
            <a:endParaRPr lang="en-US" sz="621" dirty="0"/>
          </a:p>
        </p:txBody>
      </p:sp>
      <p:sp>
        <p:nvSpPr>
          <p:cNvPr id="32" name="Shape 29"/>
          <p:cNvSpPr/>
          <p:nvPr/>
        </p:nvSpPr>
        <p:spPr>
          <a:xfrm>
            <a:off x="2543175" y="2580233"/>
            <a:ext cx="1943100" cy="4685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0"/>
          <p:cNvSpPr/>
          <p:nvPr/>
        </p:nvSpPr>
        <p:spPr>
          <a:xfrm>
            <a:off x="2657475" y="269453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4" name="Text 31"/>
          <p:cNvSpPr/>
          <p:nvPr/>
        </p:nvSpPr>
        <p:spPr>
          <a:xfrm>
            <a:off x="2657475" y="269453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2886075" y="2694533"/>
            <a:ext cx="148590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Auth endpoints functional (register, login, OAuth)</a:t>
            </a:r>
            <a:endParaRPr lang="en-US" sz="621" dirty="0"/>
          </a:p>
        </p:txBody>
      </p:sp>
      <p:sp>
        <p:nvSpPr>
          <p:cNvPr id="36" name="Shape 33"/>
          <p:cNvSpPr/>
          <p:nvPr/>
        </p:nvSpPr>
        <p:spPr>
          <a:xfrm>
            <a:off x="2543175" y="3134544"/>
            <a:ext cx="1943100" cy="4685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4"/>
          <p:cNvSpPr/>
          <p:nvPr/>
        </p:nvSpPr>
        <p:spPr>
          <a:xfrm>
            <a:off x="2657475" y="3248844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8" name="Text 35"/>
          <p:cNvSpPr/>
          <p:nvPr/>
        </p:nvSpPr>
        <p:spPr>
          <a:xfrm>
            <a:off x="2657475" y="324884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39" name="Text 36"/>
          <p:cNvSpPr/>
          <p:nvPr/>
        </p:nvSpPr>
        <p:spPr>
          <a:xfrm>
            <a:off x="2886075" y="3248844"/>
            <a:ext cx="148590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API gateway responding &lt;500ms latency</a:t>
            </a:r>
            <a:endParaRPr lang="en-US" sz="621" dirty="0"/>
          </a:p>
        </p:txBody>
      </p:sp>
      <p:sp>
        <p:nvSpPr>
          <p:cNvPr id="40" name="Shape 37"/>
          <p:cNvSpPr/>
          <p:nvPr/>
        </p:nvSpPr>
        <p:spPr>
          <a:xfrm>
            <a:off x="4657725" y="992981"/>
            <a:ext cx="1943100" cy="364331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41" name="Text 38"/>
          <p:cNvSpPr/>
          <p:nvPr/>
        </p:nvSpPr>
        <p:spPr>
          <a:xfrm>
            <a:off x="4657725" y="992981"/>
            <a:ext cx="1943100" cy="36433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Team</a:t>
            </a:r>
            <a:endParaRPr lang="en-US" sz="683" dirty="0"/>
          </a:p>
        </p:txBody>
      </p:sp>
      <p:sp>
        <p:nvSpPr>
          <p:cNvPr id="42" name="Shape 39"/>
          <p:cNvSpPr/>
          <p:nvPr/>
        </p:nvSpPr>
        <p:spPr>
          <a:xfrm>
            <a:off x="4657725" y="1471613"/>
            <a:ext cx="1943100" cy="4685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0"/>
          <p:cNvSpPr/>
          <p:nvPr/>
        </p:nvSpPr>
        <p:spPr>
          <a:xfrm>
            <a:off x="4772025" y="158591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4" name="Text 41"/>
          <p:cNvSpPr/>
          <p:nvPr/>
        </p:nvSpPr>
        <p:spPr>
          <a:xfrm>
            <a:off x="4772025" y="15859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45" name="Text 42"/>
          <p:cNvSpPr/>
          <p:nvPr/>
        </p:nvSpPr>
        <p:spPr>
          <a:xfrm>
            <a:off x="5000625" y="1585913"/>
            <a:ext cx="148590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All developers can clone, build, and run locally</a:t>
            </a:r>
            <a:endParaRPr lang="en-US" sz="621" dirty="0"/>
          </a:p>
        </p:txBody>
      </p:sp>
      <p:sp>
        <p:nvSpPr>
          <p:cNvPr id="46" name="Shape 43"/>
          <p:cNvSpPr/>
          <p:nvPr/>
        </p:nvSpPr>
        <p:spPr>
          <a:xfrm>
            <a:off x="4657725" y="2025923"/>
            <a:ext cx="1943100" cy="4685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4"/>
          <p:cNvSpPr/>
          <p:nvPr/>
        </p:nvSpPr>
        <p:spPr>
          <a:xfrm>
            <a:off x="4772025" y="214022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8" name="Text 45"/>
          <p:cNvSpPr/>
          <p:nvPr/>
        </p:nvSpPr>
        <p:spPr>
          <a:xfrm>
            <a:off x="4772025" y="214022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49" name="Text 46"/>
          <p:cNvSpPr/>
          <p:nvPr/>
        </p:nvSpPr>
        <p:spPr>
          <a:xfrm>
            <a:off x="5000625" y="2140223"/>
            <a:ext cx="148590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Dev environment setup time &lt;30 minutes</a:t>
            </a:r>
            <a:endParaRPr lang="en-US" sz="621" dirty="0"/>
          </a:p>
        </p:txBody>
      </p:sp>
      <p:sp>
        <p:nvSpPr>
          <p:cNvPr id="50" name="Shape 47"/>
          <p:cNvSpPr/>
          <p:nvPr/>
        </p:nvSpPr>
        <p:spPr>
          <a:xfrm>
            <a:off x="4657725" y="2580233"/>
            <a:ext cx="1943100" cy="371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8"/>
          <p:cNvSpPr/>
          <p:nvPr/>
        </p:nvSpPr>
        <p:spPr>
          <a:xfrm>
            <a:off x="4772025" y="269453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2" name="Text 49"/>
          <p:cNvSpPr/>
          <p:nvPr/>
        </p:nvSpPr>
        <p:spPr>
          <a:xfrm>
            <a:off x="4772025" y="269453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53" name="Text 50"/>
          <p:cNvSpPr/>
          <p:nvPr/>
        </p:nvSpPr>
        <p:spPr>
          <a:xfrm>
            <a:off x="5000625" y="2694533"/>
            <a:ext cx="1363647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Zero critical bugs in infrastructure</a:t>
            </a:r>
            <a:endParaRPr lang="en-US" sz="621" dirty="0"/>
          </a:p>
        </p:txBody>
      </p:sp>
      <p:sp>
        <p:nvSpPr>
          <p:cNvPr id="54" name="Shape 51"/>
          <p:cNvSpPr/>
          <p:nvPr/>
        </p:nvSpPr>
        <p:spPr>
          <a:xfrm>
            <a:off x="4657725" y="3037433"/>
            <a:ext cx="1943100" cy="4685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2"/>
          <p:cNvSpPr/>
          <p:nvPr/>
        </p:nvSpPr>
        <p:spPr>
          <a:xfrm>
            <a:off x="4772025" y="315173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6" name="Text 53"/>
          <p:cNvSpPr/>
          <p:nvPr/>
        </p:nvSpPr>
        <p:spPr>
          <a:xfrm>
            <a:off x="4772025" y="315173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57" name="Text 54"/>
          <p:cNvSpPr/>
          <p:nvPr/>
        </p:nvSpPr>
        <p:spPr>
          <a:xfrm>
            <a:off x="5000625" y="3151733"/>
            <a:ext cx="148590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100% of planned story points completed</a:t>
            </a:r>
            <a:endParaRPr lang="en-US" sz="621" dirty="0"/>
          </a:p>
        </p:txBody>
      </p:sp>
      <p:sp>
        <p:nvSpPr>
          <p:cNvPr id="58" name="Shape 55"/>
          <p:cNvSpPr/>
          <p:nvPr/>
        </p:nvSpPr>
        <p:spPr>
          <a:xfrm>
            <a:off x="6772275" y="992981"/>
            <a:ext cx="1943100" cy="364331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59" name="Text 56"/>
          <p:cNvSpPr/>
          <p:nvPr/>
        </p:nvSpPr>
        <p:spPr>
          <a:xfrm>
            <a:off x="6772275" y="992981"/>
            <a:ext cx="1943100" cy="364331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Quality</a:t>
            </a:r>
            <a:endParaRPr lang="en-US" sz="683" dirty="0"/>
          </a:p>
        </p:txBody>
      </p:sp>
      <p:sp>
        <p:nvSpPr>
          <p:cNvPr id="60" name="Shape 57"/>
          <p:cNvSpPr/>
          <p:nvPr/>
        </p:nvSpPr>
        <p:spPr>
          <a:xfrm>
            <a:off x="6772275" y="1471613"/>
            <a:ext cx="1943100" cy="371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8"/>
          <p:cNvSpPr/>
          <p:nvPr/>
        </p:nvSpPr>
        <p:spPr>
          <a:xfrm>
            <a:off x="6886575" y="158591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2" name="Text 59"/>
          <p:cNvSpPr/>
          <p:nvPr/>
        </p:nvSpPr>
        <p:spPr>
          <a:xfrm>
            <a:off x="6886575" y="15859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63" name="Text 60"/>
          <p:cNvSpPr/>
          <p:nvPr/>
        </p:nvSpPr>
        <p:spPr>
          <a:xfrm>
            <a:off x="7115175" y="1585913"/>
            <a:ext cx="132728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Code coverage 80%+ on backend</a:t>
            </a:r>
            <a:endParaRPr lang="en-US" sz="621" dirty="0"/>
          </a:p>
        </p:txBody>
      </p:sp>
      <p:sp>
        <p:nvSpPr>
          <p:cNvPr id="64" name="Shape 61"/>
          <p:cNvSpPr/>
          <p:nvPr/>
        </p:nvSpPr>
        <p:spPr>
          <a:xfrm>
            <a:off x="6772275" y="1928813"/>
            <a:ext cx="1943100" cy="371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Shape 62"/>
          <p:cNvSpPr/>
          <p:nvPr/>
        </p:nvSpPr>
        <p:spPr>
          <a:xfrm>
            <a:off x="6886575" y="204311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6" name="Text 63"/>
          <p:cNvSpPr/>
          <p:nvPr/>
        </p:nvSpPr>
        <p:spPr>
          <a:xfrm>
            <a:off x="6886575" y="20431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67" name="Text 64"/>
          <p:cNvSpPr/>
          <p:nvPr/>
        </p:nvSpPr>
        <p:spPr>
          <a:xfrm>
            <a:off x="7115175" y="2043113"/>
            <a:ext cx="139194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Zero critical security vulnerabilities</a:t>
            </a:r>
            <a:endParaRPr lang="en-US" sz="621" dirty="0"/>
          </a:p>
        </p:txBody>
      </p:sp>
      <p:sp>
        <p:nvSpPr>
          <p:cNvPr id="68" name="Shape 65"/>
          <p:cNvSpPr/>
          <p:nvPr/>
        </p:nvSpPr>
        <p:spPr>
          <a:xfrm>
            <a:off x="6772275" y="2386013"/>
            <a:ext cx="1943100" cy="3714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hape 66"/>
          <p:cNvSpPr/>
          <p:nvPr/>
        </p:nvSpPr>
        <p:spPr>
          <a:xfrm>
            <a:off x="6886575" y="250031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0" name="Text 67"/>
          <p:cNvSpPr/>
          <p:nvPr/>
        </p:nvSpPr>
        <p:spPr>
          <a:xfrm>
            <a:off x="6886575" y="25003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71" name="Text 68"/>
          <p:cNvSpPr/>
          <p:nvPr/>
        </p:nvSpPr>
        <p:spPr>
          <a:xfrm>
            <a:off x="7115175" y="2500313"/>
            <a:ext cx="137154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All tests passing (unit, integration)</a:t>
            </a:r>
            <a:endParaRPr lang="en-US" sz="621" dirty="0"/>
          </a:p>
        </p:txBody>
      </p:sp>
      <p:sp>
        <p:nvSpPr>
          <p:cNvPr id="72" name="Shape 69"/>
          <p:cNvSpPr/>
          <p:nvPr/>
        </p:nvSpPr>
        <p:spPr>
          <a:xfrm>
            <a:off x="6772275" y="2843213"/>
            <a:ext cx="1943100" cy="4685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hape 70"/>
          <p:cNvSpPr/>
          <p:nvPr/>
        </p:nvSpPr>
        <p:spPr>
          <a:xfrm>
            <a:off x="6886575" y="295751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4" name="Text 71"/>
          <p:cNvSpPr/>
          <p:nvPr/>
        </p:nvSpPr>
        <p:spPr>
          <a:xfrm>
            <a:off x="6886575" y="29575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75" name="Text 72"/>
          <p:cNvSpPr/>
          <p:nvPr/>
        </p:nvSpPr>
        <p:spPr>
          <a:xfrm>
            <a:off x="7115175" y="2957513"/>
            <a:ext cx="148590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Documentation complete and reviewed</a:t>
            </a:r>
            <a:endParaRPr lang="en-US" sz="621" dirty="0"/>
          </a:p>
        </p:txBody>
      </p:sp>
      <p:sp>
        <p:nvSpPr>
          <p:cNvPr id="76" name="Shape 73"/>
          <p:cNvSpPr/>
          <p:nvPr/>
        </p:nvSpPr>
        <p:spPr>
          <a:xfrm>
            <a:off x="428625" y="4407694"/>
            <a:ext cx="8286750" cy="7358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7" name="Shape 74"/>
          <p:cNvSpPr/>
          <p:nvPr/>
        </p:nvSpPr>
        <p:spPr>
          <a:xfrm>
            <a:off x="428625" y="4407694"/>
            <a:ext cx="828675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8" name="Shape 75"/>
          <p:cNvSpPr/>
          <p:nvPr/>
        </p:nvSpPr>
        <p:spPr>
          <a:xfrm>
            <a:off x="428625" y="4586288"/>
            <a:ext cx="2647931" cy="557213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79" name="Shape 76"/>
          <p:cNvSpPr/>
          <p:nvPr/>
        </p:nvSpPr>
        <p:spPr>
          <a:xfrm>
            <a:off x="428625" y="4586288"/>
            <a:ext cx="21431" cy="557213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80" name="Text 77"/>
          <p:cNvSpPr/>
          <p:nvPr/>
        </p:nvSpPr>
        <p:spPr>
          <a:xfrm>
            <a:off x="542925" y="4700588"/>
            <a:ext cx="24193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F3A7D"/>
                </a:solidFill>
              </a:rPr>
              <a:t>Phase Completion</a:t>
            </a:r>
            <a:endParaRPr lang="en-US" sz="534" dirty="0"/>
          </a:p>
        </p:txBody>
      </p:sp>
      <p:sp>
        <p:nvSpPr>
          <p:cNvPr id="81" name="Text 78"/>
          <p:cNvSpPr/>
          <p:nvPr/>
        </p:nvSpPr>
        <p:spPr>
          <a:xfrm>
            <a:off x="542925" y="4864894"/>
            <a:ext cx="24193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16 of 16 Criteria Met</a:t>
            </a:r>
            <a:endParaRPr lang="en-US" sz="784" dirty="0"/>
          </a:p>
        </p:txBody>
      </p:sp>
      <p:sp>
        <p:nvSpPr>
          <p:cNvPr id="82" name="Shape 79"/>
          <p:cNvSpPr/>
          <p:nvPr/>
        </p:nvSpPr>
        <p:spPr>
          <a:xfrm>
            <a:off x="3248006" y="4586288"/>
            <a:ext cx="2647959" cy="557213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83" name="Shape 80"/>
          <p:cNvSpPr/>
          <p:nvPr/>
        </p:nvSpPr>
        <p:spPr>
          <a:xfrm>
            <a:off x="3248006" y="4586288"/>
            <a:ext cx="21431" cy="557213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84" name="Text 81"/>
          <p:cNvSpPr/>
          <p:nvPr/>
        </p:nvSpPr>
        <p:spPr>
          <a:xfrm>
            <a:off x="3362306" y="4700588"/>
            <a:ext cx="241935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F3A7D"/>
                </a:solidFill>
              </a:rPr>
              <a:t>Ready for Phase 2</a:t>
            </a:r>
            <a:endParaRPr lang="en-US" sz="534" dirty="0"/>
          </a:p>
        </p:txBody>
      </p:sp>
      <p:sp>
        <p:nvSpPr>
          <p:cNvPr id="85" name="Text 82"/>
          <p:cNvSpPr/>
          <p:nvPr/>
        </p:nvSpPr>
        <p:spPr>
          <a:xfrm>
            <a:off x="3362306" y="4864894"/>
            <a:ext cx="241935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✓ Yes</a:t>
            </a:r>
            <a:endParaRPr lang="en-US" sz="784" dirty="0"/>
          </a:p>
        </p:txBody>
      </p:sp>
      <p:sp>
        <p:nvSpPr>
          <p:cNvPr id="86" name="Shape 83"/>
          <p:cNvSpPr/>
          <p:nvPr/>
        </p:nvSpPr>
        <p:spPr>
          <a:xfrm>
            <a:off x="6067416" y="4586288"/>
            <a:ext cx="2647931" cy="557213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87" name="Shape 84"/>
          <p:cNvSpPr/>
          <p:nvPr/>
        </p:nvSpPr>
        <p:spPr>
          <a:xfrm>
            <a:off x="6067416" y="4586288"/>
            <a:ext cx="21431" cy="557213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88" name="Text 85"/>
          <p:cNvSpPr/>
          <p:nvPr/>
        </p:nvSpPr>
        <p:spPr>
          <a:xfrm>
            <a:off x="6181716" y="4700588"/>
            <a:ext cx="24193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F3A7D"/>
                </a:solidFill>
              </a:rPr>
              <a:t>Infrastructure Blockers</a:t>
            </a:r>
            <a:endParaRPr lang="en-US" sz="534" dirty="0"/>
          </a:p>
        </p:txBody>
      </p:sp>
      <p:sp>
        <p:nvSpPr>
          <p:cNvPr id="89" name="Text 86"/>
          <p:cNvSpPr/>
          <p:nvPr/>
        </p:nvSpPr>
        <p:spPr>
          <a:xfrm>
            <a:off x="6181716" y="4864894"/>
            <a:ext cx="24193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0 Remaining</a:t>
            </a:r>
            <a:endParaRPr lang="en-US" sz="7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F3A7D"/>
                </a:solidFill>
              </a:rPr>
              <a:t>Risk Assessment: Mitigation Strategy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764381"/>
            <a:ext cx="8286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Identified risks with probability, impact, mitigation strategies, and contingency plans</a:t>
            </a:r>
            <a:endParaRPr lang="en-US" sz="727" dirty="0"/>
          </a:p>
        </p:txBody>
      </p:sp>
      <p:sp>
        <p:nvSpPr>
          <p:cNvPr id="5" name="Shape 2"/>
          <p:cNvSpPr/>
          <p:nvPr/>
        </p:nvSpPr>
        <p:spPr>
          <a:xfrm>
            <a:off x="428625" y="1128713"/>
            <a:ext cx="8286750" cy="25485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128713"/>
            <a:ext cx="8286750" cy="333970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128713"/>
            <a:ext cx="1491593" cy="333970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Risk</a:t>
            </a:r>
            <a:endParaRPr lang="en-US" sz="584" dirty="0"/>
          </a:p>
        </p:txBody>
      </p:sp>
      <p:sp>
        <p:nvSpPr>
          <p:cNvPr id="8" name="Text 5"/>
          <p:cNvSpPr/>
          <p:nvPr/>
        </p:nvSpPr>
        <p:spPr>
          <a:xfrm>
            <a:off x="1920218" y="1128713"/>
            <a:ext cx="994404" cy="333970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Probability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2914622" y="1128713"/>
            <a:ext cx="994404" cy="333970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Impact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3909027" y="1128713"/>
            <a:ext cx="2651754" cy="333970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Mitigation Strategy</a:t>
            </a:r>
            <a:endParaRPr lang="en-US" sz="584" dirty="0"/>
          </a:p>
        </p:txBody>
      </p:sp>
      <p:sp>
        <p:nvSpPr>
          <p:cNvPr id="11" name="Text 8"/>
          <p:cNvSpPr/>
          <p:nvPr/>
        </p:nvSpPr>
        <p:spPr>
          <a:xfrm>
            <a:off x="6560781" y="1128713"/>
            <a:ext cx="2154594" cy="333970"/>
          </a:xfrm>
          <a:prstGeom prst="rect">
            <a:avLst/>
          </a:prstGeom>
          <a:noFill/>
          <a:ln/>
        </p:spPr>
        <p:txBody>
          <a:bodyPr wrap="square" lIns="102108" tIns="136017" rIns="102108" bIns="136017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Contingency Plan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428625" y="1462683"/>
            <a:ext cx="8286750" cy="439341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1894880"/>
            <a:ext cx="8286750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1462683"/>
            <a:ext cx="1491593" cy="43576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AWS Setup Delays</a:t>
            </a:r>
            <a:endParaRPr lang="en-US" sz="584" dirty="0"/>
          </a:p>
        </p:txBody>
      </p:sp>
      <p:sp>
        <p:nvSpPr>
          <p:cNvPr id="15" name="Shape 12"/>
          <p:cNvSpPr/>
          <p:nvPr/>
        </p:nvSpPr>
        <p:spPr>
          <a:xfrm>
            <a:off x="2005943" y="1587698"/>
            <a:ext cx="459711" cy="18573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6" name="Text 13"/>
          <p:cNvSpPr/>
          <p:nvPr/>
        </p:nvSpPr>
        <p:spPr>
          <a:xfrm>
            <a:off x="2005943" y="1587698"/>
            <a:ext cx="459711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57C00"/>
                </a:solidFill>
              </a:rPr>
              <a:t>Medium</a:t>
            </a:r>
            <a:endParaRPr lang="en-US" sz="584" dirty="0"/>
          </a:p>
        </p:txBody>
      </p:sp>
      <p:sp>
        <p:nvSpPr>
          <p:cNvPr id="17" name="Shape 14"/>
          <p:cNvSpPr/>
          <p:nvPr/>
        </p:nvSpPr>
        <p:spPr>
          <a:xfrm>
            <a:off x="3000347" y="1587698"/>
            <a:ext cx="428625" cy="185738"/>
          </a:xfrm>
          <a:prstGeom prst="rect">
            <a:avLst/>
          </a:prstGeom>
          <a:solidFill>
            <a:srgbClr val="FFE8E8"/>
          </a:solidFill>
          <a:ln/>
        </p:spPr>
      </p:sp>
      <p:sp>
        <p:nvSpPr>
          <p:cNvPr id="18" name="Text 15"/>
          <p:cNvSpPr/>
          <p:nvPr/>
        </p:nvSpPr>
        <p:spPr>
          <a:xfrm>
            <a:off x="3000347" y="1587698"/>
            <a:ext cx="428625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32F2F"/>
                </a:solidFill>
              </a:rPr>
              <a:t>High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3909027" y="1462683"/>
            <a:ext cx="2651754" cy="43576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Early planning with AWS team, use Infrastructure as Code (Terraform), pre-approved budget, dedicated DevOps engineer</a:t>
            </a:r>
            <a:endParaRPr lang="en-US" sz="568" dirty="0"/>
          </a:p>
        </p:txBody>
      </p:sp>
      <p:sp>
        <p:nvSpPr>
          <p:cNvPr id="20" name="Text 17"/>
          <p:cNvSpPr/>
          <p:nvPr/>
        </p:nvSpPr>
        <p:spPr>
          <a:xfrm>
            <a:off x="6560781" y="1462683"/>
            <a:ext cx="2154594" cy="43576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Use alternative cloud provider (Azure/GCP), simplify initial infrastructure</a:t>
            </a:r>
            <a:endParaRPr lang="en-US" sz="568" dirty="0"/>
          </a:p>
        </p:txBody>
      </p:sp>
      <p:sp>
        <p:nvSpPr>
          <p:cNvPr id="21" name="Shape 18"/>
          <p:cNvSpPr/>
          <p:nvPr/>
        </p:nvSpPr>
        <p:spPr>
          <a:xfrm>
            <a:off x="428625" y="1898452"/>
            <a:ext cx="8286750" cy="4393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2330648"/>
            <a:ext cx="8286750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3" name="Text 20"/>
          <p:cNvSpPr/>
          <p:nvPr/>
        </p:nvSpPr>
        <p:spPr>
          <a:xfrm>
            <a:off x="428625" y="1898452"/>
            <a:ext cx="1491593" cy="43576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CI/CD Complexity</a:t>
            </a:r>
            <a:endParaRPr lang="en-US" sz="584" dirty="0"/>
          </a:p>
        </p:txBody>
      </p:sp>
      <p:sp>
        <p:nvSpPr>
          <p:cNvPr id="24" name="Shape 21"/>
          <p:cNvSpPr/>
          <p:nvPr/>
        </p:nvSpPr>
        <p:spPr>
          <a:xfrm>
            <a:off x="2005943" y="2023467"/>
            <a:ext cx="428625" cy="18573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5" name="Text 22"/>
          <p:cNvSpPr/>
          <p:nvPr/>
        </p:nvSpPr>
        <p:spPr>
          <a:xfrm>
            <a:off x="2005943" y="2023467"/>
            <a:ext cx="428625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88E3C"/>
                </a:solidFill>
              </a:rPr>
              <a:t>Low</a:t>
            </a:r>
            <a:endParaRPr lang="en-US" sz="584" dirty="0"/>
          </a:p>
        </p:txBody>
      </p:sp>
      <p:sp>
        <p:nvSpPr>
          <p:cNvPr id="26" name="Shape 23"/>
          <p:cNvSpPr/>
          <p:nvPr/>
        </p:nvSpPr>
        <p:spPr>
          <a:xfrm>
            <a:off x="3000347" y="2023467"/>
            <a:ext cx="459711" cy="18573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7" name="Text 24"/>
          <p:cNvSpPr/>
          <p:nvPr/>
        </p:nvSpPr>
        <p:spPr>
          <a:xfrm>
            <a:off x="3000347" y="2023467"/>
            <a:ext cx="459711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57C00"/>
                </a:solidFill>
              </a:rPr>
              <a:t>Medium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3909027" y="1898452"/>
            <a:ext cx="2651754" cy="43576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Use GitHub Actions templates, start with simple pipeline, iterate incrementally, documentation</a:t>
            </a:r>
            <a:endParaRPr lang="en-US" sz="568" dirty="0"/>
          </a:p>
        </p:txBody>
      </p:sp>
      <p:sp>
        <p:nvSpPr>
          <p:cNvPr id="29" name="Text 26"/>
          <p:cNvSpPr/>
          <p:nvPr/>
        </p:nvSpPr>
        <p:spPr>
          <a:xfrm>
            <a:off x="6560781" y="1898452"/>
            <a:ext cx="2154594" cy="43576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Simplify pipeline initially, add complexity after Week 1</a:t>
            </a:r>
            <a:endParaRPr lang="en-US" sz="568" dirty="0"/>
          </a:p>
        </p:txBody>
      </p:sp>
      <p:sp>
        <p:nvSpPr>
          <p:cNvPr id="30" name="Shape 27"/>
          <p:cNvSpPr/>
          <p:nvPr/>
        </p:nvSpPr>
        <p:spPr>
          <a:xfrm>
            <a:off x="428625" y="2334220"/>
            <a:ext cx="8286750" cy="439341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Shape 28"/>
          <p:cNvSpPr/>
          <p:nvPr/>
        </p:nvSpPr>
        <p:spPr>
          <a:xfrm>
            <a:off x="428625" y="2766417"/>
            <a:ext cx="8286750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Text 29"/>
          <p:cNvSpPr/>
          <p:nvPr/>
        </p:nvSpPr>
        <p:spPr>
          <a:xfrm>
            <a:off x="428625" y="2334220"/>
            <a:ext cx="1491593" cy="43576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Database Design Issues</a:t>
            </a:r>
            <a:endParaRPr lang="en-US" sz="584" dirty="0"/>
          </a:p>
        </p:txBody>
      </p:sp>
      <p:sp>
        <p:nvSpPr>
          <p:cNvPr id="33" name="Shape 30"/>
          <p:cNvSpPr/>
          <p:nvPr/>
        </p:nvSpPr>
        <p:spPr>
          <a:xfrm>
            <a:off x="2005943" y="2459236"/>
            <a:ext cx="428625" cy="18573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4" name="Text 31"/>
          <p:cNvSpPr/>
          <p:nvPr/>
        </p:nvSpPr>
        <p:spPr>
          <a:xfrm>
            <a:off x="2005943" y="2459236"/>
            <a:ext cx="428625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88E3C"/>
                </a:solidFill>
              </a:rPr>
              <a:t>Low</a:t>
            </a:r>
            <a:endParaRPr lang="en-US" sz="584" dirty="0"/>
          </a:p>
        </p:txBody>
      </p:sp>
      <p:sp>
        <p:nvSpPr>
          <p:cNvPr id="35" name="Shape 32"/>
          <p:cNvSpPr/>
          <p:nvPr/>
        </p:nvSpPr>
        <p:spPr>
          <a:xfrm>
            <a:off x="3000347" y="2459236"/>
            <a:ext cx="428625" cy="185738"/>
          </a:xfrm>
          <a:prstGeom prst="rect">
            <a:avLst/>
          </a:prstGeom>
          <a:solidFill>
            <a:srgbClr val="FFE8E8"/>
          </a:solidFill>
          <a:ln/>
        </p:spPr>
      </p:sp>
      <p:sp>
        <p:nvSpPr>
          <p:cNvPr id="36" name="Text 33"/>
          <p:cNvSpPr/>
          <p:nvPr/>
        </p:nvSpPr>
        <p:spPr>
          <a:xfrm>
            <a:off x="3000347" y="2459236"/>
            <a:ext cx="428625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D32F2F"/>
                </a:solidFill>
              </a:rPr>
              <a:t>High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3909027" y="2334220"/>
            <a:ext cx="2651754" cy="43576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Early schema review with team, documentation, design patterns, peer review before implementation</a:t>
            </a:r>
            <a:endParaRPr lang="en-US" sz="568" dirty="0"/>
          </a:p>
        </p:txBody>
      </p:sp>
      <p:sp>
        <p:nvSpPr>
          <p:cNvPr id="38" name="Text 35"/>
          <p:cNvSpPr/>
          <p:nvPr/>
        </p:nvSpPr>
        <p:spPr>
          <a:xfrm>
            <a:off x="6560781" y="2334220"/>
            <a:ext cx="2154594" cy="43576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Redesign during Week 2, use migration scripts for changes</a:t>
            </a:r>
            <a:endParaRPr lang="en-US" sz="568" dirty="0"/>
          </a:p>
        </p:txBody>
      </p:sp>
      <p:sp>
        <p:nvSpPr>
          <p:cNvPr id="39" name="Shape 36"/>
          <p:cNvSpPr/>
          <p:nvPr/>
        </p:nvSpPr>
        <p:spPr>
          <a:xfrm>
            <a:off x="428625" y="2769989"/>
            <a:ext cx="8286750" cy="4393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7"/>
          <p:cNvSpPr/>
          <p:nvPr/>
        </p:nvSpPr>
        <p:spPr>
          <a:xfrm>
            <a:off x="428625" y="3202186"/>
            <a:ext cx="8286750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1" name="Text 38"/>
          <p:cNvSpPr/>
          <p:nvPr/>
        </p:nvSpPr>
        <p:spPr>
          <a:xfrm>
            <a:off x="428625" y="2769989"/>
            <a:ext cx="1491593" cy="43576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Team Onboarding</a:t>
            </a:r>
            <a:endParaRPr lang="en-US" sz="584" dirty="0"/>
          </a:p>
        </p:txBody>
      </p:sp>
      <p:sp>
        <p:nvSpPr>
          <p:cNvPr id="42" name="Shape 39"/>
          <p:cNvSpPr/>
          <p:nvPr/>
        </p:nvSpPr>
        <p:spPr>
          <a:xfrm>
            <a:off x="2005943" y="2895005"/>
            <a:ext cx="428625" cy="18573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3" name="Text 40"/>
          <p:cNvSpPr/>
          <p:nvPr/>
        </p:nvSpPr>
        <p:spPr>
          <a:xfrm>
            <a:off x="2005943" y="2895005"/>
            <a:ext cx="428625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88E3C"/>
                </a:solidFill>
              </a:rPr>
              <a:t>Low</a:t>
            </a:r>
            <a:endParaRPr lang="en-US" sz="584" dirty="0"/>
          </a:p>
        </p:txBody>
      </p:sp>
      <p:sp>
        <p:nvSpPr>
          <p:cNvPr id="44" name="Shape 41"/>
          <p:cNvSpPr/>
          <p:nvPr/>
        </p:nvSpPr>
        <p:spPr>
          <a:xfrm>
            <a:off x="3000347" y="2895005"/>
            <a:ext cx="459711" cy="18573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5" name="Text 42"/>
          <p:cNvSpPr/>
          <p:nvPr/>
        </p:nvSpPr>
        <p:spPr>
          <a:xfrm>
            <a:off x="3000347" y="2895005"/>
            <a:ext cx="459711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57C00"/>
                </a:solidFill>
              </a:rPr>
              <a:t>Medium</a:t>
            </a:r>
            <a:endParaRPr lang="en-US" sz="584" dirty="0"/>
          </a:p>
        </p:txBody>
      </p:sp>
      <p:sp>
        <p:nvSpPr>
          <p:cNvPr id="46" name="Text 43"/>
          <p:cNvSpPr/>
          <p:nvPr/>
        </p:nvSpPr>
        <p:spPr>
          <a:xfrm>
            <a:off x="3909027" y="2769989"/>
            <a:ext cx="2651754" cy="43576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Comprehensive setup guide, pair programming, mentoring, clear documentation, daily standups</a:t>
            </a:r>
            <a:endParaRPr lang="en-US" sz="568" dirty="0"/>
          </a:p>
        </p:txBody>
      </p:sp>
      <p:sp>
        <p:nvSpPr>
          <p:cNvPr id="47" name="Text 44"/>
          <p:cNvSpPr/>
          <p:nvPr/>
        </p:nvSpPr>
        <p:spPr>
          <a:xfrm>
            <a:off x="6560781" y="2769989"/>
            <a:ext cx="2154594" cy="43576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Extend onboarding period, pair programming with experienced developers</a:t>
            </a:r>
            <a:endParaRPr lang="en-US" sz="568" dirty="0"/>
          </a:p>
        </p:txBody>
      </p:sp>
      <p:sp>
        <p:nvSpPr>
          <p:cNvPr id="48" name="Shape 45"/>
          <p:cNvSpPr/>
          <p:nvPr/>
        </p:nvSpPr>
        <p:spPr>
          <a:xfrm>
            <a:off x="428625" y="3205758"/>
            <a:ext cx="8286750" cy="439341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9" name="Shape 46"/>
          <p:cNvSpPr/>
          <p:nvPr/>
        </p:nvSpPr>
        <p:spPr>
          <a:xfrm>
            <a:off x="428625" y="3637955"/>
            <a:ext cx="8286750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0" name="Text 47"/>
          <p:cNvSpPr/>
          <p:nvPr/>
        </p:nvSpPr>
        <p:spPr>
          <a:xfrm>
            <a:off x="428625" y="3205758"/>
            <a:ext cx="1491593" cy="43576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Scope Creep</a:t>
            </a:r>
            <a:endParaRPr lang="en-US" sz="584" dirty="0"/>
          </a:p>
        </p:txBody>
      </p:sp>
      <p:sp>
        <p:nvSpPr>
          <p:cNvPr id="51" name="Shape 48"/>
          <p:cNvSpPr/>
          <p:nvPr/>
        </p:nvSpPr>
        <p:spPr>
          <a:xfrm>
            <a:off x="2005943" y="3330773"/>
            <a:ext cx="459711" cy="18573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2" name="Text 49"/>
          <p:cNvSpPr/>
          <p:nvPr/>
        </p:nvSpPr>
        <p:spPr>
          <a:xfrm>
            <a:off x="2005943" y="3330773"/>
            <a:ext cx="459711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57C00"/>
                </a:solidFill>
              </a:rPr>
              <a:t>Medium</a:t>
            </a:r>
            <a:endParaRPr lang="en-US" sz="584" dirty="0"/>
          </a:p>
        </p:txBody>
      </p:sp>
      <p:sp>
        <p:nvSpPr>
          <p:cNvPr id="53" name="Shape 50"/>
          <p:cNvSpPr/>
          <p:nvPr/>
        </p:nvSpPr>
        <p:spPr>
          <a:xfrm>
            <a:off x="3000347" y="3330773"/>
            <a:ext cx="459711" cy="185738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4" name="Text 51"/>
          <p:cNvSpPr/>
          <p:nvPr/>
        </p:nvSpPr>
        <p:spPr>
          <a:xfrm>
            <a:off x="3000347" y="3330773"/>
            <a:ext cx="459711" cy="18573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57C00"/>
                </a:solidFill>
              </a:rPr>
              <a:t>Medium</a:t>
            </a:r>
            <a:endParaRPr lang="en-US" sz="584" dirty="0"/>
          </a:p>
        </p:txBody>
      </p:sp>
      <p:sp>
        <p:nvSpPr>
          <p:cNvPr id="55" name="Text 52"/>
          <p:cNvSpPr/>
          <p:nvPr/>
        </p:nvSpPr>
        <p:spPr>
          <a:xfrm>
            <a:off x="3909027" y="3205758"/>
            <a:ext cx="2651754" cy="43576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Strict scope adherence, clear JIRA tickets, weekly scope review, stakeholder communication</a:t>
            </a:r>
            <a:endParaRPr lang="en-US" sz="568" dirty="0"/>
          </a:p>
        </p:txBody>
      </p:sp>
      <p:sp>
        <p:nvSpPr>
          <p:cNvPr id="56" name="Text 53"/>
          <p:cNvSpPr/>
          <p:nvPr/>
        </p:nvSpPr>
        <p:spPr>
          <a:xfrm>
            <a:off x="6560781" y="3205758"/>
            <a:ext cx="2154594" cy="43576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Cut non-essential features, defer to Phase 2, adjust timeline</a:t>
            </a:r>
            <a:endParaRPr lang="en-US" sz="568" dirty="0"/>
          </a:p>
        </p:txBody>
      </p:sp>
      <p:sp>
        <p:nvSpPr>
          <p:cNvPr id="57" name="Shape 54"/>
          <p:cNvSpPr/>
          <p:nvPr/>
        </p:nvSpPr>
        <p:spPr>
          <a:xfrm>
            <a:off x="428625" y="4204097"/>
            <a:ext cx="8286750" cy="93940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428625" y="4204097"/>
            <a:ext cx="828675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9" name="Text 56"/>
          <p:cNvSpPr/>
          <p:nvPr/>
        </p:nvSpPr>
        <p:spPr>
          <a:xfrm>
            <a:off x="428625" y="4382691"/>
            <a:ext cx="82867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Risk Mitigation Strategy</a:t>
            </a:r>
            <a:endParaRPr lang="en-US" sz="634" dirty="0"/>
          </a:p>
        </p:txBody>
      </p:sp>
      <p:sp>
        <p:nvSpPr>
          <p:cNvPr id="60" name="Text 57"/>
          <p:cNvSpPr/>
          <p:nvPr/>
        </p:nvSpPr>
        <p:spPr>
          <a:xfrm>
            <a:off x="428625" y="4566642"/>
            <a:ext cx="8286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Daily standups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 to identify blockers early 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Weekly risk review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 with stakeholders 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Clear escalation path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 for critical issues •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Pre-planned contingency tasks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 if ahead of schedule</a:t>
            </a:r>
            <a:endParaRPr lang="en-US" sz="634" dirty="0"/>
          </a:p>
        </p:txBody>
      </p:sp>
      <p:sp>
        <p:nvSpPr>
          <p:cNvPr id="61" name="Text 58"/>
          <p:cNvSpPr/>
          <p:nvPr/>
        </p:nvSpPr>
        <p:spPr>
          <a:xfrm>
            <a:off x="428625" y="4820245"/>
            <a:ext cx="82867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Escalation Path</a:t>
            </a:r>
            <a:endParaRPr lang="en-US" sz="634" dirty="0"/>
          </a:p>
        </p:txBody>
      </p:sp>
      <p:sp>
        <p:nvSpPr>
          <p:cNvPr id="62" name="Text 59"/>
          <p:cNvSpPr/>
          <p:nvPr/>
        </p:nvSpPr>
        <p:spPr>
          <a:xfrm>
            <a:off x="428625" y="5004197"/>
            <a:ext cx="82867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Technical blockers → Engineering Lead | Infrastructure issues → DevOps Engineer | Budget/timeline concerns → Product Manager | Critical issues → Executive team</a:t>
            </a:r>
            <a:endParaRPr lang="en-US" sz="67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434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F3A7D"/>
                </a:solidFill>
              </a:rPr>
              <a:t>Timeline: 10-Day Execution Plan with Clear Milestones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1164431"/>
            <a:ext cx="2643188" cy="275034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Week 1: Infrastructure Setup</a:t>
            </a:r>
            <a:endParaRPr lang="en-US" sz="885" dirty="0"/>
          </a:p>
        </p:txBody>
      </p:sp>
      <p:sp>
        <p:nvSpPr>
          <p:cNvPr id="5" name="Shape 2"/>
          <p:cNvSpPr/>
          <p:nvPr/>
        </p:nvSpPr>
        <p:spPr>
          <a:xfrm>
            <a:off x="564356" y="1553766"/>
            <a:ext cx="14288" cy="286277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553766"/>
            <a:ext cx="285750" cy="28575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55376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857250" y="1582341"/>
            <a:ext cx="22145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Day 1 - Monday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857250" y="1752005"/>
            <a:ext cx="221456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GitHub repositories initialized and team access configured</a:t>
            </a:r>
            <a:endParaRPr lang="en-US" sz="634" dirty="0"/>
          </a:p>
        </p:txBody>
      </p:sp>
      <p:sp>
        <p:nvSpPr>
          <p:cNvPr id="10" name="Shape 7"/>
          <p:cNvSpPr/>
          <p:nvPr/>
        </p:nvSpPr>
        <p:spPr>
          <a:xfrm>
            <a:off x="428625" y="2126326"/>
            <a:ext cx="285750" cy="28575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8"/>
          <p:cNvSpPr/>
          <p:nvPr/>
        </p:nvSpPr>
        <p:spPr>
          <a:xfrm>
            <a:off x="428625" y="212632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857250" y="2154901"/>
            <a:ext cx="22145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Day 2 - Tuesday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857250" y="2324565"/>
            <a:ext cx="221456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CI/CD pipeline operational and passing initial tests</a:t>
            </a:r>
            <a:endParaRPr lang="en-US" sz="634" dirty="0"/>
          </a:p>
        </p:txBody>
      </p:sp>
      <p:sp>
        <p:nvSpPr>
          <p:cNvPr id="14" name="Shape 11"/>
          <p:cNvSpPr/>
          <p:nvPr/>
        </p:nvSpPr>
        <p:spPr>
          <a:xfrm>
            <a:off x="428625" y="2698886"/>
            <a:ext cx="285750" cy="28575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428625" y="269888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857250" y="2727461"/>
            <a:ext cx="22145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Day 3 - Wednesday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857250" y="2897125"/>
            <a:ext cx="221456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AWS infrastructure live and accessible across environments</a:t>
            </a:r>
            <a:endParaRPr lang="en-US" sz="634" dirty="0"/>
          </a:p>
        </p:txBody>
      </p:sp>
      <p:sp>
        <p:nvSpPr>
          <p:cNvPr id="18" name="Shape 15"/>
          <p:cNvSpPr/>
          <p:nvPr/>
        </p:nvSpPr>
        <p:spPr>
          <a:xfrm>
            <a:off x="428625" y="3271447"/>
            <a:ext cx="285750" cy="28575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6"/>
          <p:cNvSpPr/>
          <p:nvPr/>
        </p:nvSpPr>
        <p:spPr>
          <a:xfrm>
            <a:off x="428625" y="327144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857250" y="3300022"/>
            <a:ext cx="22145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Day 4 - Thursday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857250" y="3469686"/>
            <a:ext cx="221456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Monitoring dashboards visible and alerting configured</a:t>
            </a:r>
            <a:endParaRPr lang="en-US" sz="634" dirty="0"/>
          </a:p>
        </p:txBody>
      </p:sp>
      <p:sp>
        <p:nvSpPr>
          <p:cNvPr id="22" name="Shape 19"/>
          <p:cNvSpPr/>
          <p:nvPr/>
        </p:nvSpPr>
        <p:spPr>
          <a:xfrm>
            <a:off x="428625" y="3844007"/>
            <a:ext cx="285750" cy="28575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0"/>
          <p:cNvSpPr/>
          <p:nvPr/>
        </p:nvSpPr>
        <p:spPr>
          <a:xfrm>
            <a:off x="428625" y="384400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5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857250" y="3872582"/>
            <a:ext cx="22145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Day 5 - Friday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857250" y="4042246"/>
            <a:ext cx="221456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Development environment guide completed and tested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3357563" y="1164431"/>
            <a:ext cx="2643188" cy="275034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Week 2: Backend Architecture</a:t>
            </a:r>
            <a:endParaRPr lang="en-US" sz="885" dirty="0"/>
          </a:p>
        </p:txBody>
      </p:sp>
      <p:sp>
        <p:nvSpPr>
          <p:cNvPr id="27" name="Shape 24"/>
          <p:cNvSpPr/>
          <p:nvPr/>
        </p:nvSpPr>
        <p:spPr>
          <a:xfrm>
            <a:off x="3493294" y="1553766"/>
            <a:ext cx="14288" cy="2602781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Shape 25"/>
          <p:cNvSpPr/>
          <p:nvPr/>
        </p:nvSpPr>
        <p:spPr>
          <a:xfrm>
            <a:off x="3357563" y="1553766"/>
            <a:ext cx="285750" cy="28575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Text 26"/>
          <p:cNvSpPr/>
          <p:nvPr/>
        </p:nvSpPr>
        <p:spPr>
          <a:xfrm>
            <a:off x="3357563" y="155376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6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3786188" y="1582341"/>
            <a:ext cx="22145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Day 6 - Monday</a:t>
            </a:r>
            <a:endParaRPr lang="en-US" sz="634" dirty="0"/>
          </a:p>
        </p:txBody>
      </p:sp>
      <p:sp>
        <p:nvSpPr>
          <p:cNvPr id="31" name="Text 28"/>
          <p:cNvSpPr/>
          <p:nvPr/>
        </p:nvSpPr>
        <p:spPr>
          <a:xfrm>
            <a:off x="3786188" y="1752005"/>
            <a:ext cx="221456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Express backend running locally with health check endpoint</a:t>
            </a:r>
            <a:endParaRPr lang="en-US" sz="634" dirty="0"/>
          </a:p>
        </p:txBody>
      </p:sp>
      <p:sp>
        <p:nvSpPr>
          <p:cNvPr id="32" name="Shape 29"/>
          <p:cNvSpPr/>
          <p:nvPr/>
        </p:nvSpPr>
        <p:spPr>
          <a:xfrm>
            <a:off x="3357563" y="2126326"/>
            <a:ext cx="285750" cy="28575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3" name="Text 30"/>
          <p:cNvSpPr/>
          <p:nvPr/>
        </p:nvSpPr>
        <p:spPr>
          <a:xfrm>
            <a:off x="3357563" y="212632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7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3786188" y="2154901"/>
            <a:ext cx="22145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Day 7 - Tuesday</a:t>
            </a:r>
            <a:endParaRPr lang="en-US" sz="634" dirty="0"/>
          </a:p>
        </p:txBody>
      </p:sp>
      <p:sp>
        <p:nvSpPr>
          <p:cNvPr id="35" name="Text 32"/>
          <p:cNvSpPr/>
          <p:nvPr/>
        </p:nvSpPr>
        <p:spPr>
          <a:xfrm>
            <a:off x="3786188" y="2324565"/>
            <a:ext cx="221456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Database schema complete with migrations and seed data</a:t>
            </a:r>
            <a:endParaRPr lang="en-US" sz="634" dirty="0"/>
          </a:p>
        </p:txBody>
      </p:sp>
      <p:sp>
        <p:nvSpPr>
          <p:cNvPr id="36" name="Shape 33"/>
          <p:cNvSpPr/>
          <p:nvPr/>
        </p:nvSpPr>
        <p:spPr>
          <a:xfrm>
            <a:off x="3357563" y="2698886"/>
            <a:ext cx="285750" cy="28575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7" name="Text 34"/>
          <p:cNvSpPr/>
          <p:nvPr/>
        </p:nvSpPr>
        <p:spPr>
          <a:xfrm>
            <a:off x="3357563" y="269888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8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3786188" y="2727461"/>
            <a:ext cx="209560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Day 8 - Wednesday</a:t>
            </a:r>
            <a:endParaRPr lang="en-US" sz="634" dirty="0"/>
          </a:p>
        </p:txBody>
      </p:sp>
      <p:sp>
        <p:nvSpPr>
          <p:cNvPr id="39" name="Text 36"/>
          <p:cNvSpPr/>
          <p:nvPr/>
        </p:nvSpPr>
        <p:spPr>
          <a:xfrm>
            <a:off x="3786188" y="2897125"/>
            <a:ext cx="2095602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Auth endpoints working (register, login, OAuth)</a:t>
            </a:r>
            <a:endParaRPr lang="en-US" sz="634" dirty="0"/>
          </a:p>
        </p:txBody>
      </p:sp>
      <p:sp>
        <p:nvSpPr>
          <p:cNvPr id="40" name="Shape 37"/>
          <p:cNvSpPr/>
          <p:nvPr/>
        </p:nvSpPr>
        <p:spPr>
          <a:xfrm>
            <a:off x="3357563" y="3141436"/>
            <a:ext cx="285750" cy="28575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1" name="Text 38"/>
          <p:cNvSpPr/>
          <p:nvPr/>
        </p:nvSpPr>
        <p:spPr>
          <a:xfrm>
            <a:off x="3357563" y="314143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9</a:t>
            </a:r>
            <a:endParaRPr lang="en-US" sz="683" dirty="0"/>
          </a:p>
        </p:txBody>
      </p:sp>
      <p:sp>
        <p:nvSpPr>
          <p:cNvPr id="42" name="Text 39"/>
          <p:cNvSpPr/>
          <p:nvPr/>
        </p:nvSpPr>
        <p:spPr>
          <a:xfrm>
            <a:off x="3786188" y="3170011"/>
            <a:ext cx="22145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Day 9 - Thursday</a:t>
            </a:r>
            <a:endParaRPr lang="en-US" sz="634" dirty="0"/>
          </a:p>
        </p:txBody>
      </p:sp>
      <p:sp>
        <p:nvSpPr>
          <p:cNvPr id="43" name="Text 40"/>
          <p:cNvSpPr/>
          <p:nvPr/>
        </p:nvSpPr>
        <p:spPr>
          <a:xfrm>
            <a:off x="3786188" y="3339675"/>
            <a:ext cx="221456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API gateway configured with middleware and rate limiting</a:t>
            </a:r>
            <a:endParaRPr lang="en-US" sz="634" dirty="0"/>
          </a:p>
        </p:txBody>
      </p:sp>
      <p:sp>
        <p:nvSpPr>
          <p:cNvPr id="44" name="Shape 41"/>
          <p:cNvSpPr/>
          <p:nvPr/>
        </p:nvSpPr>
        <p:spPr>
          <a:xfrm>
            <a:off x="3357563" y="3713997"/>
            <a:ext cx="285750" cy="28575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5" name="Text 42"/>
          <p:cNvSpPr/>
          <p:nvPr/>
        </p:nvSpPr>
        <p:spPr>
          <a:xfrm>
            <a:off x="3357563" y="3713997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10</a:t>
            </a:r>
            <a:endParaRPr lang="en-US" sz="683" dirty="0"/>
          </a:p>
        </p:txBody>
      </p:sp>
      <p:sp>
        <p:nvSpPr>
          <p:cNvPr id="46" name="Text 43"/>
          <p:cNvSpPr/>
          <p:nvPr/>
        </p:nvSpPr>
        <p:spPr>
          <a:xfrm>
            <a:off x="3786188" y="3742572"/>
            <a:ext cx="205966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Day 10 - Friday</a:t>
            </a:r>
            <a:endParaRPr lang="en-US" sz="634" dirty="0"/>
          </a:p>
        </p:txBody>
      </p:sp>
      <p:sp>
        <p:nvSpPr>
          <p:cNvPr id="47" name="Text 44"/>
          <p:cNvSpPr/>
          <p:nvPr/>
        </p:nvSpPr>
        <p:spPr>
          <a:xfrm>
            <a:off x="3786188" y="3912236"/>
            <a:ext cx="205966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Core services functional with CRUD operations</a:t>
            </a:r>
            <a:endParaRPr lang="en-US" sz="634" dirty="0"/>
          </a:p>
        </p:txBody>
      </p:sp>
      <p:sp>
        <p:nvSpPr>
          <p:cNvPr id="48" name="Shape 45"/>
          <p:cNvSpPr/>
          <p:nvPr/>
        </p:nvSpPr>
        <p:spPr>
          <a:xfrm>
            <a:off x="6286500" y="1164431"/>
            <a:ext cx="2428875" cy="242887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164431"/>
            <a:ext cx="2428875" cy="2428875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7043793" y="3707606"/>
            <a:ext cx="91426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Scaling &amp; Growth Path</a:t>
            </a:r>
            <a:endParaRPr lang="en-US" sz="584" dirty="0"/>
          </a:p>
        </p:txBody>
      </p:sp>
      <p:sp>
        <p:nvSpPr>
          <p:cNvPr id="51" name="Shape 47"/>
          <p:cNvSpPr/>
          <p:nvPr/>
        </p:nvSpPr>
        <p:spPr>
          <a:xfrm>
            <a:off x="428625" y="4873768"/>
            <a:ext cx="8286750" cy="4697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2" name="Shape 48"/>
          <p:cNvSpPr/>
          <p:nvPr/>
        </p:nvSpPr>
        <p:spPr>
          <a:xfrm>
            <a:off x="428625" y="4873768"/>
            <a:ext cx="828675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Text 49"/>
          <p:cNvSpPr/>
          <p:nvPr/>
        </p:nvSpPr>
        <p:spPr>
          <a:xfrm>
            <a:off x="428625" y="5045218"/>
            <a:ext cx="169519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Phase Completion</a:t>
            </a:r>
            <a:endParaRPr lang="en-US" sz="534" dirty="0"/>
          </a:p>
        </p:txBody>
      </p:sp>
      <p:sp>
        <p:nvSpPr>
          <p:cNvPr id="54" name="Text 50"/>
          <p:cNvSpPr/>
          <p:nvPr/>
        </p:nvSpPr>
        <p:spPr>
          <a:xfrm>
            <a:off x="428625" y="5180949"/>
            <a:ext cx="16951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End of Day 10 (Friday, Week 2)</a:t>
            </a:r>
            <a:endParaRPr lang="en-US" sz="784" dirty="0"/>
          </a:p>
        </p:txBody>
      </p:sp>
      <p:sp>
        <p:nvSpPr>
          <p:cNvPr id="55" name="Text 51"/>
          <p:cNvSpPr/>
          <p:nvPr/>
        </p:nvSpPr>
        <p:spPr>
          <a:xfrm>
            <a:off x="3258917" y="5045218"/>
            <a:ext cx="9270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Ready for Phase 2</a:t>
            </a:r>
            <a:endParaRPr lang="en-US" sz="534" dirty="0"/>
          </a:p>
        </p:txBody>
      </p:sp>
      <p:sp>
        <p:nvSpPr>
          <p:cNvPr id="56" name="Text 52"/>
          <p:cNvSpPr/>
          <p:nvPr/>
        </p:nvSpPr>
        <p:spPr>
          <a:xfrm>
            <a:off x="3258917" y="5180949"/>
            <a:ext cx="9270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Monday, Week 3</a:t>
            </a:r>
            <a:endParaRPr lang="en-US" sz="784" dirty="0"/>
          </a:p>
        </p:txBody>
      </p:sp>
      <p:sp>
        <p:nvSpPr>
          <p:cNvPr id="57" name="Text 53"/>
          <p:cNvSpPr/>
          <p:nvPr/>
        </p:nvSpPr>
        <p:spPr>
          <a:xfrm>
            <a:off x="5321117" y="5045218"/>
            <a:ext cx="339425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Key Milestone</a:t>
            </a:r>
            <a:endParaRPr lang="en-US" sz="534" dirty="0"/>
          </a:p>
        </p:txBody>
      </p:sp>
      <p:sp>
        <p:nvSpPr>
          <p:cNvPr id="58" name="Text 54"/>
          <p:cNvSpPr/>
          <p:nvPr/>
        </p:nvSpPr>
        <p:spPr>
          <a:xfrm>
            <a:off x="5321117" y="5180949"/>
            <a:ext cx="33942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Zero infrastructure blockers for core platform development</a:t>
            </a:r>
            <a:endParaRPr lang="en-US" sz="78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F3A7D"/>
                </a:solidFill>
              </a:rPr>
              <a:t>Handoff: Ready for Phase 2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428625" y="992981"/>
            <a:ext cx="2647931" cy="32432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992981"/>
            <a:ext cx="2647931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628650" y="1193006"/>
            <a:ext cx="22478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Infrastructure Ready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628650" y="1425178"/>
            <a:ext cx="1078455" cy="212527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8" name="Text 5"/>
          <p:cNvSpPr/>
          <p:nvPr/>
        </p:nvSpPr>
        <p:spPr>
          <a:xfrm>
            <a:off x="628650" y="1425178"/>
            <a:ext cx="1078455" cy="212527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F3A7D"/>
                </a:solidFill>
              </a:rPr>
              <a:t>Phase 1 Complete</a:t>
            </a:r>
            <a:endParaRPr lang="en-US" sz="534" dirty="0"/>
          </a:p>
        </p:txBody>
      </p:sp>
      <p:sp>
        <p:nvSpPr>
          <p:cNvPr id="9" name="Shape 6"/>
          <p:cNvSpPr/>
          <p:nvPr/>
        </p:nvSpPr>
        <p:spPr>
          <a:xfrm>
            <a:off x="628650" y="1794867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628650" y="179486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11" name="Text 8"/>
          <p:cNvSpPr/>
          <p:nvPr/>
        </p:nvSpPr>
        <p:spPr>
          <a:xfrm>
            <a:off x="857250" y="1780580"/>
            <a:ext cx="2019281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GitHub repositories with branch protection enabled</a:t>
            </a:r>
            <a:endParaRPr lang="en-US" sz="674" dirty="0"/>
          </a:p>
        </p:txBody>
      </p:sp>
      <p:sp>
        <p:nvSpPr>
          <p:cNvPr id="12" name="Shape 9"/>
          <p:cNvSpPr/>
          <p:nvPr/>
        </p:nvSpPr>
        <p:spPr>
          <a:xfrm>
            <a:off x="628650" y="2140614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628650" y="214061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14" name="Text 11"/>
          <p:cNvSpPr/>
          <p:nvPr/>
        </p:nvSpPr>
        <p:spPr>
          <a:xfrm>
            <a:off x="857250" y="2126326"/>
            <a:ext cx="2019281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CI/CD pipeline passing all checks (tests, linting, builds)</a:t>
            </a:r>
            <a:endParaRPr lang="en-US" sz="674" dirty="0"/>
          </a:p>
        </p:txBody>
      </p:sp>
      <p:sp>
        <p:nvSpPr>
          <p:cNvPr id="15" name="Shape 12"/>
          <p:cNvSpPr/>
          <p:nvPr/>
        </p:nvSpPr>
        <p:spPr>
          <a:xfrm>
            <a:off x="628650" y="2486360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628650" y="248636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857250" y="2472072"/>
            <a:ext cx="2019281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AWS infrastructure operational across dev/staging/prod</a:t>
            </a:r>
            <a:endParaRPr lang="en-US" sz="674" dirty="0"/>
          </a:p>
        </p:txBody>
      </p:sp>
      <p:sp>
        <p:nvSpPr>
          <p:cNvPr id="18" name="Shape 15"/>
          <p:cNvSpPr/>
          <p:nvPr/>
        </p:nvSpPr>
        <p:spPr>
          <a:xfrm>
            <a:off x="628650" y="2832106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6"/>
          <p:cNvSpPr/>
          <p:nvPr/>
        </p:nvSpPr>
        <p:spPr>
          <a:xfrm>
            <a:off x="628650" y="283210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857250" y="2817819"/>
            <a:ext cx="2019281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Monitoring dashboards live with 0 critical alerts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628650" y="317785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19"/>
          <p:cNvSpPr/>
          <p:nvPr/>
        </p:nvSpPr>
        <p:spPr>
          <a:xfrm>
            <a:off x="628650" y="317785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857250" y="3163565"/>
            <a:ext cx="2019281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Development environment setup guide completed</a:t>
            </a:r>
            <a:endParaRPr lang="en-US" sz="674" dirty="0"/>
          </a:p>
        </p:txBody>
      </p:sp>
      <p:sp>
        <p:nvSpPr>
          <p:cNvPr id="24" name="Shape 21"/>
          <p:cNvSpPr/>
          <p:nvPr/>
        </p:nvSpPr>
        <p:spPr>
          <a:xfrm>
            <a:off x="3248006" y="992981"/>
            <a:ext cx="2647959" cy="32432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3248006" y="992981"/>
            <a:ext cx="2647959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3"/>
          <p:cNvSpPr/>
          <p:nvPr/>
        </p:nvSpPr>
        <p:spPr>
          <a:xfrm>
            <a:off x="3448031" y="1193006"/>
            <a:ext cx="224790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Backend Ready</a:t>
            </a:r>
            <a:endParaRPr lang="en-US" sz="885" dirty="0"/>
          </a:p>
        </p:txBody>
      </p:sp>
      <p:sp>
        <p:nvSpPr>
          <p:cNvPr id="27" name="Shape 24"/>
          <p:cNvSpPr/>
          <p:nvPr/>
        </p:nvSpPr>
        <p:spPr>
          <a:xfrm>
            <a:off x="3448031" y="1425178"/>
            <a:ext cx="1078455" cy="212527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28" name="Text 25"/>
          <p:cNvSpPr/>
          <p:nvPr/>
        </p:nvSpPr>
        <p:spPr>
          <a:xfrm>
            <a:off x="3448031" y="1425178"/>
            <a:ext cx="1078455" cy="212527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F3A7D"/>
                </a:solidFill>
              </a:rPr>
              <a:t>Phase 1 Complete</a:t>
            </a:r>
            <a:endParaRPr lang="en-US" sz="534" dirty="0"/>
          </a:p>
        </p:txBody>
      </p:sp>
      <p:sp>
        <p:nvSpPr>
          <p:cNvPr id="29" name="Shape 26"/>
          <p:cNvSpPr/>
          <p:nvPr/>
        </p:nvSpPr>
        <p:spPr>
          <a:xfrm>
            <a:off x="3448031" y="1794867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0" name="Text 27"/>
          <p:cNvSpPr/>
          <p:nvPr/>
        </p:nvSpPr>
        <p:spPr>
          <a:xfrm>
            <a:off x="3448031" y="179486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3676631" y="1780580"/>
            <a:ext cx="201930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Express backend running locally with health check endpoint</a:t>
            </a:r>
            <a:endParaRPr lang="en-US" sz="674" dirty="0"/>
          </a:p>
        </p:txBody>
      </p:sp>
      <p:sp>
        <p:nvSpPr>
          <p:cNvPr id="32" name="Shape 29"/>
          <p:cNvSpPr/>
          <p:nvPr/>
        </p:nvSpPr>
        <p:spPr>
          <a:xfrm>
            <a:off x="3448031" y="2140614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3" name="Text 30"/>
          <p:cNvSpPr/>
          <p:nvPr/>
        </p:nvSpPr>
        <p:spPr>
          <a:xfrm>
            <a:off x="3448031" y="214061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34" name="Text 31"/>
          <p:cNvSpPr/>
          <p:nvPr/>
        </p:nvSpPr>
        <p:spPr>
          <a:xfrm>
            <a:off x="3676631" y="2126326"/>
            <a:ext cx="201930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PostgreSQL database operational with 8 core tables</a:t>
            </a:r>
            <a:endParaRPr lang="en-US" sz="674" dirty="0"/>
          </a:p>
        </p:txBody>
      </p:sp>
      <p:sp>
        <p:nvSpPr>
          <p:cNvPr id="35" name="Shape 32"/>
          <p:cNvSpPr/>
          <p:nvPr/>
        </p:nvSpPr>
        <p:spPr>
          <a:xfrm>
            <a:off x="3448031" y="2486360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6" name="Text 33"/>
          <p:cNvSpPr/>
          <p:nvPr/>
        </p:nvSpPr>
        <p:spPr>
          <a:xfrm>
            <a:off x="3448031" y="248636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3676631" y="2472072"/>
            <a:ext cx="201930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Auth endpoints functional (register, login, OAuth)</a:t>
            </a:r>
            <a:endParaRPr lang="en-US" sz="674" dirty="0"/>
          </a:p>
        </p:txBody>
      </p:sp>
      <p:sp>
        <p:nvSpPr>
          <p:cNvPr id="38" name="Shape 35"/>
          <p:cNvSpPr/>
          <p:nvPr/>
        </p:nvSpPr>
        <p:spPr>
          <a:xfrm>
            <a:off x="3448031" y="2832106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9" name="Text 36"/>
          <p:cNvSpPr/>
          <p:nvPr/>
        </p:nvSpPr>
        <p:spPr>
          <a:xfrm>
            <a:off x="3448031" y="283210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40" name="Text 37"/>
          <p:cNvSpPr/>
          <p:nvPr/>
        </p:nvSpPr>
        <p:spPr>
          <a:xfrm>
            <a:off x="3676631" y="2817819"/>
            <a:ext cx="201930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API gateway configured with middleware and rate limiting</a:t>
            </a:r>
            <a:endParaRPr lang="en-US" sz="674" dirty="0"/>
          </a:p>
        </p:txBody>
      </p:sp>
      <p:sp>
        <p:nvSpPr>
          <p:cNvPr id="41" name="Shape 38"/>
          <p:cNvSpPr/>
          <p:nvPr/>
        </p:nvSpPr>
        <p:spPr>
          <a:xfrm>
            <a:off x="3448031" y="317785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2" name="Text 39"/>
          <p:cNvSpPr/>
          <p:nvPr/>
        </p:nvSpPr>
        <p:spPr>
          <a:xfrm>
            <a:off x="3448031" y="317785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43" name="Text 40"/>
          <p:cNvSpPr/>
          <p:nvPr/>
        </p:nvSpPr>
        <p:spPr>
          <a:xfrm>
            <a:off x="3676631" y="3163565"/>
            <a:ext cx="201930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Core services functional with CRUD operations</a:t>
            </a:r>
            <a:endParaRPr lang="en-US" sz="674" dirty="0"/>
          </a:p>
        </p:txBody>
      </p:sp>
      <p:sp>
        <p:nvSpPr>
          <p:cNvPr id="44" name="Shape 41"/>
          <p:cNvSpPr/>
          <p:nvPr/>
        </p:nvSpPr>
        <p:spPr>
          <a:xfrm>
            <a:off x="6067416" y="992981"/>
            <a:ext cx="2647931" cy="32432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2"/>
          <p:cNvSpPr/>
          <p:nvPr/>
        </p:nvSpPr>
        <p:spPr>
          <a:xfrm>
            <a:off x="6067416" y="992981"/>
            <a:ext cx="2647931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6" name="Text 43"/>
          <p:cNvSpPr/>
          <p:nvPr/>
        </p:nvSpPr>
        <p:spPr>
          <a:xfrm>
            <a:off x="6267441" y="1193006"/>
            <a:ext cx="22478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Team Ready</a:t>
            </a:r>
            <a:endParaRPr lang="en-US" sz="885" dirty="0"/>
          </a:p>
        </p:txBody>
      </p:sp>
      <p:sp>
        <p:nvSpPr>
          <p:cNvPr id="47" name="Shape 44"/>
          <p:cNvSpPr/>
          <p:nvPr/>
        </p:nvSpPr>
        <p:spPr>
          <a:xfrm>
            <a:off x="6267441" y="1425178"/>
            <a:ext cx="1078455" cy="212527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48" name="Text 45"/>
          <p:cNvSpPr/>
          <p:nvPr/>
        </p:nvSpPr>
        <p:spPr>
          <a:xfrm>
            <a:off x="6267441" y="1425178"/>
            <a:ext cx="1078455" cy="212527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0F3A7D"/>
                </a:solidFill>
              </a:rPr>
              <a:t>Phase 1 Complete</a:t>
            </a:r>
            <a:endParaRPr lang="en-US" sz="534" dirty="0"/>
          </a:p>
        </p:txBody>
      </p:sp>
      <p:sp>
        <p:nvSpPr>
          <p:cNvPr id="49" name="Shape 46"/>
          <p:cNvSpPr/>
          <p:nvPr/>
        </p:nvSpPr>
        <p:spPr>
          <a:xfrm>
            <a:off x="6267441" y="1794867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0" name="Text 47"/>
          <p:cNvSpPr/>
          <p:nvPr/>
        </p:nvSpPr>
        <p:spPr>
          <a:xfrm>
            <a:off x="6267441" y="179486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51" name="Text 48"/>
          <p:cNvSpPr/>
          <p:nvPr/>
        </p:nvSpPr>
        <p:spPr>
          <a:xfrm>
            <a:off x="6496041" y="1780580"/>
            <a:ext cx="2005692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All developers can clone, build, and run locally</a:t>
            </a:r>
            <a:endParaRPr lang="en-US" sz="674" dirty="0"/>
          </a:p>
        </p:txBody>
      </p:sp>
      <p:sp>
        <p:nvSpPr>
          <p:cNvPr id="52" name="Shape 49"/>
          <p:cNvSpPr/>
          <p:nvPr/>
        </p:nvSpPr>
        <p:spPr>
          <a:xfrm>
            <a:off x="6267441" y="2037755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3" name="Text 50"/>
          <p:cNvSpPr/>
          <p:nvPr/>
        </p:nvSpPr>
        <p:spPr>
          <a:xfrm>
            <a:off x="6267441" y="203775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54" name="Text 51"/>
          <p:cNvSpPr/>
          <p:nvPr/>
        </p:nvSpPr>
        <p:spPr>
          <a:xfrm>
            <a:off x="6496041" y="2023467"/>
            <a:ext cx="2019281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Development workflow established and documented</a:t>
            </a:r>
            <a:endParaRPr lang="en-US" sz="674" dirty="0"/>
          </a:p>
        </p:txBody>
      </p:sp>
      <p:sp>
        <p:nvSpPr>
          <p:cNvPr id="55" name="Shape 52"/>
          <p:cNvSpPr/>
          <p:nvPr/>
        </p:nvSpPr>
        <p:spPr>
          <a:xfrm>
            <a:off x="6267441" y="2383501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6" name="Text 53"/>
          <p:cNvSpPr/>
          <p:nvPr/>
        </p:nvSpPr>
        <p:spPr>
          <a:xfrm>
            <a:off x="6267441" y="238350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57" name="Text 54"/>
          <p:cNvSpPr/>
          <p:nvPr/>
        </p:nvSpPr>
        <p:spPr>
          <a:xfrm>
            <a:off x="6496041" y="2369214"/>
            <a:ext cx="2019281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Code review process in place (2 reviewers required)</a:t>
            </a:r>
            <a:endParaRPr lang="en-US" sz="674" dirty="0"/>
          </a:p>
        </p:txBody>
      </p:sp>
      <p:sp>
        <p:nvSpPr>
          <p:cNvPr id="58" name="Shape 55"/>
          <p:cNvSpPr/>
          <p:nvPr/>
        </p:nvSpPr>
        <p:spPr>
          <a:xfrm>
            <a:off x="6267441" y="2729247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9" name="Text 56"/>
          <p:cNvSpPr/>
          <p:nvPr/>
        </p:nvSpPr>
        <p:spPr>
          <a:xfrm>
            <a:off x="6267441" y="272924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60" name="Text 57"/>
          <p:cNvSpPr/>
          <p:nvPr/>
        </p:nvSpPr>
        <p:spPr>
          <a:xfrm>
            <a:off x="6496041" y="2714960"/>
            <a:ext cx="2019281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Monitoring and alerting configured and operational</a:t>
            </a:r>
            <a:endParaRPr lang="en-US" sz="674" dirty="0"/>
          </a:p>
        </p:txBody>
      </p:sp>
      <p:sp>
        <p:nvSpPr>
          <p:cNvPr id="61" name="Shape 58"/>
          <p:cNvSpPr/>
          <p:nvPr/>
        </p:nvSpPr>
        <p:spPr>
          <a:xfrm>
            <a:off x="6267441" y="3074994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2" name="Text 59"/>
          <p:cNvSpPr/>
          <p:nvPr/>
        </p:nvSpPr>
        <p:spPr>
          <a:xfrm>
            <a:off x="6267441" y="307499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63" name="Text 60"/>
          <p:cNvSpPr/>
          <p:nvPr/>
        </p:nvSpPr>
        <p:spPr>
          <a:xfrm>
            <a:off x="6496041" y="3060706"/>
            <a:ext cx="2019281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Team trained on development environment and tools</a:t>
            </a:r>
            <a:endParaRPr lang="en-US" sz="674" dirty="0"/>
          </a:p>
        </p:txBody>
      </p:sp>
      <p:sp>
        <p:nvSpPr>
          <p:cNvPr id="64" name="Shape 61"/>
          <p:cNvSpPr/>
          <p:nvPr/>
        </p:nvSpPr>
        <p:spPr>
          <a:xfrm>
            <a:off x="428625" y="4464844"/>
            <a:ext cx="8286750" cy="6786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428625" y="4464844"/>
            <a:ext cx="828675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6" name="Text 63"/>
          <p:cNvSpPr/>
          <p:nvPr/>
        </p:nvSpPr>
        <p:spPr>
          <a:xfrm>
            <a:off x="428625" y="4643438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Phase 2 Start Date</a:t>
            </a:r>
            <a:endParaRPr lang="en-US" sz="683" dirty="0"/>
          </a:p>
        </p:txBody>
      </p:sp>
      <p:sp>
        <p:nvSpPr>
          <p:cNvPr id="67" name="Text 64"/>
          <p:cNvSpPr/>
          <p:nvPr/>
        </p:nvSpPr>
        <p:spPr>
          <a:xfrm>
            <a:off x="428625" y="4864894"/>
            <a:ext cx="4000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Monday, Week 3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 Core Platform Development begins immediately with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zero infrastructure blockers</a:t>
            </a:r>
            <a:endParaRPr lang="en-US" sz="634" dirty="0"/>
          </a:p>
        </p:txBody>
      </p:sp>
      <p:sp>
        <p:nvSpPr>
          <p:cNvPr id="68" name="Text 65"/>
          <p:cNvSpPr/>
          <p:nvPr/>
        </p:nvSpPr>
        <p:spPr>
          <a:xfrm>
            <a:off x="4714875" y="4643438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Phase 2 Deliverables</a:t>
            </a:r>
            <a:endParaRPr lang="en-US" sz="683" dirty="0"/>
          </a:p>
        </p:txBody>
      </p:sp>
      <p:sp>
        <p:nvSpPr>
          <p:cNvPr id="69" name="Text 66"/>
          <p:cNvSpPr/>
          <p:nvPr/>
        </p:nvSpPr>
        <p:spPr>
          <a:xfrm>
            <a:off x="4714875" y="4864894"/>
            <a:ext cx="4000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Pack Service, Execution Engine, Composer Engine, Credits &amp; Billing, Visualisation Service, and User &amp; Project Service implementation</a:t>
            </a:r>
            <a:endParaRPr lang="en-US" sz="67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5000625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F3A7D"/>
                </a:solidFill>
              </a:rPr>
              <a:t>Quality Assurance: Standards Embedded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1285875"/>
            <a:ext cx="5000625" cy="255389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Testing Approach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428625" y="1641277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64127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628650" y="1626989"/>
            <a:ext cx="180789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Unit tests for all core services and utilities</a:t>
            </a:r>
            <a:endParaRPr lang="en-US" sz="674" dirty="0"/>
          </a:p>
        </p:txBody>
      </p:sp>
      <p:sp>
        <p:nvSpPr>
          <p:cNvPr id="8" name="Shape 5"/>
          <p:cNvSpPr/>
          <p:nvPr/>
        </p:nvSpPr>
        <p:spPr>
          <a:xfrm>
            <a:off x="428625" y="1855589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185558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628650" y="1841302"/>
            <a:ext cx="21693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Integration tests for API endpoints and workflows</a:t>
            </a:r>
            <a:endParaRPr lang="en-US" sz="674" dirty="0"/>
          </a:p>
        </p:txBody>
      </p:sp>
      <p:sp>
        <p:nvSpPr>
          <p:cNvPr id="11" name="Shape 8"/>
          <p:cNvSpPr/>
          <p:nvPr/>
        </p:nvSpPr>
        <p:spPr>
          <a:xfrm>
            <a:off x="428625" y="2069902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428625" y="206990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628650" y="2055614"/>
            <a:ext cx="155147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End-to-end tests for user workflows</a:t>
            </a:r>
            <a:endParaRPr lang="en-US" sz="674" dirty="0"/>
          </a:p>
        </p:txBody>
      </p:sp>
      <p:sp>
        <p:nvSpPr>
          <p:cNvPr id="14" name="Shape 11"/>
          <p:cNvSpPr/>
          <p:nvPr/>
        </p:nvSpPr>
        <p:spPr>
          <a:xfrm>
            <a:off x="428625" y="2284214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428625" y="228421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16" name="Text 13"/>
          <p:cNvSpPr/>
          <p:nvPr/>
        </p:nvSpPr>
        <p:spPr>
          <a:xfrm>
            <a:off x="628650" y="2269927"/>
            <a:ext cx="16240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Performance testing and load testing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428625" y="2655689"/>
            <a:ext cx="5000625" cy="255389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Code Quality Standards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428625" y="3011091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6"/>
          <p:cNvSpPr/>
          <p:nvPr/>
        </p:nvSpPr>
        <p:spPr>
          <a:xfrm>
            <a:off x="428625" y="301109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628650" y="2996803"/>
            <a:ext cx="204657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ESLint + Prettier for consistent code formatting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428625" y="3225403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322540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628650" y="3211116"/>
            <a:ext cx="162551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TypeScript strict mode for type safety</a:t>
            </a:r>
            <a:endParaRPr lang="en-US" sz="674" dirty="0"/>
          </a:p>
        </p:txBody>
      </p:sp>
      <p:sp>
        <p:nvSpPr>
          <p:cNvPr id="24" name="Shape 21"/>
          <p:cNvSpPr/>
          <p:nvPr/>
        </p:nvSpPr>
        <p:spPr>
          <a:xfrm>
            <a:off x="428625" y="3439716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2"/>
          <p:cNvSpPr/>
          <p:nvPr/>
        </p:nvSpPr>
        <p:spPr>
          <a:xfrm>
            <a:off x="428625" y="343971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26" name="Text 23"/>
          <p:cNvSpPr/>
          <p:nvPr/>
        </p:nvSpPr>
        <p:spPr>
          <a:xfrm>
            <a:off x="628650" y="3425428"/>
            <a:ext cx="202586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Code review process with 2 required approvals</a:t>
            </a:r>
            <a:endParaRPr lang="en-US" sz="674" dirty="0"/>
          </a:p>
        </p:txBody>
      </p:sp>
      <p:sp>
        <p:nvSpPr>
          <p:cNvPr id="27" name="Shape 24"/>
          <p:cNvSpPr/>
          <p:nvPr/>
        </p:nvSpPr>
        <p:spPr>
          <a:xfrm>
            <a:off x="428625" y="3654028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5"/>
          <p:cNvSpPr/>
          <p:nvPr/>
        </p:nvSpPr>
        <p:spPr>
          <a:xfrm>
            <a:off x="428625" y="365402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29" name="Text 26"/>
          <p:cNvSpPr/>
          <p:nvPr/>
        </p:nvSpPr>
        <p:spPr>
          <a:xfrm>
            <a:off x="628650" y="3639741"/>
            <a:ext cx="206141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Security scanning with Snyk and OWASP checks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428625" y="4025503"/>
            <a:ext cx="5000625" cy="255389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Documentation Requirements</a:t>
            </a:r>
            <a:endParaRPr lang="en-US" sz="784" dirty="0"/>
          </a:p>
        </p:txBody>
      </p:sp>
      <p:sp>
        <p:nvSpPr>
          <p:cNvPr id="31" name="Shape 28"/>
          <p:cNvSpPr/>
          <p:nvPr/>
        </p:nvSpPr>
        <p:spPr>
          <a:xfrm>
            <a:off x="428625" y="4380905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29"/>
          <p:cNvSpPr/>
          <p:nvPr/>
        </p:nvSpPr>
        <p:spPr>
          <a:xfrm>
            <a:off x="428625" y="438090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628650" y="4366617"/>
            <a:ext cx="21451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API documentation with OpenAPI/Swagger specs</a:t>
            </a:r>
            <a:endParaRPr lang="en-US" sz="674" dirty="0"/>
          </a:p>
        </p:txBody>
      </p:sp>
      <p:sp>
        <p:nvSpPr>
          <p:cNvPr id="34" name="Shape 31"/>
          <p:cNvSpPr/>
          <p:nvPr/>
        </p:nvSpPr>
        <p:spPr>
          <a:xfrm>
            <a:off x="428625" y="4595217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5" name="Text 32"/>
          <p:cNvSpPr/>
          <p:nvPr/>
        </p:nvSpPr>
        <p:spPr>
          <a:xfrm>
            <a:off x="428625" y="459521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36" name="Text 33"/>
          <p:cNvSpPr/>
          <p:nvPr/>
        </p:nvSpPr>
        <p:spPr>
          <a:xfrm>
            <a:off x="628650" y="4580930"/>
            <a:ext cx="175803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Development setup guide and runbooks</a:t>
            </a:r>
            <a:endParaRPr lang="en-US" sz="674" dirty="0"/>
          </a:p>
        </p:txBody>
      </p:sp>
      <p:sp>
        <p:nvSpPr>
          <p:cNvPr id="37" name="Shape 34"/>
          <p:cNvSpPr/>
          <p:nvPr/>
        </p:nvSpPr>
        <p:spPr>
          <a:xfrm>
            <a:off x="428625" y="4809530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8" name="Text 35"/>
          <p:cNvSpPr/>
          <p:nvPr/>
        </p:nvSpPr>
        <p:spPr>
          <a:xfrm>
            <a:off x="428625" y="480953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39" name="Text 36"/>
          <p:cNvSpPr/>
          <p:nvPr/>
        </p:nvSpPr>
        <p:spPr>
          <a:xfrm>
            <a:off x="628650" y="4795242"/>
            <a:ext cx="157740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Architecture decision records (ADRs)</a:t>
            </a:r>
            <a:endParaRPr lang="en-US" sz="674" dirty="0"/>
          </a:p>
        </p:txBody>
      </p:sp>
      <p:sp>
        <p:nvSpPr>
          <p:cNvPr id="40" name="Shape 37"/>
          <p:cNvSpPr/>
          <p:nvPr/>
        </p:nvSpPr>
        <p:spPr>
          <a:xfrm>
            <a:off x="5857875" y="357188"/>
            <a:ext cx="2714625" cy="271462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357188"/>
            <a:ext cx="2714625" cy="2714625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6764434" y="3186113"/>
            <a:ext cx="90150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Quality Drives Growth</a:t>
            </a:r>
            <a:endParaRPr lang="en-US" sz="584" dirty="0"/>
          </a:p>
        </p:txBody>
      </p:sp>
      <p:sp>
        <p:nvSpPr>
          <p:cNvPr id="43" name="Text 39"/>
          <p:cNvSpPr/>
          <p:nvPr/>
        </p:nvSpPr>
        <p:spPr>
          <a:xfrm>
            <a:off x="5715000" y="3595092"/>
            <a:ext cx="108758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QA Impact</a:t>
            </a:r>
            <a:endParaRPr lang="en-US" sz="534" dirty="0"/>
          </a:p>
        </p:txBody>
      </p:sp>
      <p:sp>
        <p:nvSpPr>
          <p:cNvPr id="44" name="Text 40"/>
          <p:cNvSpPr/>
          <p:nvPr/>
        </p:nvSpPr>
        <p:spPr>
          <a:xfrm>
            <a:off x="5715000" y="3716536"/>
            <a:ext cx="108758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50% fewer bugs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 in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production</a:t>
            </a:r>
            <a:endParaRPr lang="en-US" sz="683" dirty="0"/>
          </a:p>
        </p:txBody>
      </p:sp>
      <p:sp>
        <p:nvSpPr>
          <p:cNvPr id="45" name="Text 41"/>
          <p:cNvSpPr/>
          <p:nvPr/>
        </p:nvSpPr>
        <p:spPr>
          <a:xfrm>
            <a:off x="6802580" y="3595092"/>
            <a:ext cx="99049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Team Velocity</a:t>
            </a:r>
            <a:endParaRPr lang="en-US" sz="534" dirty="0"/>
          </a:p>
        </p:txBody>
      </p:sp>
      <p:sp>
        <p:nvSpPr>
          <p:cNvPr id="46" name="Text 42"/>
          <p:cNvSpPr/>
          <p:nvPr/>
        </p:nvSpPr>
        <p:spPr>
          <a:xfrm>
            <a:off x="6802580" y="3716536"/>
            <a:ext cx="99049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30% faster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 feature 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delivery</a:t>
            </a:r>
            <a:endParaRPr lang="en-US" sz="683" dirty="0"/>
          </a:p>
        </p:txBody>
      </p:sp>
      <p:sp>
        <p:nvSpPr>
          <p:cNvPr id="47" name="Text 43"/>
          <p:cNvSpPr/>
          <p:nvPr/>
        </p:nvSpPr>
        <p:spPr>
          <a:xfrm>
            <a:off x="7793078" y="3595092"/>
            <a:ext cx="9222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User Satisfaction</a:t>
            </a:r>
            <a:endParaRPr lang="en-US" sz="534" dirty="0"/>
          </a:p>
        </p:txBody>
      </p:sp>
      <p:sp>
        <p:nvSpPr>
          <p:cNvPr id="48" name="Text 44"/>
          <p:cNvSpPr/>
          <p:nvPr/>
        </p:nvSpPr>
        <p:spPr>
          <a:xfrm>
            <a:off x="7793078" y="3716536"/>
            <a:ext cx="92229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95%+ uptime</a:t>
            </a:r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F3A7D"/>
                </a:solidFill>
              </a:rPr>
              <a:t> guaranteed</a:t>
            </a:r>
            <a:endParaRPr lang="en-US" sz="68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652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F3A7D"/>
                </a:solidFill>
              </a:rPr>
              <a:t>Communication Plan: Transparent Updates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764381"/>
            <a:ext cx="8286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Stakeholder communication cadence ensuring visibility and alignment throughout the phase</a:t>
            </a:r>
            <a:endParaRPr lang="en-US" sz="727" dirty="0"/>
          </a:p>
        </p:txBody>
      </p:sp>
      <p:sp>
        <p:nvSpPr>
          <p:cNvPr id="5" name="Shape 2"/>
          <p:cNvSpPr/>
          <p:nvPr/>
        </p:nvSpPr>
        <p:spPr>
          <a:xfrm>
            <a:off x="428625" y="1071563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07156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📅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728663" y="1112639"/>
            <a:ext cx="79823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Daily Standups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742950" y="1357313"/>
            <a:ext cx="3729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Time &amp; Format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742950" y="1487686"/>
            <a:ext cx="372903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9:00 AM UTC — 15m, Zoom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742950" y="1660559"/>
            <a:ext cx="3729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Attendees</a:t>
            </a:r>
            <a:endParaRPr lang="en-US" sz="584" dirty="0"/>
          </a:p>
        </p:txBody>
      </p:sp>
      <p:sp>
        <p:nvSpPr>
          <p:cNvPr id="11" name="Text 8"/>
          <p:cNvSpPr/>
          <p:nvPr/>
        </p:nvSpPr>
        <p:spPr>
          <a:xfrm>
            <a:off x="742950" y="1790933"/>
            <a:ext cx="3729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999999"/>
                </a:solidFill>
              </a:rPr>
              <a:t>Eng Lead, Backend, DevOps, Frontend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742950" y="1949881"/>
            <a:ext cx="3729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Content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742950" y="2080254"/>
            <a:ext cx="372903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Completed tasks, blockers, today's plan</a:t>
            </a:r>
            <a:endParaRPr lang="en-US" sz="674" dirty="0"/>
          </a:p>
        </p:txBody>
      </p:sp>
      <p:sp>
        <p:nvSpPr>
          <p:cNvPr id="14" name="Shape 11"/>
          <p:cNvSpPr/>
          <p:nvPr/>
        </p:nvSpPr>
        <p:spPr>
          <a:xfrm>
            <a:off x="428625" y="2295990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428625" y="229599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📊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728663" y="2337067"/>
            <a:ext cx="86059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Weekly Updates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742950" y="2581740"/>
            <a:ext cx="3729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Time &amp; Format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742950" y="2712114"/>
            <a:ext cx="372903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Fri 4:00 PM UTC — 30m, Zoom + Slides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742950" y="2884987"/>
            <a:ext cx="3729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Attendees</a:t>
            </a:r>
            <a:endParaRPr lang="en-US" sz="584" dirty="0"/>
          </a:p>
        </p:txBody>
      </p:sp>
      <p:sp>
        <p:nvSpPr>
          <p:cNvPr id="20" name="Text 17"/>
          <p:cNvSpPr/>
          <p:nvPr/>
        </p:nvSpPr>
        <p:spPr>
          <a:xfrm>
            <a:off x="742950" y="3015360"/>
            <a:ext cx="3729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999999"/>
                </a:solidFill>
              </a:rPr>
              <a:t>PM, Eng Lead, CTO, Stakeholders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742950" y="3174309"/>
            <a:ext cx="3729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Content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742950" y="3304682"/>
            <a:ext cx="372903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Week summary, metrics, risks, next plan</a:t>
            </a:r>
            <a:endParaRPr lang="en-US" sz="674" dirty="0"/>
          </a:p>
        </p:txBody>
      </p:sp>
      <p:sp>
        <p:nvSpPr>
          <p:cNvPr id="23" name="Shape 20"/>
          <p:cNvSpPr/>
          <p:nvPr/>
        </p:nvSpPr>
        <p:spPr>
          <a:xfrm>
            <a:off x="428625" y="3520418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1"/>
          <p:cNvSpPr/>
          <p:nvPr/>
        </p:nvSpPr>
        <p:spPr>
          <a:xfrm>
            <a:off x="428625" y="352041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🎯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728663" y="3561494"/>
            <a:ext cx="90795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Monthly Reviews</a:t>
            </a:r>
            <a:endParaRPr lang="en-US" sz="734" dirty="0"/>
          </a:p>
        </p:txBody>
      </p:sp>
      <p:sp>
        <p:nvSpPr>
          <p:cNvPr id="26" name="Text 23"/>
          <p:cNvSpPr/>
          <p:nvPr/>
        </p:nvSpPr>
        <p:spPr>
          <a:xfrm>
            <a:off x="742950" y="3806168"/>
            <a:ext cx="3729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Time &amp; Format</a:t>
            </a:r>
            <a:endParaRPr lang="en-US" sz="584" dirty="0"/>
          </a:p>
        </p:txBody>
      </p:sp>
      <p:sp>
        <p:nvSpPr>
          <p:cNvPr id="27" name="Text 24"/>
          <p:cNvSpPr/>
          <p:nvPr/>
        </p:nvSpPr>
        <p:spPr>
          <a:xfrm>
            <a:off x="742950" y="3936541"/>
            <a:ext cx="372903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End of month — 60m, Exec presentation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742950" y="4109414"/>
            <a:ext cx="3729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Attendees</a:t>
            </a:r>
            <a:endParaRPr lang="en-US" sz="584" dirty="0"/>
          </a:p>
        </p:txBody>
      </p:sp>
      <p:sp>
        <p:nvSpPr>
          <p:cNvPr id="29" name="Text 26"/>
          <p:cNvSpPr/>
          <p:nvPr/>
        </p:nvSpPr>
        <p:spPr>
          <a:xfrm>
            <a:off x="742950" y="4239788"/>
            <a:ext cx="3729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i="1" dirty="0">
                <a:solidFill>
                  <a:srgbClr val="999999"/>
                </a:solidFill>
              </a:rPr>
              <a:t>Exec team, Board (as needed), Key stakeholders</a:t>
            </a:r>
            <a:endParaRPr lang="en-US" sz="621" dirty="0"/>
          </a:p>
        </p:txBody>
      </p:sp>
      <p:sp>
        <p:nvSpPr>
          <p:cNvPr id="30" name="Text 27"/>
          <p:cNvSpPr/>
          <p:nvPr/>
        </p:nvSpPr>
        <p:spPr>
          <a:xfrm>
            <a:off x="742950" y="4398736"/>
            <a:ext cx="37290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Content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742950" y="4529110"/>
            <a:ext cx="372903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Phase progress, budget, timeline, decisions</a:t>
            </a:r>
            <a:endParaRPr lang="en-US" sz="674" dirty="0"/>
          </a:p>
        </p:txBody>
      </p:sp>
      <p:sp>
        <p:nvSpPr>
          <p:cNvPr id="32" name="Shape 29"/>
          <p:cNvSpPr/>
          <p:nvPr/>
        </p:nvSpPr>
        <p:spPr>
          <a:xfrm>
            <a:off x="4672013" y="1071563"/>
            <a:ext cx="4043363" cy="1714500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013" y="1071563"/>
            <a:ext cx="4043363" cy="17145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5009136" y="2871788"/>
            <a:ext cx="33690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Key Metrics Dashboard: Acquisition, Engagement, Conversion, Retention, Revenue</a:t>
            </a:r>
            <a:endParaRPr lang="en-US" sz="584" dirty="0"/>
          </a:p>
        </p:txBody>
      </p:sp>
      <p:sp>
        <p:nvSpPr>
          <p:cNvPr id="35" name="Shape 31"/>
          <p:cNvSpPr/>
          <p:nvPr/>
        </p:nvSpPr>
        <p:spPr>
          <a:xfrm>
            <a:off x="428625" y="4773420"/>
            <a:ext cx="8286750" cy="49180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6" name="Shape 32"/>
          <p:cNvSpPr/>
          <p:nvPr/>
        </p:nvSpPr>
        <p:spPr>
          <a:xfrm>
            <a:off x="428625" y="4773420"/>
            <a:ext cx="828675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7" name="Text 33"/>
          <p:cNvSpPr/>
          <p:nvPr/>
        </p:nvSpPr>
        <p:spPr>
          <a:xfrm>
            <a:off x="428625" y="4859145"/>
            <a:ext cx="41433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Escalation Path</a:t>
            </a:r>
            <a:endParaRPr lang="en-US" sz="584" dirty="0"/>
          </a:p>
        </p:txBody>
      </p:sp>
      <p:sp>
        <p:nvSpPr>
          <p:cNvPr id="38" name="Text 34"/>
          <p:cNvSpPr/>
          <p:nvPr/>
        </p:nvSpPr>
        <p:spPr>
          <a:xfrm>
            <a:off x="428625" y="5018094"/>
            <a:ext cx="41433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Technical Issues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 → Eng Lead | </a:t>
            </a:r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Infrastructure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 → DevOps | </a:t>
            </a:r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Timeline/Budget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 → PM | </a:t>
            </a:r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Critical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 →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CTO/Exec</a:t>
            </a:r>
            <a:endParaRPr lang="en-US" sz="584" dirty="0"/>
          </a:p>
        </p:txBody>
      </p:sp>
      <p:sp>
        <p:nvSpPr>
          <p:cNvPr id="39" name="Text 35"/>
          <p:cNvSpPr/>
          <p:nvPr/>
        </p:nvSpPr>
        <p:spPr>
          <a:xfrm>
            <a:off x="6047017" y="4859145"/>
            <a:ext cx="26683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Documentation</a:t>
            </a:r>
            <a:endParaRPr lang="en-US" sz="584" dirty="0"/>
          </a:p>
        </p:txBody>
      </p:sp>
      <p:sp>
        <p:nvSpPr>
          <p:cNvPr id="40" name="Text 36"/>
          <p:cNvSpPr/>
          <p:nvPr/>
        </p:nvSpPr>
        <p:spPr>
          <a:xfrm>
            <a:off x="6047017" y="5018094"/>
            <a:ext cx="266835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Updates in </a:t>
            </a:r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Confluence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 • Metrics in </a:t>
            </a:r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Jira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 • Decisions in </a:t>
            </a:r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Decision Log</a:t>
            </a:r>
            <a:endParaRPr lang="en-US" sz="62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F3A7D"/>
                </a:solidFill>
              </a:rPr>
              <a:t>Next Steps: Ready to Execute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992981"/>
            <a:ext cx="4057650" cy="24645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Immediate Actions (This Week)</a:t>
            </a:r>
            <a:endParaRPr lang="en-US" sz="885" dirty="0"/>
          </a:p>
        </p:txBody>
      </p:sp>
      <p:sp>
        <p:nvSpPr>
          <p:cNvPr id="5" name="Shape 2"/>
          <p:cNvSpPr/>
          <p:nvPr/>
        </p:nvSpPr>
        <p:spPr>
          <a:xfrm>
            <a:off x="428625" y="1296591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29659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742950" y="1296591"/>
            <a:ext cx="282697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Secure Stakeholder Approval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742950" y="1451967"/>
            <a:ext cx="282697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Review plan, address concerns, obtain sign-off on timeline and budget</a:t>
            </a:r>
            <a:endParaRPr lang="en-US" sz="621" dirty="0"/>
          </a:p>
        </p:txBody>
      </p:sp>
      <p:sp>
        <p:nvSpPr>
          <p:cNvPr id="9" name="Shape 6"/>
          <p:cNvSpPr/>
          <p:nvPr/>
        </p:nvSpPr>
        <p:spPr>
          <a:xfrm>
            <a:off x="428625" y="1614822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161482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742950" y="1614822"/>
            <a:ext cx="287438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Finalize Team Assignments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742950" y="1770199"/>
            <a:ext cx="287438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Confirm all 12 team members, establish roles, schedule kickoff meeting</a:t>
            </a:r>
            <a:endParaRPr lang="en-US" sz="621" dirty="0"/>
          </a:p>
        </p:txBody>
      </p:sp>
      <p:sp>
        <p:nvSpPr>
          <p:cNvPr id="13" name="Shape 10"/>
          <p:cNvSpPr/>
          <p:nvPr/>
        </p:nvSpPr>
        <p:spPr>
          <a:xfrm>
            <a:off x="428625" y="1933054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193305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742950" y="1933054"/>
            <a:ext cx="298307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Prepare Infrastructure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742950" y="2088431"/>
            <a:ext cx="298307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AWS account setup, GitHub organization, communication tools configured</a:t>
            </a:r>
            <a:endParaRPr lang="en-US" sz="621" dirty="0"/>
          </a:p>
        </p:txBody>
      </p:sp>
      <p:sp>
        <p:nvSpPr>
          <p:cNvPr id="17" name="Shape 14"/>
          <p:cNvSpPr/>
          <p:nvPr/>
        </p:nvSpPr>
        <p:spPr>
          <a:xfrm>
            <a:off x="428625" y="2251286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225128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742950" y="2251286"/>
            <a:ext cx="30302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Create JIRA Project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742950" y="2406662"/>
            <a:ext cx="303023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Import all 10 tickets for Week 1 and 2, configure workflow and automations</a:t>
            </a:r>
            <a:endParaRPr lang="en-US" sz="621" dirty="0"/>
          </a:p>
        </p:txBody>
      </p:sp>
      <p:sp>
        <p:nvSpPr>
          <p:cNvPr id="21" name="Text 18"/>
          <p:cNvSpPr/>
          <p:nvPr/>
        </p:nvSpPr>
        <p:spPr>
          <a:xfrm>
            <a:off x="428625" y="2612380"/>
            <a:ext cx="4057650" cy="24645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Week 1 Kickoff (Monday)</a:t>
            </a:r>
            <a:endParaRPr lang="en-US" sz="885" dirty="0"/>
          </a:p>
        </p:txBody>
      </p:sp>
      <p:sp>
        <p:nvSpPr>
          <p:cNvPr id="22" name="Shape 19"/>
          <p:cNvSpPr/>
          <p:nvPr/>
        </p:nvSpPr>
        <p:spPr>
          <a:xfrm>
            <a:off x="428625" y="2915989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0"/>
          <p:cNvSpPr/>
          <p:nvPr/>
        </p:nvSpPr>
        <p:spPr>
          <a:xfrm>
            <a:off x="428625" y="291598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742950" y="2915989"/>
            <a:ext cx="300450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Team Kickoff Meeting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742950" y="3071366"/>
            <a:ext cx="300450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Project overview, team introductions, roles and responsibilities clarification</a:t>
            </a:r>
            <a:endParaRPr lang="en-US" sz="621" dirty="0"/>
          </a:p>
        </p:txBody>
      </p:sp>
      <p:sp>
        <p:nvSpPr>
          <p:cNvPr id="26" name="Shape 23"/>
          <p:cNvSpPr/>
          <p:nvPr/>
        </p:nvSpPr>
        <p:spPr>
          <a:xfrm>
            <a:off x="428625" y="3234221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7" name="Text 24"/>
          <p:cNvSpPr/>
          <p:nvPr/>
        </p:nvSpPr>
        <p:spPr>
          <a:xfrm>
            <a:off x="428625" y="323422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742950" y="3234221"/>
            <a:ext cx="258188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Development Environment Setup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742950" y="3389598"/>
            <a:ext cx="258188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All developers clone repos, install dependencies, run local builds</a:t>
            </a:r>
            <a:endParaRPr lang="en-US" sz="621" dirty="0"/>
          </a:p>
        </p:txBody>
      </p:sp>
      <p:sp>
        <p:nvSpPr>
          <p:cNvPr id="30" name="Shape 27"/>
          <p:cNvSpPr/>
          <p:nvPr/>
        </p:nvSpPr>
        <p:spPr>
          <a:xfrm>
            <a:off x="428625" y="3552453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Text 28"/>
          <p:cNvSpPr/>
          <p:nvPr/>
        </p:nvSpPr>
        <p:spPr>
          <a:xfrm>
            <a:off x="428625" y="355245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742950" y="3552453"/>
            <a:ext cx="249358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GitHub Repository Initialization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742950" y="3707829"/>
            <a:ext cx="2493587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Create repos, configure branch protection, set up team access</a:t>
            </a:r>
            <a:endParaRPr lang="en-US" sz="621" dirty="0"/>
          </a:p>
        </p:txBody>
      </p:sp>
      <p:sp>
        <p:nvSpPr>
          <p:cNvPr id="34" name="Shape 31"/>
          <p:cNvSpPr/>
          <p:nvPr/>
        </p:nvSpPr>
        <p:spPr>
          <a:xfrm>
            <a:off x="428625" y="3870685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5" name="Text 32"/>
          <p:cNvSpPr/>
          <p:nvPr/>
        </p:nvSpPr>
        <p:spPr>
          <a:xfrm>
            <a:off x="428625" y="387068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742950" y="3870685"/>
            <a:ext cx="218353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Daily Standups Begin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742950" y="4026061"/>
            <a:ext cx="218353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9:00 AM daily, 15 minutes, Engineering Lead facilitates</a:t>
            </a:r>
            <a:endParaRPr lang="en-US" sz="621" dirty="0"/>
          </a:p>
        </p:txBody>
      </p:sp>
      <p:sp>
        <p:nvSpPr>
          <p:cNvPr id="38" name="Shape 35"/>
          <p:cNvSpPr/>
          <p:nvPr/>
        </p:nvSpPr>
        <p:spPr>
          <a:xfrm>
            <a:off x="428625" y="4188916"/>
            <a:ext cx="228600" cy="2286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9" name="Text 36"/>
          <p:cNvSpPr/>
          <p:nvPr/>
        </p:nvSpPr>
        <p:spPr>
          <a:xfrm>
            <a:off x="428625" y="41889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5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742950" y="4188916"/>
            <a:ext cx="27423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First Sprint Planning</a:t>
            </a:r>
            <a:endParaRPr lang="en-US" sz="634" dirty="0"/>
          </a:p>
        </p:txBody>
      </p:sp>
      <p:sp>
        <p:nvSpPr>
          <p:cNvPr id="41" name="Text 38"/>
          <p:cNvSpPr/>
          <p:nvPr/>
        </p:nvSpPr>
        <p:spPr>
          <a:xfrm>
            <a:off x="742950" y="4344293"/>
            <a:ext cx="274236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666666"/>
                </a:solidFill>
              </a:rPr>
              <a:t>Review JIRA tickets, estimate story points, assign tasks to developers</a:t>
            </a:r>
            <a:endParaRPr lang="en-US" sz="621" dirty="0"/>
          </a:p>
        </p:txBody>
      </p:sp>
      <p:sp>
        <p:nvSpPr>
          <p:cNvPr id="42" name="Text 39"/>
          <p:cNvSpPr/>
          <p:nvPr/>
        </p:nvSpPr>
        <p:spPr>
          <a:xfrm>
            <a:off x="4657725" y="992981"/>
            <a:ext cx="4057650" cy="24645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Success Criteria for Phase Completion</a:t>
            </a:r>
            <a:endParaRPr lang="en-US" sz="885" dirty="0"/>
          </a:p>
        </p:txBody>
      </p:sp>
      <p:sp>
        <p:nvSpPr>
          <p:cNvPr id="43" name="Shape 40"/>
          <p:cNvSpPr/>
          <p:nvPr/>
        </p:nvSpPr>
        <p:spPr>
          <a:xfrm>
            <a:off x="4657725" y="1296591"/>
            <a:ext cx="4057650" cy="3000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1"/>
          <p:cNvSpPr/>
          <p:nvPr/>
        </p:nvSpPr>
        <p:spPr>
          <a:xfrm>
            <a:off x="4729163" y="1382316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5" name="Text 42"/>
          <p:cNvSpPr/>
          <p:nvPr/>
        </p:nvSpPr>
        <p:spPr>
          <a:xfrm>
            <a:off x="4729163" y="138231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46" name="Text 43"/>
          <p:cNvSpPr/>
          <p:nvPr/>
        </p:nvSpPr>
        <p:spPr>
          <a:xfrm>
            <a:off x="4957763" y="1368028"/>
            <a:ext cx="210679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All infrastructure operational with zero critical issues</a:t>
            </a:r>
            <a:endParaRPr lang="en-US" sz="621" dirty="0"/>
          </a:p>
        </p:txBody>
      </p:sp>
      <p:sp>
        <p:nvSpPr>
          <p:cNvPr id="47" name="Shape 44"/>
          <p:cNvSpPr/>
          <p:nvPr/>
        </p:nvSpPr>
        <p:spPr>
          <a:xfrm>
            <a:off x="4657725" y="1639491"/>
            <a:ext cx="4057650" cy="3000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5"/>
          <p:cNvSpPr/>
          <p:nvPr/>
        </p:nvSpPr>
        <p:spPr>
          <a:xfrm>
            <a:off x="4729163" y="1725216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9" name="Text 46"/>
          <p:cNvSpPr/>
          <p:nvPr/>
        </p:nvSpPr>
        <p:spPr>
          <a:xfrm>
            <a:off x="4729163" y="172521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50" name="Text 47"/>
          <p:cNvSpPr/>
          <p:nvPr/>
        </p:nvSpPr>
        <p:spPr>
          <a:xfrm>
            <a:off x="4957763" y="1710928"/>
            <a:ext cx="185466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Backend running locally for all team members</a:t>
            </a:r>
            <a:endParaRPr lang="en-US" sz="621" dirty="0"/>
          </a:p>
        </p:txBody>
      </p:sp>
      <p:sp>
        <p:nvSpPr>
          <p:cNvPr id="51" name="Shape 48"/>
          <p:cNvSpPr/>
          <p:nvPr/>
        </p:nvSpPr>
        <p:spPr>
          <a:xfrm>
            <a:off x="4657725" y="1982391"/>
            <a:ext cx="4057650" cy="3000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9"/>
          <p:cNvSpPr/>
          <p:nvPr/>
        </p:nvSpPr>
        <p:spPr>
          <a:xfrm>
            <a:off x="4729163" y="2068116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3" name="Text 50"/>
          <p:cNvSpPr/>
          <p:nvPr/>
        </p:nvSpPr>
        <p:spPr>
          <a:xfrm>
            <a:off x="4729163" y="206811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54" name="Text 51"/>
          <p:cNvSpPr/>
          <p:nvPr/>
        </p:nvSpPr>
        <p:spPr>
          <a:xfrm>
            <a:off x="4957763" y="2053828"/>
            <a:ext cx="184191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Database schema complete with 8 core tables</a:t>
            </a:r>
            <a:endParaRPr lang="en-US" sz="621" dirty="0"/>
          </a:p>
        </p:txBody>
      </p:sp>
      <p:sp>
        <p:nvSpPr>
          <p:cNvPr id="55" name="Shape 52"/>
          <p:cNvSpPr/>
          <p:nvPr/>
        </p:nvSpPr>
        <p:spPr>
          <a:xfrm>
            <a:off x="4657725" y="2325291"/>
            <a:ext cx="4057650" cy="3000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3"/>
          <p:cNvSpPr/>
          <p:nvPr/>
        </p:nvSpPr>
        <p:spPr>
          <a:xfrm>
            <a:off x="4729163" y="2411016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7" name="Text 54"/>
          <p:cNvSpPr/>
          <p:nvPr/>
        </p:nvSpPr>
        <p:spPr>
          <a:xfrm>
            <a:off x="4729163" y="241101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58" name="Text 55"/>
          <p:cNvSpPr/>
          <p:nvPr/>
        </p:nvSpPr>
        <p:spPr>
          <a:xfrm>
            <a:off x="4957763" y="2396728"/>
            <a:ext cx="196860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Auth endpoints functional (register, login, OAuth)</a:t>
            </a:r>
            <a:endParaRPr lang="en-US" sz="621" dirty="0"/>
          </a:p>
        </p:txBody>
      </p:sp>
      <p:sp>
        <p:nvSpPr>
          <p:cNvPr id="59" name="Shape 56"/>
          <p:cNvSpPr/>
          <p:nvPr/>
        </p:nvSpPr>
        <p:spPr>
          <a:xfrm>
            <a:off x="4657725" y="2668191"/>
            <a:ext cx="4057650" cy="3000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7"/>
          <p:cNvSpPr/>
          <p:nvPr/>
        </p:nvSpPr>
        <p:spPr>
          <a:xfrm>
            <a:off x="4729163" y="2753916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1" name="Text 58"/>
          <p:cNvSpPr/>
          <p:nvPr/>
        </p:nvSpPr>
        <p:spPr>
          <a:xfrm>
            <a:off x="4729163" y="275391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62" name="Text 59"/>
          <p:cNvSpPr/>
          <p:nvPr/>
        </p:nvSpPr>
        <p:spPr>
          <a:xfrm>
            <a:off x="4957763" y="2739628"/>
            <a:ext cx="162417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100% of planned story points completed</a:t>
            </a:r>
            <a:endParaRPr lang="en-US" sz="621" dirty="0"/>
          </a:p>
        </p:txBody>
      </p:sp>
      <p:sp>
        <p:nvSpPr>
          <p:cNvPr id="63" name="Shape 60"/>
          <p:cNvSpPr/>
          <p:nvPr/>
        </p:nvSpPr>
        <p:spPr>
          <a:xfrm>
            <a:off x="4657725" y="3011091"/>
            <a:ext cx="4057650" cy="3000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Shape 61"/>
          <p:cNvSpPr/>
          <p:nvPr/>
        </p:nvSpPr>
        <p:spPr>
          <a:xfrm>
            <a:off x="4729163" y="3096816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5" name="Text 62"/>
          <p:cNvSpPr/>
          <p:nvPr/>
        </p:nvSpPr>
        <p:spPr>
          <a:xfrm>
            <a:off x="4729163" y="309681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66" name="Text 63"/>
          <p:cNvSpPr/>
          <p:nvPr/>
        </p:nvSpPr>
        <p:spPr>
          <a:xfrm>
            <a:off x="4957763" y="3082528"/>
            <a:ext cx="183728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Zero critical bugs in infrastructure or backend</a:t>
            </a:r>
            <a:endParaRPr lang="en-US" sz="621" dirty="0"/>
          </a:p>
        </p:txBody>
      </p:sp>
      <p:sp>
        <p:nvSpPr>
          <p:cNvPr id="67" name="Shape 64"/>
          <p:cNvSpPr/>
          <p:nvPr/>
        </p:nvSpPr>
        <p:spPr>
          <a:xfrm>
            <a:off x="4657725" y="3353991"/>
            <a:ext cx="4057650" cy="3000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hape 65"/>
          <p:cNvSpPr/>
          <p:nvPr/>
        </p:nvSpPr>
        <p:spPr>
          <a:xfrm>
            <a:off x="4729163" y="3439716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9" name="Text 66"/>
          <p:cNvSpPr/>
          <p:nvPr/>
        </p:nvSpPr>
        <p:spPr>
          <a:xfrm>
            <a:off x="4729163" y="343971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70" name="Text 67"/>
          <p:cNvSpPr/>
          <p:nvPr/>
        </p:nvSpPr>
        <p:spPr>
          <a:xfrm>
            <a:off x="4957763" y="3425428"/>
            <a:ext cx="169281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Development guide completed and tested</a:t>
            </a:r>
            <a:endParaRPr lang="en-US" sz="621" dirty="0"/>
          </a:p>
        </p:txBody>
      </p:sp>
      <p:sp>
        <p:nvSpPr>
          <p:cNvPr id="71" name="Shape 68"/>
          <p:cNvSpPr/>
          <p:nvPr/>
        </p:nvSpPr>
        <p:spPr>
          <a:xfrm>
            <a:off x="4657725" y="3696891"/>
            <a:ext cx="4057650" cy="3000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69"/>
          <p:cNvSpPr/>
          <p:nvPr/>
        </p:nvSpPr>
        <p:spPr>
          <a:xfrm>
            <a:off x="4729163" y="3782616"/>
            <a:ext cx="142875" cy="1428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3" name="Text 70"/>
          <p:cNvSpPr/>
          <p:nvPr/>
        </p:nvSpPr>
        <p:spPr>
          <a:xfrm>
            <a:off x="4729163" y="378261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✓</a:t>
            </a:r>
            <a:endParaRPr lang="en-US" sz="584" dirty="0"/>
          </a:p>
        </p:txBody>
      </p:sp>
      <p:sp>
        <p:nvSpPr>
          <p:cNvPr id="74" name="Text 71"/>
          <p:cNvSpPr/>
          <p:nvPr/>
        </p:nvSpPr>
        <p:spPr>
          <a:xfrm>
            <a:off x="4957763" y="3768328"/>
            <a:ext cx="171204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Team ready to begin Phase 2 development</a:t>
            </a:r>
            <a:endParaRPr lang="en-US" sz="621" dirty="0"/>
          </a:p>
        </p:txBody>
      </p:sp>
      <p:sp>
        <p:nvSpPr>
          <p:cNvPr id="75" name="Shape 72"/>
          <p:cNvSpPr/>
          <p:nvPr/>
        </p:nvSpPr>
        <p:spPr>
          <a:xfrm>
            <a:off x="428625" y="4730948"/>
            <a:ext cx="828675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6" name="Shape 73"/>
          <p:cNvSpPr/>
          <p:nvPr/>
        </p:nvSpPr>
        <p:spPr>
          <a:xfrm>
            <a:off x="428625" y="4730948"/>
            <a:ext cx="828675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7" name="Text 74"/>
          <p:cNvSpPr/>
          <p:nvPr/>
        </p:nvSpPr>
        <p:spPr>
          <a:xfrm>
            <a:off x="428625" y="4823817"/>
            <a:ext cx="26860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Phase Start</a:t>
            </a:r>
            <a:endParaRPr lang="en-US" sz="534" dirty="0"/>
          </a:p>
        </p:txBody>
      </p:sp>
      <p:sp>
        <p:nvSpPr>
          <p:cNvPr id="78" name="Text 75"/>
          <p:cNvSpPr/>
          <p:nvPr/>
        </p:nvSpPr>
        <p:spPr>
          <a:xfrm>
            <a:off x="428625" y="4988123"/>
            <a:ext cx="26860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Monday, Week 1</a:t>
            </a:r>
            <a:endParaRPr lang="en-US" sz="784" dirty="0"/>
          </a:p>
        </p:txBody>
      </p:sp>
      <p:sp>
        <p:nvSpPr>
          <p:cNvPr id="79" name="Text 76"/>
          <p:cNvSpPr/>
          <p:nvPr/>
        </p:nvSpPr>
        <p:spPr>
          <a:xfrm>
            <a:off x="3228975" y="4823817"/>
            <a:ext cx="26860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Phase Duration</a:t>
            </a:r>
            <a:endParaRPr lang="en-US" sz="534" dirty="0"/>
          </a:p>
        </p:txBody>
      </p:sp>
      <p:sp>
        <p:nvSpPr>
          <p:cNvPr id="80" name="Text 77"/>
          <p:cNvSpPr/>
          <p:nvPr/>
        </p:nvSpPr>
        <p:spPr>
          <a:xfrm>
            <a:off x="3228975" y="4988123"/>
            <a:ext cx="26860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10 Business Days</a:t>
            </a:r>
            <a:endParaRPr lang="en-US" sz="734" dirty="0"/>
          </a:p>
        </p:txBody>
      </p:sp>
      <p:sp>
        <p:nvSpPr>
          <p:cNvPr id="81" name="Text 78"/>
          <p:cNvSpPr/>
          <p:nvPr/>
        </p:nvSpPr>
        <p:spPr>
          <a:xfrm>
            <a:off x="6029325" y="4823817"/>
            <a:ext cx="26860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Ready for Phase 2</a:t>
            </a:r>
            <a:endParaRPr lang="en-US" sz="534" dirty="0"/>
          </a:p>
        </p:txBody>
      </p:sp>
      <p:sp>
        <p:nvSpPr>
          <p:cNvPr id="82" name="Text 79"/>
          <p:cNvSpPr/>
          <p:nvPr/>
        </p:nvSpPr>
        <p:spPr>
          <a:xfrm>
            <a:off x="6029325" y="4988123"/>
            <a:ext cx="268605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Friday, Week 2</a:t>
            </a:r>
            <a:endParaRPr lang="en-US" sz="73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9599302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F3A7D"/>
                </a:solidFill>
              </a:rPr>
              <a:t>Appendix: Detailed Task List — 10 JIRA Tickets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1036458"/>
            <a:ext cx="3695077" cy="255389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Week 1: Infrastructure Setup (39 Story Points)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428625" y="1377572"/>
            <a:ext cx="3695077" cy="5379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406147"/>
            <a:ext cx="5462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PFORGE-101</a:t>
            </a:r>
            <a:endParaRPr lang="en-US" sz="584" dirty="0"/>
          </a:p>
        </p:txBody>
      </p:sp>
      <p:sp>
        <p:nvSpPr>
          <p:cNvPr id="7" name="Shape 4"/>
          <p:cNvSpPr/>
          <p:nvPr/>
        </p:nvSpPr>
        <p:spPr>
          <a:xfrm>
            <a:off x="3737939" y="1406147"/>
            <a:ext cx="357188" cy="1643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3737939" y="1406147"/>
            <a:ext cx="35718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5 pts</a:t>
            </a:r>
            <a:endParaRPr lang="en-US" sz="534" dirty="0"/>
          </a:p>
        </p:txBody>
      </p:sp>
      <p:sp>
        <p:nvSpPr>
          <p:cNvPr id="9" name="Text 6"/>
          <p:cNvSpPr/>
          <p:nvPr/>
        </p:nvSpPr>
        <p:spPr>
          <a:xfrm>
            <a:off x="457200" y="1613315"/>
            <a:ext cx="3637927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Initialize GitHub Repositories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457200" y="1776896"/>
            <a:ext cx="3637927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Create 3 repos (backend, frontend, mobile), set up branch protection, team access, folder structure</a:t>
            </a:r>
            <a:endParaRPr lang="en-US" sz="568" dirty="0"/>
          </a:p>
        </p:txBody>
      </p:sp>
      <p:sp>
        <p:nvSpPr>
          <p:cNvPr id="11" name="Shape 8"/>
          <p:cNvSpPr/>
          <p:nvPr/>
        </p:nvSpPr>
        <p:spPr>
          <a:xfrm>
            <a:off x="428625" y="1972624"/>
            <a:ext cx="3695077" cy="5379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001199"/>
            <a:ext cx="5462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PFORGE-102</a:t>
            </a:r>
            <a:endParaRPr lang="en-US" sz="584" dirty="0"/>
          </a:p>
        </p:txBody>
      </p:sp>
      <p:sp>
        <p:nvSpPr>
          <p:cNvPr id="13" name="Shape 10"/>
          <p:cNvSpPr/>
          <p:nvPr/>
        </p:nvSpPr>
        <p:spPr>
          <a:xfrm>
            <a:off x="3737939" y="2001199"/>
            <a:ext cx="357188" cy="1643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3737939" y="2001199"/>
            <a:ext cx="35718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8 pts</a:t>
            </a:r>
            <a:endParaRPr lang="en-US" sz="534" dirty="0"/>
          </a:p>
        </p:txBody>
      </p:sp>
      <p:sp>
        <p:nvSpPr>
          <p:cNvPr id="15" name="Text 12"/>
          <p:cNvSpPr/>
          <p:nvPr/>
        </p:nvSpPr>
        <p:spPr>
          <a:xfrm>
            <a:off x="457200" y="2208368"/>
            <a:ext cx="3637927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Set Up GitHub Actions CI/CD Pipeline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457200" y="2371948"/>
            <a:ext cx="3637927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Configure workflows, automated testing, linting, code coverage, deployment pipeline</a:t>
            </a:r>
            <a:endParaRPr lang="en-US" sz="568" dirty="0"/>
          </a:p>
        </p:txBody>
      </p:sp>
      <p:sp>
        <p:nvSpPr>
          <p:cNvPr id="17" name="Shape 14"/>
          <p:cNvSpPr/>
          <p:nvPr/>
        </p:nvSpPr>
        <p:spPr>
          <a:xfrm>
            <a:off x="428625" y="2567676"/>
            <a:ext cx="3695077" cy="5379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2596251"/>
            <a:ext cx="5462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PFORGE-103</a:t>
            </a:r>
            <a:endParaRPr lang="en-US" sz="584" dirty="0"/>
          </a:p>
        </p:txBody>
      </p:sp>
      <p:sp>
        <p:nvSpPr>
          <p:cNvPr id="19" name="Shape 16"/>
          <p:cNvSpPr/>
          <p:nvPr/>
        </p:nvSpPr>
        <p:spPr>
          <a:xfrm>
            <a:off x="3737939" y="2596251"/>
            <a:ext cx="357188" cy="1643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7"/>
          <p:cNvSpPr/>
          <p:nvPr/>
        </p:nvSpPr>
        <p:spPr>
          <a:xfrm>
            <a:off x="3737939" y="2596251"/>
            <a:ext cx="35718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13 pts</a:t>
            </a:r>
            <a:endParaRPr lang="en-US" sz="534" dirty="0"/>
          </a:p>
        </p:txBody>
      </p:sp>
      <p:sp>
        <p:nvSpPr>
          <p:cNvPr id="21" name="Text 18"/>
          <p:cNvSpPr/>
          <p:nvPr/>
        </p:nvSpPr>
        <p:spPr>
          <a:xfrm>
            <a:off x="457200" y="2803420"/>
            <a:ext cx="3637927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Configure AWS Infrastructure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457200" y="2967000"/>
            <a:ext cx="3637927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RDS PostgreSQL, ElastiCache Redis, S3 buckets, CloudFront, Lambda, VPC setup</a:t>
            </a:r>
            <a:endParaRPr lang="en-US" sz="568" dirty="0"/>
          </a:p>
        </p:txBody>
      </p:sp>
      <p:sp>
        <p:nvSpPr>
          <p:cNvPr id="23" name="Shape 20"/>
          <p:cNvSpPr/>
          <p:nvPr/>
        </p:nvSpPr>
        <p:spPr>
          <a:xfrm>
            <a:off x="428625" y="3162728"/>
            <a:ext cx="3695077" cy="5379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3191303"/>
            <a:ext cx="5462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PFORGE-104</a:t>
            </a:r>
            <a:endParaRPr lang="en-US" sz="584" dirty="0"/>
          </a:p>
        </p:txBody>
      </p:sp>
      <p:sp>
        <p:nvSpPr>
          <p:cNvPr id="25" name="Shape 22"/>
          <p:cNvSpPr/>
          <p:nvPr/>
        </p:nvSpPr>
        <p:spPr>
          <a:xfrm>
            <a:off x="3737939" y="3191303"/>
            <a:ext cx="357188" cy="1643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3"/>
          <p:cNvSpPr/>
          <p:nvPr/>
        </p:nvSpPr>
        <p:spPr>
          <a:xfrm>
            <a:off x="3737939" y="3191303"/>
            <a:ext cx="35718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8 pts</a:t>
            </a:r>
            <a:endParaRPr lang="en-US" sz="534" dirty="0"/>
          </a:p>
        </p:txBody>
      </p:sp>
      <p:sp>
        <p:nvSpPr>
          <p:cNvPr id="27" name="Text 24"/>
          <p:cNvSpPr/>
          <p:nvPr/>
        </p:nvSpPr>
        <p:spPr>
          <a:xfrm>
            <a:off x="457200" y="3398472"/>
            <a:ext cx="3637927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Set Up Monitoring, Logging &amp; Error Tracking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457200" y="3562052"/>
            <a:ext cx="3637927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Sentry integration, CloudWatch dashboards, ELK stack, alert rules, log aggregation</a:t>
            </a:r>
            <a:endParaRPr lang="en-US" sz="568" dirty="0"/>
          </a:p>
        </p:txBody>
      </p:sp>
      <p:sp>
        <p:nvSpPr>
          <p:cNvPr id="29" name="Shape 26"/>
          <p:cNvSpPr/>
          <p:nvPr/>
        </p:nvSpPr>
        <p:spPr>
          <a:xfrm>
            <a:off x="428625" y="3757780"/>
            <a:ext cx="3695077" cy="5379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457200" y="3786355"/>
            <a:ext cx="5462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PFORGE-105</a:t>
            </a:r>
            <a:endParaRPr lang="en-US" sz="584" dirty="0"/>
          </a:p>
        </p:txBody>
      </p:sp>
      <p:sp>
        <p:nvSpPr>
          <p:cNvPr id="31" name="Shape 28"/>
          <p:cNvSpPr/>
          <p:nvPr/>
        </p:nvSpPr>
        <p:spPr>
          <a:xfrm>
            <a:off x="3737939" y="3786355"/>
            <a:ext cx="357188" cy="1643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29"/>
          <p:cNvSpPr/>
          <p:nvPr/>
        </p:nvSpPr>
        <p:spPr>
          <a:xfrm>
            <a:off x="3737939" y="3786355"/>
            <a:ext cx="35718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5 pts</a:t>
            </a:r>
            <a:endParaRPr lang="en-US" sz="534" dirty="0"/>
          </a:p>
        </p:txBody>
      </p:sp>
      <p:sp>
        <p:nvSpPr>
          <p:cNvPr id="33" name="Text 30"/>
          <p:cNvSpPr/>
          <p:nvPr/>
        </p:nvSpPr>
        <p:spPr>
          <a:xfrm>
            <a:off x="457200" y="3993524"/>
            <a:ext cx="3637927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Create Development Environment Guide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457200" y="4157104"/>
            <a:ext cx="3637927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Setup instructions, troubleshooting, local development workflow, team onboarding</a:t>
            </a:r>
            <a:endParaRPr lang="en-US" sz="568" dirty="0"/>
          </a:p>
        </p:txBody>
      </p:sp>
      <p:sp>
        <p:nvSpPr>
          <p:cNvPr id="35" name="Text 32"/>
          <p:cNvSpPr/>
          <p:nvPr/>
        </p:nvSpPr>
        <p:spPr>
          <a:xfrm>
            <a:off x="4209427" y="1036458"/>
            <a:ext cx="3161026" cy="255389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Week 2: Backend Architecture (47 Story Points)</a:t>
            </a:r>
            <a:endParaRPr lang="en-US" sz="784" dirty="0"/>
          </a:p>
        </p:txBody>
      </p:sp>
      <p:sp>
        <p:nvSpPr>
          <p:cNvPr id="36" name="Shape 33"/>
          <p:cNvSpPr/>
          <p:nvPr/>
        </p:nvSpPr>
        <p:spPr>
          <a:xfrm>
            <a:off x="4209427" y="1377572"/>
            <a:ext cx="3161026" cy="5379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4238002" y="1406147"/>
            <a:ext cx="5462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PFORGE-106</a:t>
            </a:r>
            <a:endParaRPr lang="en-US" sz="584" dirty="0"/>
          </a:p>
        </p:txBody>
      </p:sp>
      <p:sp>
        <p:nvSpPr>
          <p:cNvPr id="38" name="Shape 35"/>
          <p:cNvSpPr/>
          <p:nvPr/>
        </p:nvSpPr>
        <p:spPr>
          <a:xfrm>
            <a:off x="6984690" y="1406147"/>
            <a:ext cx="357188" cy="1643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9" name="Text 36"/>
          <p:cNvSpPr/>
          <p:nvPr/>
        </p:nvSpPr>
        <p:spPr>
          <a:xfrm>
            <a:off x="6984690" y="1406147"/>
            <a:ext cx="35718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8 pts</a:t>
            </a:r>
            <a:endParaRPr lang="en-US" sz="534" dirty="0"/>
          </a:p>
        </p:txBody>
      </p:sp>
      <p:sp>
        <p:nvSpPr>
          <p:cNvPr id="40" name="Text 37"/>
          <p:cNvSpPr/>
          <p:nvPr/>
        </p:nvSpPr>
        <p:spPr>
          <a:xfrm>
            <a:off x="4238002" y="1613315"/>
            <a:ext cx="3103876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Initialize Express Backend</a:t>
            </a:r>
            <a:endParaRPr lang="en-US" sz="634" dirty="0"/>
          </a:p>
        </p:txBody>
      </p:sp>
      <p:sp>
        <p:nvSpPr>
          <p:cNvPr id="41" name="Text 38"/>
          <p:cNvSpPr/>
          <p:nvPr/>
        </p:nvSpPr>
        <p:spPr>
          <a:xfrm>
            <a:off x="4238002" y="1776896"/>
            <a:ext cx="3103876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TypeScript setup, project structure, middleware stack, health check endpoint</a:t>
            </a:r>
            <a:endParaRPr lang="en-US" sz="568" dirty="0"/>
          </a:p>
        </p:txBody>
      </p:sp>
      <p:sp>
        <p:nvSpPr>
          <p:cNvPr id="42" name="Shape 39"/>
          <p:cNvSpPr/>
          <p:nvPr/>
        </p:nvSpPr>
        <p:spPr>
          <a:xfrm>
            <a:off x="4209427" y="1972624"/>
            <a:ext cx="3161026" cy="5379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0"/>
          <p:cNvSpPr/>
          <p:nvPr/>
        </p:nvSpPr>
        <p:spPr>
          <a:xfrm>
            <a:off x="4238002" y="2001199"/>
            <a:ext cx="5462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PFORGE-107</a:t>
            </a:r>
            <a:endParaRPr lang="en-US" sz="584" dirty="0"/>
          </a:p>
        </p:txBody>
      </p:sp>
      <p:sp>
        <p:nvSpPr>
          <p:cNvPr id="44" name="Shape 41"/>
          <p:cNvSpPr/>
          <p:nvPr/>
        </p:nvSpPr>
        <p:spPr>
          <a:xfrm>
            <a:off x="6984690" y="2001199"/>
            <a:ext cx="357188" cy="1643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5" name="Text 42"/>
          <p:cNvSpPr/>
          <p:nvPr/>
        </p:nvSpPr>
        <p:spPr>
          <a:xfrm>
            <a:off x="6984690" y="2001199"/>
            <a:ext cx="35718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13 pts</a:t>
            </a:r>
            <a:endParaRPr lang="en-US" sz="534" dirty="0"/>
          </a:p>
        </p:txBody>
      </p:sp>
      <p:sp>
        <p:nvSpPr>
          <p:cNvPr id="46" name="Text 43"/>
          <p:cNvSpPr/>
          <p:nvPr/>
        </p:nvSpPr>
        <p:spPr>
          <a:xfrm>
            <a:off x="4238002" y="2208368"/>
            <a:ext cx="3103876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Design &amp; Implement Database Schema</a:t>
            </a:r>
            <a:endParaRPr lang="en-US" sz="634" dirty="0"/>
          </a:p>
        </p:txBody>
      </p:sp>
      <p:sp>
        <p:nvSpPr>
          <p:cNvPr id="47" name="Text 44"/>
          <p:cNvSpPr/>
          <p:nvPr/>
        </p:nvSpPr>
        <p:spPr>
          <a:xfrm>
            <a:off x="4238002" y="2371948"/>
            <a:ext cx="3103876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8 core tables, relationships, indexes, constraints, migrations, seed data</a:t>
            </a:r>
            <a:endParaRPr lang="en-US" sz="568" dirty="0"/>
          </a:p>
        </p:txBody>
      </p:sp>
      <p:sp>
        <p:nvSpPr>
          <p:cNvPr id="48" name="Shape 45"/>
          <p:cNvSpPr/>
          <p:nvPr/>
        </p:nvSpPr>
        <p:spPr>
          <a:xfrm>
            <a:off x="4209427" y="2567676"/>
            <a:ext cx="3161026" cy="5379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/>
          <p:nvPr/>
        </p:nvSpPr>
        <p:spPr>
          <a:xfrm>
            <a:off x="4238002" y="2596251"/>
            <a:ext cx="5462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PFORGE-108</a:t>
            </a:r>
            <a:endParaRPr lang="en-US" sz="584" dirty="0"/>
          </a:p>
        </p:txBody>
      </p:sp>
      <p:sp>
        <p:nvSpPr>
          <p:cNvPr id="50" name="Shape 47"/>
          <p:cNvSpPr/>
          <p:nvPr/>
        </p:nvSpPr>
        <p:spPr>
          <a:xfrm>
            <a:off x="6984690" y="2596251"/>
            <a:ext cx="357188" cy="1643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1" name="Text 48"/>
          <p:cNvSpPr/>
          <p:nvPr/>
        </p:nvSpPr>
        <p:spPr>
          <a:xfrm>
            <a:off x="6984690" y="2596251"/>
            <a:ext cx="35718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8 pts</a:t>
            </a:r>
            <a:endParaRPr lang="en-US" sz="534" dirty="0"/>
          </a:p>
        </p:txBody>
      </p:sp>
      <p:sp>
        <p:nvSpPr>
          <p:cNvPr id="52" name="Text 49"/>
          <p:cNvSpPr/>
          <p:nvPr/>
        </p:nvSpPr>
        <p:spPr>
          <a:xfrm>
            <a:off x="4238002" y="2803420"/>
            <a:ext cx="3103876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Implement Authentication System</a:t>
            </a:r>
            <a:endParaRPr lang="en-US" sz="634" dirty="0"/>
          </a:p>
        </p:txBody>
      </p:sp>
      <p:sp>
        <p:nvSpPr>
          <p:cNvPr id="53" name="Text 50"/>
          <p:cNvSpPr/>
          <p:nvPr/>
        </p:nvSpPr>
        <p:spPr>
          <a:xfrm>
            <a:off x="4238002" y="2967000"/>
            <a:ext cx="3103876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JWT tokens, OAuth 2.0 (Google, GitHub), password management, security measures</a:t>
            </a:r>
            <a:endParaRPr lang="en-US" sz="568" dirty="0"/>
          </a:p>
        </p:txBody>
      </p:sp>
      <p:sp>
        <p:nvSpPr>
          <p:cNvPr id="54" name="Shape 51"/>
          <p:cNvSpPr/>
          <p:nvPr/>
        </p:nvSpPr>
        <p:spPr>
          <a:xfrm>
            <a:off x="4209427" y="3162728"/>
            <a:ext cx="3161026" cy="5379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2"/>
          <p:cNvSpPr/>
          <p:nvPr/>
        </p:nvSpPr>
        <p:spPr>
          <a:xfrm>
            <a:off x="4238002" y="3191303"/>
            <a:ext cx="5462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PFORGE-109</a:t>
            </a:r>
            <a:endParaRPr lang="en-US" sz="584" dirty="0"/>
          </a:p>
        </p:txBody>
      </p:sp>
      <p:sp>
        <p:nvSpPr>
          <p:cNvPr id="56" name="Shape 53"/>
          <p:cNvSpPr/>
          <p:nvPr/>
        </p:nvSpPr>
        <p:spPr>
          <a:xfrm>
            <a:off x="6984690" y="3191303"/>
            <a:ext cx="357188" cy="1643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7" name="Text 54"/>
          <p:cNvSpPr/>
          <p:nvPr/>
        </p:nvSpPr>
        <p:spPr>
          <a:xfrm>
            <a:off x="6984690" y="3191303"/>
            <a:ext cx="35718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10 pts</a:t>
            </a:r>
            <a:endParaRPr lang="en-US" sz="534" dirty="0"/>
          </a:p>
        </p:txBody>
      </p:sp>
      <p:sp>
        <p:nvSpPr>
          <p:cNvPr id="58" name="Text 55"/>
          <p:cNvSpPr/>
          <p:nvPr/>
        </p:nvSpPr>
        <p:spPr>
          <a:xfrm>
            <a:off x="4238002" y="3398472"/>
            <a:ext cx="3103876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Configure API Gateway &amp; Middleware</a:t>
            </a:r>
            <a:endParaRPr lang="en-US" sz="634" dirty="0"/>
          </a:p>
        </p:txBody>
      </p:sp>
      <p:sp>
        <p:nvSpPr>
          <p:cNvPr id="59" name="Text 56"/>
          <p:cNvSpPr/>
          <p:nvPr/>
        </p:nvSpPr>
        <p:spPr>
          <a:xfrm>
            <a:off x="4238002" y="3562052"/>
            <a:ext cx="3103876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Express router, versioning, logging, validation, rate limiting, CORS, response formats</a:t>
            </a:r>
            <a:endParaRPr lang="en-US" sz="568" dirty="0"/>
          </a:p>
        </p:txBody>
      </p:sp>
      <p:sp>
        <p:nvSpPr>
          <p:cNvPr id="60" name="Shape 57"/>
          <p:cNvSpPr/>
          <p:nvPr/>
        </p:nvSpPr>
        <p:spPr>
          <a:xfrm>
            <a:off x="4209427" y="3757780"/>
            <a:ext cx="3161026" cy="5379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/>
          <p:nvPr/>
        </p:nvSpPr>
        <p:spPr>
          <a:xfrm>
            <a:off x="4238002" y="3786355"/>
            <a:ext cx="54621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PFORGE-110</a:t>
            </a:r>
            <a:endParaRPr lang="en-US" sz="584" dirty="0"/>
          </a:p>
        </p:txBody>
      </p:sp>
      <p:sp>
        <p:nvSpPr>
          <p:cNvPr id="62" name="Shape 59"/>
          <p:cNvSpPr/>
          <p:nvPr/>
        </p:nvSpPr>
        <p:spPr>
          <a:xfrm>
            <a:off x="6984690" y="3786355"/>
            <a:ext cx="357188" cy="16430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3" name="Text 60"/>
          <p:cNvSpPr/>
          <p:nvPr/>
        </p:nvSpPr>
        <p:spPr>
          <a:xfrm>
            <a:off x="6984690" y="3786355"/>
            <a:ext cx="357188" cy="164306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8 pts</a:t>
            </a:r>
            <a:endParaRPr lang="en-US" sz="534" dirty="0"/>
          </a:p>
        </p:txBody>
      </p:sp>
      <p:sp>
        <p:nvSpPr>
          <p:cNvPr id="64" name="Text 61"/>
          <p:cNvSpPr/>
          <p:nvPr/>
        </p:nvSpPr>
        <p:spPr>
          <a:xfrm>
            <a:off x="4238002" y="3993524"/>
            <a:ext cx="3103876" cy="120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Scaffold Core Services</a:t>
            </a:r>
            <a:endParaRPr lang="en-US" sz="634" dirty="0"/>
          </a:p>
        </p:txBody>
      </p:sp>
      <p:sp>
        <p:nvSpPr>
          <p:cNvPr id="65" name="Text 62"/>
          <p:cNvSpPr/>
          <p:nvPr/>
        </p:nvSpPr>
        <p:spPr>
          <a:xfrm>
            <a:off x="4238002" y="4157104"/>
            <a:ext cx="3103876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User, Project, Pack services with CRUD operations and business logic scaffolding</a:t>
            </a:r>
            <a:endParaRPr lang="en-US" sz="568" dirty="0"/>
          </a:p>
        </p:txBody>
      </p:sp>
      <p:sp>
        <p:nvSpPr>
          <p:cNvPr id="66" name="Shape 63"/>
          <p:cNvSpPr/>
          <p:nvPr/>
        </p:nvSpPr>
        <p:spPr>
          <a:xfrm>
            <a:off x="7456177" y="1036458"/>
            <a:ext cx="2571750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DDDDDD"/>
            </a:solidFill>
            <a:prstDash val="solid"/>
          </a:ln>
        </p:spPr>
      </p:sp>
      <p:pic>
        <p:nvPicPr>
          <p:cNvPr id="6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177" y="1036458"/>
            <a:ext cx="2571750" cy="1571625"/>
          </a:xfrm>
          <a:prstGeom prst="rect">
            <a:avLst/>
          </a:prstGeom>
        </p:spPr>
      </p:pic>
      <p:sp>
        <p:nvSpPr>
          <p:cNvPr id="68" name="Text 64"/>
          <p:cNvSpPr/>
          <p:nvPr/>
        </p:nvSpPr>
        <p:spPr>
          <a:xfrm>
            <a:off x="8000693" y="2693808"/>
            <a:ext cx="14827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Budget Allocation Across Categories</a:t>
            </a:r>
            <a:endParaRPr lang="en-US" sz="584" dirty="0"/>
          </a:p>
        </p:txBody>
      </p:sp>
      <p:sp>
        <p:nvSpPr>
          <p:cNvPr id="69" name="Shape 65"/>
          <p:cNvSpPr/>
          <p:nvPr/>
        </p:nvSpPr>
        <p:spPr>
          <a:xfrm>
            <a:off x="428625" y="4567786"/>
            <a:ext cx="9599302" cy="5036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0" name="Shape 66"/>
          <p:cNvSpPr/>
          <p:nvPr/>
        </p:nvSpPr>
        <p:spPr>
          <a:xfrm>
            <a:off x="428625" y="4567786"/>
            <a:ext cx="9599302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1" name="Text 67"/>
          <p:cNvSpPr/>
          <p:nvPr/>
        </p:nvSpPr>
        <p:spPr>
          <a:xfrm>
            <a:off x="428625" y="4744008"/>
            <a:ext cx="314260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Total Story Points</a:t>
            </a:r>
            <a:endParaRPr lang="en-US" sz="534" dirty="0"/>
          </a:p>
        </p:txBody>
      </p:sp>
      <p:sp>
        <p:nvSpPr>
          <p:cNvPr id="72" name="Text 68"/>
          <p:cNvSpPr/>
          <p:nvPr/>
        </p:nvSpPr>
        <p:spPr>
          <a:xfrm>
            <a:off x="428625" y="4894027"/>
            <a:ext cx="31426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6B35"/>
                </a:solidFill>
              </a:rPr>
              <a:t>86 pts</a:t>
            </a:r>
            <a:endParaRPr lang="en-US" sz="885" dirty="0"/>
          </a:p>
        </p:txBody>
      </p:sp>
      <p:sp>
        <p:nvSpPr>
          <p:cNvPr id="73" name="Text 69"/>
          <p:cNvSpPr/>
          <p:nvPr/>
        </p:nvSpPr>
        <p:spPr>
          <a:xfrm>
            <a:off x="3656958" y="4744008"/>
            <a:ext cx="314260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Team Capacity</a:t>
            </a:r>
            <a:endParaRPr lang="en-US" sz="534" dirty="0"/>
          </a:p>
        </p:txBody>
      </p:sp>
      <p:sp>
        <p:nvSpPr>
          <p:cNvPr id="74" name="Text 70"/>
          <p:cNvSpPr/>
          <p:nvPr/>
        </p:nvSpPr>
        <p:spPr>
          <a:xfrm>
            <a:off x="3656958" y="4894027"/>
            <a:ext cx="31426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12 developers × 2 weeks</a:t>
            </a:r>
            <a:endParaRPr lang="en-US" sz="885" dirty="0"/>
          </a:p>
        </p:txBody>
      </p:sp>
      <p:sp>
        <p:nvSpPr>
          <p:cNvPr id="75" name="Text 71"/>
          <p:cNvSpPr/>
          <p:nvPr/>
        </p:nvSpPr>
        <p:spPr>
          <a:xfrm>
            <a:off x="6885291" y="4744008"/>
            <a:ext cx="31426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Phase Status</a:t>
            </a:r>
            <a:endParaRPr lang="en-US" sz="534" dirty="0"/>
          </a:p>
        </p:txBody>
      </p:sp>
      <p:sp>
        <p:nvSpPr>
          <p:cNvPr id="76" name="Text 72"/>
          <p:cNvSpPr/>
          <p:nvPr/>
        </p:nvSpPr>
        <p:spPr>
          <a:xfrm>
            <a:off x="6885291" y="4894027"/>
            <a:ext cx="314263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Ready to Execute</a:t>
            </a:r>
            <a:endParaRPr lang="en-US" sz="88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352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F3A7D"/>
                </a:solidFill>
              </a:rPr>
              <a:t>Budget Summary: Detailed Allocation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764381"/>
            <a:ext cx="8286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Complete 10-day Foundation &amp; Setup phase budget with cost efficiency metrics and ROI analysis</a:t>
            </a:r>
            <a:endParaRPr lang="en-US" sz="727" dirty="0"/>
          </a:p>
        </p:txBody>
      </p:sp>
      <p:sp>
        <p:nvSpPr>
          <p:cNvPr id="5" name="Text 2"/>
          <p:cNvSpPr/>
          <p:nvPr/>
        </p:nvSpPr>
        <p:spPr>
          <a:xfrm>
            <a:off x="428625" y="1128713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Budget Breakdown by Category</a:t>
            </a:r>
            <a:endParaRPr lang="en-US" sz="784" dirty="0"/>
          </a:p>
        </p:txBody>
      </p:sp>
      <p:sp>
        <p:nvSpPr>
          <p:cNvPr id="6" name="Shape 3"/>
          <p:cNvSpPr/>
          <p:nvPr/>
        </p:nvSpPr>
        <p:spPr>
          <a:xfrm>
            <a:off x="428625" y="1398389"/>
            <a:ext cx="8286750" cy="22556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398389"/>
            <a:ext cx="8286750" cy="333970"/>
          </a:xfrm>
          <a:prstGeom prst="rect">
            <a:avLst/>
          </a:prstGeom>
          <a:solidFill>
            <a:srgbClr val="0F3A7D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398389"/>
            <a:ext cx="2486025" cy="33397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Category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2914650" y="1398389"/>
            <a:ext cx="1657350" cy="33397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Cost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4572000" y="1398389"/>
            <a:ext cx="1243013" cy="33397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% of Total</a:t>
            </a:r>
            <a:endParaRPr lang="en-US" sz="584" dirty="0"/>
          </a:p>
        </p:txBody>
      </p:sp>
      <p:sp>
        <p:nvSpPr>
          <p:cNvPr id="11" name="Text 8"/>
          <p:cNvSpPr/>
          <p:nvPr/>
        </p:nvSpPr>
        <p:spPr>
          <a:xfrm>
            <a:off x="5815013" y="1398389"/>
            <a:ext cx="2900363" cy="33397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ROI Impact</a:t>
            </a:r>
            <a:endParaRPr lang="en-US" sz="584" dirty="0"/>
          </a:p>
        </p:txBody>
      </p:sp>
      <p:sp>
        <p:nvSpPr>
          <p:cNvPr id="12" name="Shape 9"/>
          <p:cNvSpPr/>
          <p:nvPr/>
        </p:nvSpPr>
        <p:spPr>
          <a:xfrm>
            <a:off x="428625" y="1732359"/>
            <a:ext cx="8286750" cy="41433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2139553"/>
            <a:ext cx="8286750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1732359"/>
            <a:ext cx="2486025" cy="410766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Personnel (Engineering Lead + DevOps)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2914650" y="1732359"/>
            <a:ext cx="1657350" cy="410766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$120,000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4572000" y="1732359"/>
            <a:ext cx="1243013" cy="410766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61%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5815013" y="1732359"/>
            <a:ext cx="2900363" cy="410766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Enables 16-week development timeline with zero infrastructure blockers</a:t>
            </a:r>
            <a:endParaRPr lang="en-US" sz="621" dirty="0"/>
          </a:p>
        </p:txBody>
      </p:sp>
      <p:sp>
        <p:nvSpPr>
          <p:cNvPr id="18" name="Shape 15"/>
          <p:cNvSpPr/>
          <p:nvPr/>
        </p:nvSpPr>
        <p:spPr>
          <a:xfrm>
            <a:off x="428625" y="2143125"/>
            <a:ext cx="828675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2564606"/>
            <a:ext cx="8286750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0" name="Text 17"/>
          <p:cNvSpPr/>
          <p:nvPr/>
        </p:nvSpPr>
        <p:spPr>
          <a:xfrm>
            <a:off x="428625" y="2143125"/>
            <a:ext cx="2486025" cy="42505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AWS Infrastructure (RDS, ElastiCache, S3, Lambda)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2914650" y="2143125"/>
            <a:ext cx="1657350" cy="42505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$40,000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4572000" y="2143125"/>
            <a:ext cx="1243013" cy="42505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20%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5815013" y="2143125"/>
            <a:ext cx="2900363" cy="42505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Scalable foundation supporting 100K+ users at launch</a:t>
            </a:r>
            <a:endParaRPr lang="en-US" sz="621" dirty="0"/>
          </a:p>
        </p:txBody>
      </p:sp>
      <p:sp>
        <p:nvSpPr>
          <p:cNvPr id="24" name="Shape 21"/>
          <p:cNvSpPr/>
          <p:nvPr/>
        </p:nvSpPr>
        <p:spPr>
          <a:xfrm>
            <a:off x="428625" y="2568178"/>
            <a:ext cx="8286750" cy="428625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Shape 22"/>
          <p:cNvSpPr/>
          <p:nvPr/>
        </p:nvSpPr>
        <p:spPr>
          <a:xfrm>
            <a:off x="428625" y="2989659"/>
            <a:ext cx="8286750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6" name="Text 23"/>
          <p:cNvSpPr/>
          <p:nvPr/>
        </p:nvSpPr>
        <p:spPr>
          <a:xfrm>
            <a:off x="428625" y="2568178"/>
            <a:ext cx="2486025" cy="42505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Tools &amp; Services (GitHub, Sentry, DataDog, Stripe)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2914650" y="2568178"/>
            <a:ext cx="1657350" cy="42505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$20,000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4572000" y="2568178"/>
            <a:ext cx="1243013" cy="42505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10%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5815013" y="2568178"/>
            <a:ext cx="2900363" cy="42505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Production-grade monitoring and error tracking from Day 1</a:t>
            </a:r>
            <a:endParaRPr lang="en-US" sz="621" dirty="0"/>
          </a:p>
        </p:txBody>
      </p:sp>
      <p:sp>
        <p:nvSpPr>
          <p:cNvPr id="30" name="Shape 27"/>
          <p:cNvSpPr/>
          <p:nvPr/>
        </p:nvSpPr>
        <p:spPr>
          <a:xfrm>
            <a:off x="428625" y="2993231"/>
            <a:ext cx="8286750" cy="31611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428625" y="3302198"/>
            <a:ext cx="8286750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2" name="Text 29"/>
          <p:cNvSpPr/>
          <p:nvPr/>
        </p:nvSpPr>
        <p:spPr>
          <a:xfrm>
            <a:off x="428625" y="2993231"/>
            <a:ext cx="2486025" cy="31253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Contingency (15% buffer for overruns)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2914650" y="2993231"/>
            <a:ext cx="1657350" cy="31253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$16,000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4572000" y="2993231"/>
            <a:ext cx="1243013" cy="31253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8%</a:t>
            </a:r>
            <a:endParaRPr lang="en-US" sz="634" dirty="0"/>
          </a:p>
        </p:txBody>
      </p:sp>
      <p:sp>
        <p:nvSpPr>
          <p:cNvPr id="35" name="Text 32"/>
          <p:cNvSpPr/>
          <p:nvPr/>
        </p:nvSpPr>
        <p:spPr>
          <a:xfrm>
            <a:off x="5815013" y="2993231"/>
            <a:ext cx="2900363" cy="31253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333333"/>
                </a:solidFill>
              </a:rPr>
              <a:t>Risk mitigation for unforeseen delays or scope changes</a:t>
            </a:r>
            <a:endParaRPr lang="en-US" sz="621" dirty="0"/>
          </a:p>
        </p:txBody>
      </p:sp>
      <p:sp>
        <p:nvSpPr>
          <p:cNvPr id="36" name="Shape 33"/>
          <p:cNvSpPr/>
          <p:nvPr/>
        </p:nvSpPr>
        <p:spPr>
          <a:xfrm>
            <a:off x="428625" y="3305770"/>
            <a:ext cx="8286750" cy="316111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37" name="Shape 34"/>
          <p:cNvSpPr/>
          <p:nvPr/>
        </p:nvSpPr>
        <p:spPr>
          <a:xfrm>
            <a:off x="428625" y="3614738"/>
            <a:ext cx="8286750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38" name="Text 35"/>
          <p:cNvSpPr/>
          <p:nvPr/>
        </p:nvSpPr>
        <p:spPr>
          <a:xfrm>
            <a:off x="428625" y="3305770"/>
            <a:ext cx="2486025" cy="31253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Total Phase 1 Budget</a:t>
            </a:r>
            <a:endParaRPr lang="en-US" sz="634" dirty="0"/>
          </a:p>
        </p:txBody>
      </p:sp>
      <p:sp>
        <p:nvSpPr>
          <p:cNvPr id="39" name="Text 36"/>
          <p:cNvSpPr/>
          <p:nvPr/>
        </p:nvSpPr>
        <p:spPr>
          <a:xfrm>
            <a:off x="2914650" y="3305770"/>
            <a:ext cx="1657350" cy="31253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$196,000</a:t>
            </a:r>
            <a:endParaRPr lang="en-US" sz="634" dirty="0"/>
          </a:p>
        </p:txBody>
      </p:sp>
      <p:sp>
        <p:nvSpPr>
          <p:cNvPr id="40" name="Text 37"/>
          <p:cNvSpPr/>
          <p:nvPr/>
        </p:nvSpPr>
        <p:spPr>
          <a:xfrm>
            <a:off x="4572000" y="3305770"/>
            <a:ext cx="1243013" cy="31253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F3A7D"/>
                </a:solidFill>
              </a:rPr>
              <a:t>100%</a:t>
            </a:r>
            <a:endParaRPr lang="en-US" sz="634" dirty="0"/>
          </a:p>
        </p:txBody>
      </p:sp>
      <p:sp>
        <p:nvSpPr>
          <p:cNvPr id="41" name="Text 38"/>
          <p:cNvSpPr/>
          <p:nvPr/>
        </p:nvSpPr>
        <p:spPr>
          <a:xfrm>
            <a:off x="5815013" y="3305770"/>
            <a:ext cx="2900363" cy="312539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F3A7D"/>
                </a:solidFill>
              </a:rPr>
              <a:t>Foundation for $5M+ revenue potential</a:t>
            </a:r>
            <a:endParaRPr lang="en-US" sz="584" dirty="0"/>
          </a:p>
        </p:txBody>
      </p:sp>
      <p:sp>
        <p:nvSpPr>
          <p:cNvPr id="42" name="Shape 39"/>
          <p:cNvSpPr/>
          <p:nvPr/>
        </p:nvSpPr>
        <p:spPr>
          <a:xfrm>
            <a:off x="428625" y="3846909"/>
            <a:ext cx="2647931" cy="10686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0"/>
          <p:cNvSpPr/>
          <p:nvPr/>
        </p:nvSpPr>
        <p:spPr>
          <a:xfrm>
            <a:off x="428625" y="3846909"/>
            <a:ext cx="2647931" cy="2143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4" name="Text 41"/>
          <p:cNvSpPr/>
          <p:nvPr/>
        </p:nvSpPr>
        <p:spPr>
          <a:xfrm>
            <a:off x="571500" y="3989784"/>
            <a:ext cx="236218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Cost per Story Point</a:t>
            </a:r>
            <a:endParaRPr lang="en-US" sz="584" dirty="0"/>
          </a:p>
        </p:txBody>
      </p:sp>
      <p:sp>
        <p:nvSpPr>
          <p:cNvPr id="45" name="Text 42"/>
          <p:cNvSpPr/>
          <p:nvPr/>
        </p:nvSpPr>
        <p:spPr>
          <a:xfrm>
            <a:off x="571500" y="4191595"/>
            <a:ext cx="23621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3A7D"/>
                </a:solidFill>
              </a:rPr>
              <a:t>$2,205</a:t>
            </a:r>
            <a:endParaRPr lang="en-US" sz="1193" dirty="0"/>
          </a:p>
        </p:txBody>
      </p:sp>
      <p:sp>
        <p:nvSpPr>
          <p:cNvPr id="46" name="Text 43"/>
          <p:cNvSpPr/>
          <p:nvPr/>
        </p:nvSpPr>
        <p:spPr>
          <a:xfrm>
            <a:off x="571500" y="4511278"/>
            <a:ext cx="236218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86 total story points across 10 JIRA tickets. Efficient allocation of resources.</a:t>
            </a:r>
            <a:endParaRPr lang="en-US" sz="621" dirty="0"/>
          </a:p>
        </p:txBody>
      </p:sp>
      <p:sp>
        <p:nvSpPr>
          <p:cNvPr id="47" name="Shape 44"/>
          <p:cNvSpPr/>
          <p:nvPr/>
        </p:nvSpPr>
        <p:spPr>
          <a:xfrm>
            <a:off x="3248006" y="3846909"/>
            <a:ext cx="2647959" cy="10686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5"/>
          <p:cNvSpPr/>
          <p:nvPr/>
        </p:nvSpPr>
        <p:spPr>
          <a:xfrm>
            <a:off x="3248006" y="3846909"/>
            <a:ext cx="2647959" cy="2143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9" name="Text 46"/>
          <p:cNvSpPr/>
          <p:nvPr/>
        </p:nvSpPr>
        <p:spPr>
          <a:xfrm>
            <a:off x="3390881" y="3989784"/>
            <a:ext cx="23622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Cost per Development Day</a:t>
            </a:r>
            <a:endParaRPr lang="en-US" sz="584" dirty="0"/>
          </a:p>
        </p:txBody>
      </p:sp>
      <p:sp>
        <p:nvSpPr>
          <p:cNvPr id="50" name="Text 47"/>
          <p:cNvSpPr/>
          <p:nvPr/>
        </p:nvSpPr>
        <p:spPr>
          <a:xfrm>
            <a:off x="3390881" y="4191595"/>
            <a:ext cx="236220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3A7D"/>
                </a:solidFill>
              </a:rPr>
              <a:t>$19,600</a:t>
            </a:r>
            <a:endParaRPr lang="en-US" sz="1193" dirty="0"/>
          </a:p>
        </p:txBody>
      </p:sp>
      <p:sp>
        <p:nvSpPr>
          <p:cNvPr id="51" name="Text 48"/>
          <p:cNvSpPr/>
          <p:nvPr/>
        </p:nvSpPr>
        <p:spPr>
          <a:xfrm>
            <a:off x="3390881" y="4511278"/>
            <a:ext cx="2362209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10 working days with 2 senior engineers. Competitive rate for infrastructure setup.</a:t>
            </a:r>
            <a:endParaRPr lang="en-US" sz="621" dirty="0"/>
          </a:p>
        </p:txBody>
      </p:sp>
      <p:sp>
        <p:nvSpPr>
          <p:cNvPr id="52" name="Shape 49"/>
          <p:cNvSpPr/>
          <p:nvPr/>
        </p:nvSpPr>
        <p:spPr>
          <a:xfrm>
            <a:off x="6067416" y="3846909"/>
            <a:ext cx="2647931" cy="10686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0"/>
          <p:cNvSpPr/>
          <p:nvPr/>
        </p:nvSpPr>
        <p:spPr>
          <a:xfrm>
            <a:off x="6067416" y="3846909"/>
            <a:ext cx="2647931" cy="2143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4" name="Text 51"/>
          <p:cNvSpPr/>
          <p:nvPr/>
        </p:nvSpPr>
        <p:spPr>
          <a:xfrm>
            <a:off x="6210291" y="3989784"/>
            <a:ext cx="236218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666666"/>
                </a:solidFill>
              </a:rPr>
              <a:t>Infrastructure Cost Efficiency</a:t>
            </a:r>
            <a:endParaRPr lang="en-US" sz="584" dirty="0"/>
          </a:p>
        </p:txBody>
      </p:sp>
      <p:sp>
        <p:nvSpPr>
          <p:cNvPr id="55" name="Text 52"/>
          <p:cNvSpPr/>
          <p:nvPr/>
        </p:nvSpPr>
        <p:spPr>
          <a:xfrm>
            <a:off x="6210291" y="4191595"/>
            <a:ext cx="23621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3A7D"/>
                </a:solidFill>
              </a:rPr>
              <a:t>20%</a:t>
            </a:r>
            <a:endParaRPr lang="en-US" sz="1193" dirty="0"/>
          </a:p>
        </p:txBody>
      </p:sp>
      <p:sp>
        <p:nvSpPr>
          <p:cNvPr id="56" name="Text 53"/>
          <p:cNvSpPr/>
          <p:nvPr/>
        </p:nvSpPr>
        <p:spPr>
          <a:xfrm>
            <a:off x="6210291" y="4511278"/>
            <a:ext cx="236218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AWS spend as percentage of total budget. Scalable, cost-effective cloud infrastructure.</a:t>
            </a:r>
            <a:endParaRPr lang="en-US" sz="621" dirty="0"/>
          </a:p>
        </p:txBody>
      </p:sp>
      <p:sp>
        <p:nvSpPr>
          <p:cNvPr id="57" name="Shape 54"/>
          <p:cNvSpPr/>
          <p:nvPr/>
        </p:nvSpPr>
        <p:spPr>
          <a:xfrm>
            <a:off x="428625" y="4894138"/>
            <a:ext cx="8286750" cy="4839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428625" y="4894138"/>
            <a:ext cx="828675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9" name="Text 56"/>
          <p:cNvSpPr/>
          <p:nvPr/>
        </p:nvSpPr>
        <p:spPr>
          <a:xfrm>
            <a:off x="428625" y="5065588"/>
            <a:ext cx="122839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Budget Status</a:t>
            </a:r>
            <a:endParaRPr lang="en-US" sz="534" dirty="0"/>
          </a:p>
        </p:txBody>
      </p:sp>
      <p:sp>
        <p:nvSpPr>
          <p:cNvPr id="60" name="Text 57"/>
          <p:cNvSpPr/>
          <p:nvPr/>
        </p:nvSpPr>
        <p:spPr>
          <a:xfrm>
            <a:off x="428625" y="5215607"/>
            <a:ext cx="12283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Approved &amp; Allocated</a:t>
            </a:r>
            <a:endParaRPr lang="en-US" sz="784" dirty="0"/>
          </a:p>
        </p:txBody>
      </p:sp>
      <p:sp>
        <p:nvSpPr>
          <p:cNvPr id="61" name="Text 58"/>
          <p:cNvSpPr/>
          <p:nvPr/>
        </p:nvSpPr>
        <p:spPr>
          <a:xfrm>
            <a:off x="3008356" y="5065588"/>
            <a:ext cx="101843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Expected ROI (Month 6)</a:t>
            </a:r>
            <a:endParaRPr lang="en-US" sz="534" dirty="0"/>
          </a:p>
        </p:txBody>
      </p:sp>
      <p:sp>
        <p:nvSpPr>
          <p:cNvPr id="62" name="Text 59"/>
          <p:cNvSpPr/>
          <p:nvPr/>
        </p:nvSpPr>
        <p:spPr>
          <a:xfrm>
            <a:off x="3008356" y="5215607"/>
            <a:ext cx="10184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$2M-5M Revenue</a:t>
            </a:r>
            <a:endParaRPr lang="en-US" sz="784" dirty="0"/>
          </a:p>
        </p:txBody>
      </p:sp>
      <p:sp>
        <p:nvSpPr>
          <p:cNvPr id="63" name="Text 60"/>
          <p:cNvSpPr/>
          <p:nvPr/>
        </p:nvSpPr>
        <p:spPr>
          <a:xfrm>
            <a:off x="5378128" y="5065588"/>
            <a:ext cx="6765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Payback Period</a:t>
            </a:r>
            <a:endParaRPr lang="en-US" sz="534" dirty="0"/>
          </a:p>
        </p:txBody>
      </p:sp>
      <p:sp>
        <p:nvSpPr>
          <p:cNvPr id="64" name="Text 61"/>
          <p:cNvSpPr/>
          <p:nvPr/>
        </p:nvSpPr>
        <p:spPr>
          <a:xfrm>
            <a:off x="5378128" y="5215607"/>
            <a:ext cx="6765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3-4 Months</a:t>
            </a:r>
            <a:endParaRPr lang="en-US" sz="784" dirty="0"/>
          </a:p>
        </p:txBody>
      </p:sp>
      <p:sp>
        <p:nvSpPr>
          <p:cNvPr id="65" name="Text 62"/>
          <p:cNvSpPr/>
          <p:nvPr/>
        </p:nvSpPr>
        <p:spPr>
          <a:xfrm>
            <a:off x="7406060" y="5065588"/>
            <a:ext cx="130931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Phase Completion</a:t>
            </a:r>
            <a:endParaRPr lang="en-US" sz="534" dirty="0"/>
          </a:p>
        </p:txBody>
      </p:sp>
      <p:sp>
        <p:nvSpPr>
          <p:cNvPr id="66" name="Text 63"/>
          <p:cNvSpPr/>
          <p:nvPr/>
        </p:nvSpPr>
        <p:spPr>
          <a:xfrm>
            <a:off x="7406060" y="5215607"/>
            <a:ext cx="13093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F3A7D"/>
                </a:solidFill>
              </a:rPr>
              <a:t>Day 10 (Friday, Week 2)</a:t>
            </a:r>
            <a:endParaRPr lang="en-US" sz="78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F3A7D"/>
                </a:solidFill>
              </a:rPr>
              <a:t>Closing: Building the Future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28625" y="937617"/>
            <a:ext cx="8286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PromptForge Foundation &amp; Setup Phase — Ready for Execution</a:t>
            </a:r>
            <a:endParaRPr lang="en-US" sz="834" dirty="0"/>
          </a:p>
        </p:txBody>
      </p:sp>
      <p:sp>
        <p:nvSpPr>
          <p:cNvPr id="5" name="Shape 2"/>
          <p:cNvSpPr/>
          <p:nvPr/>
        </p:nvSpPr>
        <p:spPr>
          <a:xfrm>
            <a:off x="1557338" y="1347155"/>
            <a:ext cx="428625" cy="4286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1557338" y="1347155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✓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428625" y="1861505"/>
            <a:ext cx="26860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Infrastructure Ready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28625" y="2122252"/>
            <a:ext cx="26860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Production-grade AWS, CI/CD, and monitoring ready from Day 1.</a:t>
            </a:r>
            <a:endParaRPr lang="en-US" sz="674" dirty="0"/>
          </a:p>
        </p:txBody>
      </p:sp>
      <p:sp>
        <p:nvSpPr>
          <p:cNvPr id="9" name="Shape 6"/>
          <p:cNvSpPr/>
          <p:nvPr/>
        </p:nvSpPr>
        <p:spPr>
          <a:xfrm>
            <a:off x="4357688" y="1347155"/>
            <a:ext cx="428625" cy="4286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357688" y="1347155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✓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3228975" y="1861505"/>
            <a:ext cx="26860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Team Ready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3228975" y="2122252"/>
            <a:ext cx="26860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12-person team assembled, roles defined, environments set.</a:t>
            </a:r>
            <a:endParaRPr lang="en-US" sz="674" dirty="0"/>
          </a:p>
        </p:txBody>
      </p:sp>
      <p:sp>
        <p:nvSpPr>
          <p:cNvPr id="13" name="Shape 10"/>
          <p:cNvSpPr/>
          <p:nvPr/>
        </p:nvSpPr>
        <p:spPr>
          <a:xfrm>
            <a:off x="7158038" y="1347155"/>
            <a:ext cx="428625" cy="4286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7158038" y="1347155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✓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6029325" y="1861505"/>
            <a:ext cx="26860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Timeline Clear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6029325" y="2122252"/>
            <a:ext cx="26860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10-day plan with daily standups and weekly updates.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428625" y="2543733"/>
            <a:ext cx="82867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spc="1" kern="0" dirty="0">
                <a:solidFill>
                  <a:srgbClr val="FF6B35"/>
                </a:solidFill>
              </a:rPr>
              <a:t>Our Vision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642938" y="2745544"/>
            <a:ext cx="7858125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2" b="1" dirty="0">
                <a:solidFill>
                  <a:srgbClr val="0F3A7D"/>
                </a:solidFill>
              </a:rPr>
              <a:t>Build the world's smartest prompt pack system to empower entrepreneurs to create and scale digital products in weeks.</a:t>
            </a:r>
            <a:endParaRPr lang="en-US" sz="1602" dirty="0"/>
          </a:p>
        </p:txBody>
      </p:sp>
      <p:sp>
        <p:nvSpPr>
          <p:cNvPr id="19" name="Text 16"/>
          <p:cNvSpPr/>
          <p:nvPr/>
        </p:nvSpPr>
        <p:spPr>
          <a:xfrm>
            <a:off x="1436424" y="3471304"/>
            <a:ext cx="627112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666666"/>
                </a:solidFill>
              </a:rPr>
              <a:t>60 packs, 229 prompts, and intelligent composition — the Foundation phase lays the technical groundwork to make this real.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428625" y="3874926"/>
            <a:ext cx="8286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3A7D"/>
                </a:solidFill>
              </a:rPr>
              <a:t>Next Steps to Launch</a:t>
            </a:r>
            <a:endParaRPr lang="en-US" sz="885" dirty="0"/>
          </a:p>
        </p:txBody>
      </p:sp>
      <p:sp>
        <p:nvSpPr>
          <p:cNvPr id="21" name="Shape 18"/>
          <p:cNvSpPr/>
          <p:nvPr/>
        </p:nvSpPr>
        <p:spPr>
          <a:xfrm>
            <a:off x="2905413" y="4135673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19"/>
          <p:cNvSpPr/>
          <p:nvPr/>
        </p:nvSpPr>
        <p:spPr>
          <a:xfrm>
            <a:off x="2905413" y="413567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2570662" y="4478573"/>
            <a:ext cx="95525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Stakeholder Approval</a:t>
            </a:r>
            <a:endParaRPr lang="en-US" sz="634" dirty="0"/>
          </a:p>
        </p:txBody>
      </p:sp>
      <p:sp>
        <p:nvSpPr>
          <p:cNvPr id="24" name="Shape 21"/>
          <p:cNvSpPr/>
          <p:nvPr/>
        </p:nvSpPr>
        <p:spPr>
          <a:xfrm>
            <a:off x="3954540" y="4135673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2"/>
          <p:cNvSpPr/>
          <p:nvPr/>
        </p:nvSpPr>
        <p:spPr>
          <a:xfrm>
            <a:off x="3954540" y="413567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3668790" y="4478573"/>
            <a:ext cx="857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Team Kickoff</a:t>
            </a:r>
            <a:endParaRPr lang="en-US" sz="634" dirty="0"/>
          </a:p>
        </p:txBody>
      </p:sp>
      <p:sp>
        <p:nvSpPr>
          <p:cNvPr id="27" name="Shape 24"/>
          <p:cNvSpPr/>
          <p:nvPr/>
        </p:nvSpPr>
        <p:spPr>
          <a:xfrm>
            <a:off x="4978161" y="4135673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5"/>
          <p:cNvSpPr/>
          <p:nvPr/>
        </p:nvSpPr>
        <p:spPr>
          <a:xfrm>
            <a:off x="4978161" y="413567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4668915" y="4478573"/>
            <a:ext cx="90427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Infrastructure Setup</a:t>
            </a:r>
            <a:endParaRPr lang="en-US" sz="634" dirty="0"/>
          </a:p>
        </p:txBody>
      </p:sp>
      <p:sp>
        <p:nvSpPr>
          <p:cNvPr id="30" name="Shape 27"/>
          <p:cNvSpPr/>
          <p:nvPr/>
        </p:nvSpPr>
        <p:spPr>
          <a:xfrm>
            <a:off x="6001810" y="4135673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1" name="Text 28"/>
          <p:cNvSpPr/>
          <p:nvPr/>
        </p:nvSpPr>
        <p:spPr>
          <a:xfrm>
            <a:off x="6001810" y="413567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5716060" y="4478573"/>
            <a:ext cx="8572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</a:rPr>
              <a:t>Phase 2 Launch</a:t>
            </a:r>
            <a:endParaRPr lang="en-US" sz="634" dirty="0"/>
          </a:p>
        </p:txBody>
      </p:sp>
      <p:sp>
        <p:nvSpPr>
          <p:cNvPr id="33" name="Shape 30"/>
          <p:cNvSpPr/>
          <p:nvPr/>
        </p:nvSpPr>
        <p:spPr>
          <a:xfrm>
            <a:off x="428625" y="4745236"/>
            <a:ext cx="8286750" cy="39826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28625" y="4745236"/>
            <a:ext cx="8286750" cy="7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5" name="Text 32"/>
          <p:cNvSpPr/>
          <p:nvPr/>
        </p:nvSpPr>
        <p:spPr>
          <a:xfrm>
            <a:off x="428625" y="4838105"/>
            <a:ext cx="92709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Phase Start Date</a:t>
            </a:r>
            <a:endParaRPr lang="en-US" sz="534" dirty="0"/>
          </a:p>
        </p:txBody>
      </p:sp>
      <p:sp>
        <p:nvSpPr>
          <p:cNvPr id="36" name="Text 33"/>
          <p:cNvSpPr/>
          <p:nvPr/>
        </p:nvSpPr>
        <p:spPr>
          <a:xfrm>
            <a:off x="428625" y="4988123"/>
            <a:ext cx="9270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Monday, Week 1</a:t>
            </a:r>
            <a:endParaRPr lang="en-US" sz="784" dirty="0"/>
          </a:p>
        </p:txBody>
      </p:sp>
      <p:sp>
        <p:nvSpPr>
          <p:cNvPr id="37" name="Text 34"/>
          <p:cNvSpPr/>
          <p:nvPr/>
        </p:nvSpPr>
        <p:spPr>
          <a:xfrm>
            <a:off x="2904660" y="4842570"/>
            <a:ext cx="90516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Phase Duration</a:t>
            </a:r>
            <a:endParaRPr lang="en-US" sz="534" dirty="0"/>
          </a:p>
        </p:txBody>
      </p:sp>
      <p:sp>
        <p:nvSpPr>
          <p:cNvPr id="38" name="Text 35"/>
          <p:cNvSpPr/>
          <p:nvPr/>
        </p:nvSpPr>
        <p:spPr>
          <a:xfrm>
            <a:off x="2904660" y="4992588"/>
            <a:ext cx="9051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10 Business Days</a:t>
            </a:r>
            <a:endParaRPr lang="en-US" sz="734" dirty="0"/>
          </a:p>
        </p:txBody>
      </p:sp>
      <p:sp>
        <p:nvSpPr>
          <p:cNvPr id="39" name="Text 36"/>
          <p:cNvSpPr/>
          <p:nvPr/>
        </p:nvSpPr>
        <p:spPr>
          <a:xfrm>
            <a:off x="5358761" y="4842570"/>
            <a:ext cx="77847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Total Investment</a:t>
            </a:r>
            <a:endParaRPr lang="en-US" sz="534" dirty="0"/>
          </a:p>
        </p:txBody>
      </p:sp>
      <p:sp>
        <p:nvSpPr>
          <p:cNvPr id="40" name="Text 37"/>
          <p:cNvSpPr/>
          <p:nvPr/>
        </p:nvSpPr>
        <p:spPr>
          <a:xfrm>
            <a:off x="5358761" y="4992588"/>
            <a:ext cx="77847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F3A7D"/>
                </a:solidFill>
              </a:rPr>
              <a:t>$196,000</a:t>
            </a:r>
            <a:endParaRPr lang="en-US" sz="734" dirty="0"/>
          </a:p>
        </p:txBody>
      </p:sp>
      <p:sp>
        <p:nvSpPr>
          <p:cNvPr id="41" name="Text 38"/>
          <p:cNvSpPr/>
          <p:nvPr/>
        </p:nvSpPr>
        <p:spPr>
          <a:xfrm>
            <a:off x="7686173" y="4838105"/>
            <a:ext cx="102917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999999"/>
                </a:solidFill>
              </a:rPr>
              <a:t>Expected ROI</a:t>
            </a:r>
            <a:endParaRPr lang="en-US" sz="534" dirty="0"/>
          </a:p>
        </p:txBody>
      </p:sp>
      <p:sp>
        <p:nvSpPr>
          <p:cNvPr id="42" name="Text 39"/>
          <p:cNvSpPr/>
          <p:nvPr/>
        </p:nvSpPr>
        <p:spPr>
          <a:xfrm>
            <a:off x="7686173" y="4988123"/>
            <a:ext cx="10291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6B35"/>
                </a:solidFill>
              </a:rPr>
              <a:t>$2M-5M (Month 6)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2026-02-10T10:21:14Z</dcterms:created>
  <dcterms:modified xsi:type="dcterms:W3CDTF">2026-02-10T10:21:14Z</dcterms:modified>
</cp:coreProperties>
</file>