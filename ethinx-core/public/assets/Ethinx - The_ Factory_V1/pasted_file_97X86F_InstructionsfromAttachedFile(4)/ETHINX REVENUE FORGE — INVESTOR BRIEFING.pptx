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45934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57713" y="0"/>
            <a:ext cx="14288" cy="459343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1006013"/>
            <a:ext cx="3857625" cy="169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spc="4" kern="0" dirty="0">
                <a:solidFill>
                  <a:srgbClr val="D4AF37"/>
                </a:solidFill>
              </a:rPr>
              <a:t>ETHINX</a:t>
            </a:r>
            <a:pPr algn="l" indent="0" marL="0">
              <a:lnSpc>
                <a:spcPts val="4500"/>
              </a:lnSpc>
              <a:buNone/>
            </a:pPr>
            <a:r>
              <a:rPr lang="en-US" sz="3731" b="1" spc="4" kern="0" dirty="0">
                <a:solidFill>
                  <a:srgbClr val="D4AF37"/>
                </a:solidFill>
              </a:rPr>
              <a:t>
</a:t>
            </a:r>
            <a:pPr algn="l" indent="0" marL="0">
              <a:lnSpc>
                <a:spcPts val="4500"/>
              </a:lnSpc>
              <a:buNone/>
            </a:pPr>
            <a:r>
              <a:rPr lang="en-US" sz="3731" b="1" spc="4" kern="0" dirty="0">
                <a:solidFill>
                  <a:srgbClr val="D4AF37"/>
                </a:solidFill>
              </a:rPr>
              <a:t>REVENUE</a:t>
            </a:r>
            <a:pPr algn="l" indent="0" marL="0">
              <a:lnSpc>
                <a:spcPts val="4500"/>
              </a:lnSpc>
              <a:buNone/>
            </a:pPr>
            <a:r>
              <a:rPr lang="en-US" sz="3731" b="1" spc="4" kern="0" dirty="0">
                <a:solidFill>
                  <a:srgbClr val="D4AF37"/>
                </a:solidFill>
              </a:rPr>
              <a:t>
</a:t>
            </a:r>
            <a:pPr algn="l" indent="0" marL="0">
              <a:lnSpc>
                <a:spcPts val="4500"/>
              </a:lnSpc>
              <a:buNone/>
            </a:pPr>
            <a:r>
              <a:rPr lang="en-US" sz="3731" b="1" spc="4" kern="0" dirty="0">
                <a:solidFill>
                  <a:srgbClr val="D4AF37"/>
                </a:solidFill>
              </a:rPr>
              <a:t>FORGE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357188" y="3146264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F5F5F5"/>
                </a:solidFill>
              </a:rPr>
              <a:t>Investor Briefing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357188" y="3451659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D4AF37"/>
                </a:solidFill>
              </a:rPr>
              <a:t>Military-Grade Financial Engine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4929188" y="1382148"/>
            <a:ext cx="3857625" cy="1614822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4938" y="1682186"/>
            <a:ext cx="3286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D4AF37"/>
                </a:solidFill>
              </a:rPr>
              <a:t>$69K+</a:t>
            </a:r>
            <a:endParaRPr lang="en-US" sz="2862" dirty="0"/>
          </a:p>
        </p:txBody>
      </p:sp>
      <p:sp>
        <p:nvSpPr>
          <p:cNvPr id="10" name="Text 7"/>
          <p:cNvSpPr/>
          <p:nvPr/>
        </p:nvSpPr>
        <p:spPr>
          <a:xfrm>
            <a:off x="5214938" y="2153673"/>
            <a:ext cx="32861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99999"/>
                </a:solidFill>
              </a:rPr>
              <a:t>Annual Revenue Uplift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214938" y="2376915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Per 1,000 monthly transactions through advanced behavioral upsell architecture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0" y="4593431"/>
            <a:ext cx="9144000" cy="550069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4593431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357188" y="4822031"/>
            <a:ext cx="21404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ETHINX V3 CONTROL CONSOLE | REVENUE FORGE V2</a:t>
            </a:r>
            <a:endParaRPr lang="en-US" sz="568" dirty="0"/>
          </a:p>
        </p:txBody>
      </p:sp>
      <p:sp>
        <p:nvSpPr>
          <p:cNvPr id="15" name="Text 12"/>
          <p:cNvSpPr/>
          <p:nvPr/>
        </p:nvSpPr>
        <p:spPr>
          <a:xfrm>
            <a:off x="7914633" y="4822031"/>
            <a:ext cx="87217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D4AF37"/>
                </a:solidFill>
              </a:rPr>
              <a:t>CLASSIFIED BRIEFING</a:t>
            </a:r>
            <a:endParaRPr lang="en-US" sz="568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72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162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01923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D4AF37"/>
                </a:solidFill>
              </a:rPr>
              <a:t>The Market Gap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Standard Payment Processors Leave Revenue on the Table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357188" y="1244798"/>
            <a:ext cx="4143375" cy="308967"/>
          </a:xfrm>
          <a:prstGeom prst="rect">
            <a:avLst/>
          </a:prstGeom>
          <a:noFill/>
          <a:ln/>
        </p:spPr>
        <p:txBody>
          <a:bodyPr wrap="square" lIns="0" tIns="17018" rIns="0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5F5F5"/>
                </a:solidFill>
              </a:rPr>
              <a:t>Standard Processor Limitations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357188" y="1639491"/>
            <a:ext cx="4143375" cy="58857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6"/>
          <p:cNvSpPr/>
          <p:nvPr/>
        </p:nvSpPr>
        <p:spPr>
          <a:xfrm>
            <a:off x="357188" y="1639491"/>
            <a:ext cx="28575" cy="58857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710928"/>
            <a:ext cx="98087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1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12437" y="1710928"/>
            <a:ext cx="38166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CCCCC"/>
                </a:solidFill>
              </a:rPr>
              <a:t>Passive Upselling: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 Generic checkout flow treats $39 purchases the same as $2,500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transactions. No behavioral targeting. No dynamic pricing. No conversion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optimization.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357188" y="2165226"/>
            <a:ext cx="4143375" cy="44001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0"/>
          <p:cNvSpPr/>
          <p:nvPr/>
        </p:nvSpPr>
        <p:spPr>
          <a:xfrm>
            <a:off x="357188" y="2165226"/>
            <a:ext cx="28575" cy="44001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236663"/>
            <a:ext cx="98087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2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12437" y="2236663"/>
            <a:ext cx="38166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CCCCC"/>
                </a:solidFill>
              </a:rPr>
              <a:t>No Real-Time Intelligence: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 Dashboards update every 24 hours. High-value customers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go undetected. No priority queue. No VIP treatment. No competitive advantage.</a:t>
            </a:r>
            <a:endParaRPr lang="en-US" sz="634" dirty="0"/>
          </a:p>
        </p:txBody>
      </p:sp>
      <p:sp>
        <p:nvSpPr>
          <p:cNvPr id="16" name="Shape 13"/>
          <p:cNvSpPr/>
          <p:nvPr/>
        </p:nvSpPr>
        <p:spPr>
          <a:xfrm>
            <a:off x="357188" y="2690961"/>
            <a:ext cx="4143375" cy="44001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4"/>
          <p:cNvSpPr/>
          <p:nvPr/>
        </p:nvSpPr>
        <p:spPr>
          <a:xfrm>
            <a:off x="357188" y="2690961"/>
            <a:ext cx="28575" cy="44001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2762399"/>
            <a:ext cx="98087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3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612437" y="2762399"/>
            <a:ext cx="38166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CCCCC"/>
                </a:solidFill>
              </a:rPr>
              <a:t>Manual Compliance: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 FBT compliance is a checklist. One missed flag = regulatory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penalties. No automation. No logic gates. No enforcement.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4643438" y="1244798"/>
            <a:ext cx="4143375" cy="308967"/>
          </a:xfrm>
          <a:prstGeom prst="rect">
            <a:avLst/>
          </a:prstGeom>
          <a:noFill/>
          <a:ln/>
        </p:spPr>
        <p:txBody>
          <a:bodyPr wrap="square" lIns="0" tIns="17018" rIns="0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5F5F5"/>
                </a:solidFill>
              </a:rPr>
              <a:t>Revenue Loss Impact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4643438" y="1639491"/>
            <a:ext cx="4143375" cy="930473"/>
          </a:xfrm>
          <a:prstGeom prst="rect">
            <a:avLst/>
          </a:prstGeom>
          <a:solidFill>
            <a:srgbClr val="1A1A1A"/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14875" y="1710928"/>
            <a:ext cx="4000500" cy="12144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999999"/>
                </a:solidFill>
              </a:rPr>
              <a:t>Revenue Leakage</a:t>
            </a:r>
            <a:endParaRPr lang="en-US" sz="568" dirty="0"/>
          </a:p>
        </p:txBody>
      </p:sp>
      <p:sp>
        <p:nvSpPr>
          <p:cNvPr id="23" name="Text 20"/>
          <p:cNvSpPr/>
          <p:nvPr/>
        </p:nvSpPr>
        <p:spPr>
          <a:xfrm>
            <a:off x="4714875" y="1889522"/>
            <a:ext cx="40005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EF4444"/>
                </a:solidFill>
              </a:rPr>
              <a:t>23-45%</a:t>
            </a:r>
            <a:endParaRPr lang="en-US" sz="2121" dirty="0"/>
          </a:p>
        </p:txBody>
      </p:sp>
      <p:sp>
        <p:nvSpPr>
          <p:cNvPr id="24" name="Text 21"/>
          <p:cNvSpPr/>
          <p:nvPr/>
        </p:nvSpPr>
        <p:spPr>
          <a:xfrm>
            <a:off x="4714875" y="2341364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Potential revenue left on table per transaction through missed upsell opportunities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4643438" y="2627114"/>
            <a:ext cx="4143375" cy="930473"/>
          </a:xfrm>
          <a:prstGeom prst="rect">
            <a:avLst/>
          </a:prstGeom>
          <a:solidFill>
            <a:srgbClr val="1A1A1A"/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4875" y="2698552"/>
            <a:ext cx="4000500" cy="12144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999999"/>
                </a:solidFill>
              </a:rPr>
              <a:t>Monthly Opportunity Cost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4714875" y="2877145"/>
            <a:ext cx="40005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EF4444"/>
                </a:solidFill>
              </a:rPr>
              <a:t>$3.5K+</a:t>
            </a:r>
            <a:endParaRPr lang="en-US" sz="2121" dirty="0"/>
          </a:p>
        </p:txBody>
      </p:sp>
      <p:sp>
        <p:nvSpPr>
          <p:cNvPr id="28" name="Text 25"/>
          <p:cNvSpPr/>
          <p:nvPr/>
        </p:nvSpPr>
        <p:spPr>
          <a:xfrm>
            <a:off x="4714875" y="3328988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Per 1,000 transactions. Compounds to $42K+ annually without intervention.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4643438" y="3614738"/>
            <a:ext cx="4143375" cy="1059061"/>
          </a:xfrm>
          <a:prstGeom prst="rect">
            <a:avLst/>
          </a:prstGeom>
          <a:solidFill>
            <a:srgbClr val="1A1A1A"/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14875" y="3686175"/>
            <a:ext cx="4000500" cy="12144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999999"/>
                </a:solidFill>
              </a:rPr>
              <a:t>Competitive Disadvantage</a:t>
            </a:r>
            <a:endParaRPr lang="en-US" sz="568" dirty="0"/>
          </a:p>
        </p:txBody>
      </p:sp>
      <p:sp>
        <p:nvSpPr>
          <p:cNvPr id="31" name="Text 28"/>
          <p:cNvSpPr/>
          <p:nvPr/>
        </p:nvSpPr>
        <p:spPr>
          <a:xfrm>
            <a:off x="4714875" y="3864769"/>
            <a:ext cx="40005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EF4444"/>
                </a:solidFill>
              </a:rPr>
              <a:t>100%</a:t>
            </a:r>
            <a:endParaRPr lang="en-US" sz="2121" dirty="0"/>
          </a:p>
        </p:txBody>
      </p:sp>
      <p:sp>
        <p:nvSpPr>
          <p:cNvPr id="32" name="Text 29"/>
          <p:cNvSpPr/>
          <p:nvPr/>
        </p:nvSpPr>
        <p:spPr>
          <a:xfrm>
            <a:off x="4714875" y="4316611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Competitors using behavioral upsells capture your market share through superior conversion rates</a:t>
            </a:r>
            <a:endParaRPr lang="en-US" sz="621" dirty="0"/>
          </a:p>
        </p:txBody>
      </p:sp>
      <p:sp>
        <p:nvSpPr>
          <p:cNvPr id="33" name="Shape 30"/>
          <p:cNvSpPr/>
          <p:nvPr/>
        </p:nvSpPr>
        <p:spPr>
          <a:xfrm>
            <a:off x="0" y="4659511"/>
            <a:ext cx="9144000" cy="483989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0" y="4659511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5" name="Shape 32"/>
          <p:cNvSpPr/>
          <p:nvPr/>
        </p:nvSpPr>
        <p:spPr>
          <a:xfrm>
            <a:off x="357188" y="4759523"/>
            <a:ext cx="8429625" cy="298252"/>
          </a:xfrm>
          <a:prstGeom prst="rect">
            <a:avLst/>
          </a:prstGeom>
          <a:solidFill>
            <a:srgbClr val="D4AF37">
              <a:alpha val="10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7188" y="4759523"/>
            <a:ext cx="8429625" cy="29825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spc="1" kern="0" dirty="0">
                <a:solidFill>
                  <a:srgbClr val="D4AF37"/>
                </a:solidFill>
              </a:rPr>
              <a:t>⚠️ THE PROBLEM: Standard processors optimize for transaction volume, not revenue per transaction. ETHINX Revenue Forge optimizes for BOTH.</a:t>
            </a:r>
            <a:endParaRPr lang="en-US" sz="67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162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01923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D4AF37"/>
                </a:solidFill>
              </a:rPr>
              <a:t>Revenue Forge Architecture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Hardened Financial Engine with Four Core Pillars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357188" y="1840967"/>
            <a:ext cx="2027039" cy="1145456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7832" y="1948123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D4AF37"/>
                </a:solidFill>
              </a:rPr>
              <a:t>🎯</a:t>
            </a:r>
            <a:endParaRPr lang="en-US" sz="1704" dirty="0"/>
          </a:p>
        </p:txBody>
      </p:sp>
      <p:sp>
        <p:nvSpPr>
          <p:cNvPr id="9" name="Text 6"/>
          <p:cNvSpPr/>
          <p:nvPr/>
        </p:nvSpPr>
        <p:spPr>
          <a:xfrm>
            <a:off x="960806" y="2332100"/>
            <a:ext cx="819773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Multi-Tier</a:t>
            </a:r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Dynamic Logic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464344" y="2630686"/>
            <a:ext cx="1812727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Anchor, Standard, Whale tier targeting with tier-specific upsells and bundle discounts</a:t>
            </a:r>
            <a:endParaRPr lang="en-US" sz="568" dirty="0"/>
          </a:p>
        </p:txBody>
      </p:sp>
      <p:sp>
        <p:nvSpPr>
          <p:cNvPr id="11" name="Shape 8"/>
          <p:cNvSpPr/>
          <p:nvPr/>
        </p:nvSpPr>
        <p:spPr>
          <a:xfrm>
            <a:off x="2491383" y="1840967"/>
            <a:ext cx="2027039" cy="1145456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2027" y="1948123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D4AF37"/>
                </a:solidFill>
              </a:rPr>
              <a:t>⚡</a:t>
            </a:r>
            <a:endParaRPr lang="en-US" sz="1704" dirty="0"/>
          </a:p>
        </p:txBody>
      </p:sp>
      <p:sp>
        <p:nvSpPr>
          <p:cNvPr id="13" name="Text 10"/>
          <p:cNvSpPr/>
          <p:nvPr/>
        </p:nvSpPr>
        <p:spPr>
          <a:xfrm>
            <a:off x="3264973" y="2332100"/>
            <a:ext cx="47985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Scarcity</a:t>
            </a:r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Engine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2598539" y="2630686"/>
            <a:ext cx="1812727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Real-time priority slots counter (3-5 remaining) with random decrement for urgency</a:t>
            </a:r>
            <a:endParaRPr lang="en-US" sz="568" dirty="0"/>
          </a:p>
        </p:txBody>
      </p:sp>
      <p:sp>
        <p:nvSpPr>
          <p:cNvPr id="15" name="Shape 12"/>
          <p:cNvSpPr/>
          <p:nvPr/>
        </p:nvSpPr>
        <p:spPr>
          <a:xfrm>
            <a:off x="4625578" y="1840967"/>
            <a:ext cx="2027039" cy="1145456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96223" y="1948123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D4AF37"/>
                </a:solidFill>
              </a:rPr>
              <a:t>🛡️</a:t>
            </a:r>
            <a:endParaRPr lang="en-US" sz="1704" dirty="0"/>
          </a:p>
        </p:txBody>
      </p:sp>
      <p:sp>
        <p:nvSpPr>
          <p:cNvPr id="17" name="Text 14"/>
          <p:cNvSpPr/>
          <p:nvPr/>
        </p:nvSpPr>
        <p:spPr>
          <a:xfrm>
            <a:off x="5393168" y="2332100"/>
            <a:ext cx="491858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Risk</a:t>
            </a:r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Reversal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4732734" y="2630686"/>
            <a:ext cx="1812727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T-Dog Certified badge, 30-day money-back guarantee, compliance assurance</a:t>
            </a:r>
            <a:endParaRPr lang="en-US" sz="568" dirty="0"/>
          </a:p>
        </p:txBody>
      </p:sp>
      <p:sp>
        <p:nvSpPr>
          <p:cNvPr id="19" name="Shape 16"/>
          <p:cNvSpPr/>
          <p:nvPr/>
        </p:nvSpPr>
        <p:spPr>
          <a:xfrm>
            <a:off x="6759773" y="1840967"/>
            <a:ext cx="2027039" cy="1145456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0418" y="1962410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D4AF37"/>
                </a:solidFill>
              </a:rPr>
              <a:t>📊</a:t>
            </a:r>
            <a:endParaRPr lang="en-US" sz="1704" dirty="0"/>
          </a:p>
        </p:txBody>
      </p:sp>
      <p:sp>
        <p:nvSpPr>
          <p:cNvPr id="21" name="Text 18"/>
          <p:cNvSpPr/>
          <p:nvPr/>
        </p:nvSpPr>
        <p:spPr>
          <a:xfrm>
            <a:off x="7496612" y="2346387"/>
            <a:ext cx="553334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Real-Time</a:t>
            </a:r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
</a:t>
            </a:r>
            <a:pPr algn="ctr" indent="0" marL="0">
              <a:lnSpc>
                <a:spcPts val="10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Analytics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6866930" y="2644973"/>
            <a:ext cx="1812727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Forge Conversion Rate tracking, tier-specific breakdowns, revenue impact metrics</a:t>
            </a:r>
            <a:endParaRPr lang="en-US" sz="568" dirty="0"/>
          </a:p>
        </p:txBody>
      </p:sp>
      <p:sp>
        <p:nvSpPr>
          <p:cNvPr id="23" name="Shape 20"/>
          <p:cNvSpPr/>
          <p:nvPr/>
        </p:nvSpPr>
        <p:spPr>
          <a:xfrm>
            <a:off x="357188" y="3115010"/>
            <a:ext cx="8429625" cy="684014"/>
          </a:xfrm>
          <a:prstGeom prst="rect">
            <a:avLst/>
          </a:prstGeom>
          <a:solidFill>
            <a:srgbClr val="D4AF37">
              <a:alpha val="10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344" y="3236454"/>
            <a:ext cx="82153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4AF37"/>
                </a:solidFill>
              </a:rPr>
              <a:t>System Integration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464344" y="3420405"/>
            <a:ext cx="8215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Hardened Stripe webhook verification (raw body signature) + Idempotency locking (processed_events.json) + Automated FBT compliance (fbt_exempt metadata) + WebSocket real-time pings (Hetzner Controller) + Neural Recon alerts ($2,500+ transactions)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0" y="4659511"/>
            <a:ext cx="9144000" cy="483989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4659511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Shape 25"/>
          <p:cNvSpPr/>
          <p:nvPr/>
        </p:nvSpPr>
        <p:spPr>
          <a:xfrm>
            <a:off x="357188" y="4759523"/>
            <a:ext cx="8429625" cy="298252"/>
          </a:xfrm>
          <a:prstGeom prst="rect">
            <a:avLst/>
          </a:prstGeom>
          <a:solidFill>
            <a:srgbClr val="D4AF37">
              <a:alpha val="10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7188" y="4759523"/>
            <a:ext cx="8429625" cy="29825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AF37"/>
                </a:solidFill>
              </a:rPr>
              <a:t>✓ COMPLETE SYSTEM: Revenue Forge V2 is not a feature—it's a hardened financial engine that turns browsers into buyers and buyers into loyal customers.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162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01923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D4AF37"/>
                </a:solidFill>
              </a:rPr>
              <a:t>Anchor Strategy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Pro-Growth Accelerator: Entry-Tier Tier Migration Engine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357188" y="1629138"/>
            <a:ext cx="4107656" cy="1432322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4344" y="1817554"/>
            <a:ext cx="10590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Starter/Growth Base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3982222" y="1807732"/>
            <a:ext cx="3754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F5F5"/>
                </a:solidFill>
              </a:rPr>
              <a:t>$39-$79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64344" y="2074729"/>
            <a:ext cx="12573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Pro-Growth Accelerator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4128836" y="2064907"/>
            <a:ext cx="2288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F5F5"/>
                </a:solidFill>
              </a:rPr>
              <a:t>+$49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64344" y="2331904"/>
            <a:ext cx="11276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Bundle Discount (20%)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4068142" y="2322082"/>
            <a:ext cx="2895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F4444"/>
                </a:solidFill>
              </a:rPr>
              <a:t>-$9.80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64344" y="2703379"/>
            <a:ext cx="8345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4AF37"/>
                </a:solidFill>
              </a:rPr>
              <a:t>Total (Starter)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3953256" y="2679269"/>
            <a:ext cx="4044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4AF37"/>
                </a:solidFill>
              </a:rPr>
              <a:t>$78.20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357188" y="3154328"/>
            <a:ext cx="4107656" cy="858310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344" y="3275772"/>
            <a:ext cx="38933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999999"/>
                </a:solidFill>
              </a:rPr>
              <a:t>Revenue Increase</a:t>
            </a:r>
            <a:endParaRPr lang="en-US" sz="568" dirty="0"/>
          </a:p>
        </p:txBody>
      </p:sp>
      <p:sp>
        <p:nvSpPr>
          <p:cNvPr id="18" name="Text 15"/>
          <p:cNvSpPr/>
          <p:nvPr/>
        </p:nvSpPr>
        <p:spPr>
          <a:xfrm>
            <a:off x="464344" y="3425791"/>
            <a:ext cx="389334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2C55E"/>
                </a:solidFill>
              </a:rPr>
              <a:t>100%</a:t>
            </a:r>
            <a:endParaRPr lang="en-US" sz="1602" dirty="0"/>
          </a:p>
        </p:txBody>
      </p:sp>
      <p:sp>
        <p:nvSpPr>
          <p:cNvPr id="19" name="Text 16"/>
          <p:cNvSpPr/>
          <p:nvPr/>
        </p:nvSpPr>
        <p:spPr>
          <a:xfrm>
            <a:off x="464344" y="3781192"/>
            <a:ext cx="389334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From $39 base to $78.20 with upsell</a:t>
            </a:r>
            <a:endParaRPr lang="en-US" sz="568" dirty="0"/>
          </a:p>
        </p:txBody>
      </p:sp>
      <p:sp>
        <p:nvSpPr>
          <p:cNvPr id="20" name="Shape 17"/>
          <p:cNvSpPr/>
          <p:nvPr/>
        </p:nvSpPr>
        <p:spPr>
          <a:xfrm>
            <a:off x="4679156" y="1774692"/>
            <a:ext cx="4107656" cy="1141214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86313" y="1896135"/>
            <a:ext cx="3893344" cy="19109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4AF37"/>
                </a:solidFill>
              </a:rPr>
              <a:t>Pro-Growth Accelerator Includes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786313" y="2158668"/>
            <a:ext cx="38933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Advanced Analytics Dashboard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4786313" y="2328332"/>
            <a:ext cx="38933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Priority Email Support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4786313" y="2497996"/>
            <a:ext cx="38933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Custom Report Templates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4786313" y="2667660"/>
            <a:ext cx="38933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Growth Benchmarking Tools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4679156" y="3008774"/>
            <a:ext cx="4107656" cy="858310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86313" y="3130218"/>
            <a:ext cx="38933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999999"/>
                </a:solidFill>
              </a:rPr>
              <a:t>Target Conversion Rate</a:t>
            </a:r>
            <a:endParaRPr lang="en-US" sz="568" dirty="0"/>
          </a:p>
        </p:txBody>
      </p:sp>
      <p:sp>
        <p:nvSpPr>
          <p:cNvPr id="28" name="Text 25"/>
          <p:cNvSpPr/>
          <p:nvPr/>
        </p:nvSpPr>
        <p:spPr>
          <a:xfrm>
            <a:off x="4786313" y="3280237"/>
            <a:ext cx="389334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2C55E"/>
                </a:solidFill>
              </a:rPr>
              <a:t>15-25%</a:t>
            </a:r>
            <a:endParaRPr lang="en-US" sz="1602" dirty="0"/>
          </a:p>
        </p:txBody>
      </p:sp>
      <p:sp>
        <p:nvSpPr>
          <p:cNvPr id="29" name="Text 26"/>
          <p:cNvSpPr/>
          <p:nvPr/>
        </p:nvSpPr>
        <p:spPr>
          <a:xfrm>
            <a:off x="4786313" y="3635639"/>
            <a:ext cx="389334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Of entry-tier customers accept upsell through scarcity + risk reversal</a:t>
            </a:r>
            <a:endParaRPr lang="en-US" sz="568" dirty="0"/>
          </a:p>
        </p:txBody>
      </p:sp>
      <p:sp>
        <p:nvSpPr>
          <p:cNvPr id="30" name="Shape 27"/>
          <p:cNvSpPr/>
          <p:nvPr/>
        </p:nvSpPr>
        <p:spPr>
          <a:xfrm>
            <a:off x="0" y="4554141"/>
            <a:ext cx="9144000" cy="589359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0" y="4554141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2" name="Shape 29"/>
          <p:cNvSpPr/>
          <p:nvPr/>
        </p:nvSpPr>
        <p:spPr>
          <a:xfrm>
            <a:off x="357188" y="4654153"/>
            <a:ext cx="8429625" cy="403622"/>
          </a:xfrm>
          <a:prstGeom prst="rect">
            <a:avLst/>
          </a:prstGeom>
          <a:solidFill>
            <a:srgbClr val="D4AF37">
              <a:alpha val="10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7188" y="4654153"/>
            <a:ext cx="8429625" cy="4036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AF37"/>
                </a:solidFill>
              </a:rPr>
              <a:t>🎯 ANCHOR STRATEGY: Aggressive 20% discount targets price-sensitive entry-tier customers. Drives rapid tier migration while capturing $39.20 additional revenue per conversion.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01911"/>
            <a:ext cx="9144000" cy="142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EF4444"/>
                </a:solidFill>
              </a:rPr>
              <a:t>Whale Strategy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Neural Priority Pipeline — Premium Service Guarantee for Vault Tier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357188" y="1059061"/>
            <a:ext cx="4171950" cy="232172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Target Segment &amp; Features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357188" y="1348383"/>
            <a:ext cx="4171950" cy="837605"/>
          </a:xfrm>
          <a:prstGeom prst="rect">
            <a:avLst/>
          </a:prstGeom>
          <a:solidFill>
            <a:srgbClr val="1A1A1A"/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0050" y="1391245"/>
            <a:ext cx="40862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EF4444"/>
                </a:solidFill>
              </a:rPr>
              <a:t>Target Tier</a:t>
            </a:r>
            <a:endParaRPr lang="en-US" sz="568" dirty="0"/>
          </a:p>
        </p:txBody>
      </p:sp>
      <p:sp>
        <p:nvSpPr>
          <p:cNvPr id="10" name="Text 7"/>
          <p:cNvSpPr/>
          <p:nvPr/>
        </p:nvSpPr>
        <p:spPr>
          <a:xfrm>
            <a:off x="400050" y="1541264"/>
            <a:ext cx="40862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F4444"/>
                </a:solidFill>
              </a:rPr>
              <a:t>VAULT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00050" y="1857375"/>
            <a:ext cx="40862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$2,500 annual commitment. High-value customers seeking premium service and guaranteed turnaround.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357188" y="2214563"/>
            <a:ext cx="4171950" cy="232172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Service Features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357188" y="2503884"/>
            <a:ext cx="4171950" cy="35428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1"/>
          <p:cNvSpPr/>
          <p:nvPr/>
        </p:nvSpPr>
        <p:spPr>
          <a:xfrm>
            <a:off x="357188" y="2503884"/>
            <a:ext cx="28575" cy="35428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400050" y="2546747"/>
            <a:ext cx="160734" cy="268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F4444"/>
                </a:solidFill>
              </a:rPr>
              <a:t>⏱️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17934" y="2546747"/>
            <a:ext cx="169839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60-Minute Turnaround Guarantee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617934" y="2697100"/>
            <a:ext cx="16983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SLA-backed response time. No exceptions.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357188" y="2915320"/>
            <a:ext cx="4171950" cy="35428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6"/>
          <p:cNvSpPr/>
          <p:nvPr/>
        </p:nvSpPr>
        <p:spPr>
          <a:xfrm>
            <a:off x="357188" y="2915320"/>
            <a:ext cx="28575" cy="35428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400050" y="2958182"/>
            <a:ext cx="160734" cy="268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F4444"/>
                </a:solidFill>
              </a:rPr>
              <a:t>👤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617934" y="2958182"/>
            <a:ext cx="218738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Dedicated Account Manager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617934" y="3108536"/>
            <a:ext cx="21873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Personal point of contact for requests and escalations.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357188" y="3326755"/>
            <a:ext cx="4171950" cy="35428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21"/>
          <p:cNvSpPr/>
          <p:nvPr/>
        </p:nvSpPr>
        <p:spPr>
          <a:xfrm>
            <a:off x="357188" y="3326755"/>
            <a:ext cx="28575" cy="35428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400050" y="3369618"/>
            <a:ext cx="160734" cy="268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F4444"/>
                </a:solidFill>
              </a:rPr>
              <a:t>🚀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17934" y="3369618"/>
            <a:ext cx="148218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Priority Queue Access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617934" y="3519971"/>
            <a:ext cx="148218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Jump the line. Requests process first.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4614863" y="1059061"/>
            <a:ext cx="4171950" cy="232172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Pricing &amp; Revenue Impact</a:t>
            </a:r>
            <a:endParaRPr lang="en-US" sz="885" dirty="0"/>
          </a:p>
        </p:txBody>
      </p:sp>
      <p:sp>
        <p:nvSpPr>
          <p:cNvPr id="29" name="Shape 26"/>
          <p:cNvSpPr/>
          <p:nvPr/>
        </p:nvSpPr>
        <p:spPr>
          <a:xfrm>
            <a:off x="4614863" y="1348383"/>
            <a:ext cx="4171950" cy="1675544"/>
          </a:xfrm>
          <a:prstGeom prst="rect">
            <a:avLst/>
          </a:prstGeom>
          <a:solidFill>
            <a:srgbClr val="1A1A1A"/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57725" y="1419820"/>
            <a:ext cx="59519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Vault Tier Base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8351825" y="1419820"/>
            <a:ext cx="3921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$2,500.00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4657725" y="1600200"/>
            <a:ext cx="9290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Neural Priority Pipeline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8353974" y="1600200"/>
            <a:ext cx="38997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+ $199.00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4657725" y="1780580"/>
            <a:ext cx="9058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Bundle Discount (15%)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8424435" y="1780580"/>
            <a:ext cx="3195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2C55E"/>
                </a:solidFill>
              </a:rPr>
              <a:t>- $29.85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4657725" y="2044898"/>
            <a:ext cx="5631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Total Revenue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8221117" y="2025253"/>
            <a:ext cx="5228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</a:rPr>
              <a:t>$2,669.15</a:t>
            </a:r>
            <a:endParaRPr lang="en-US" sz="784" dirty="0"/>
          </a:p>
        </p:txBody>
      </p:sp>
      <p:sp>
        <p:nvSpPr>
          <p:cNvPr id="38" name="Shape 35"/>
          <p:cNvSpPr/>
          <p:nvPr/>
        </p:nvSpPr>
        <p:spPr>
          <a:xfrm>
            <a:off x="4657725" y="2259211"/>
            <a:ext cx="4086225" cy="693279"/>
          </a:xfrm>
          <a:prstGeom prst="rect">
            <a:avLst/>
          </a:prstGeom>
          <a:solidFill>
            <a:srgbClr val="EF4444">
              <a:alpha val="8000"/>
            </a:srgbClr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86300" y="2287786"/>
            <a:ext cx="40290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EF4444"/>
                </a:solidFill>
              </a:rPr>
              <a:t>Revenue Uplift Per Transaction</a:t>
            </a:r>
            <a:endParaRPr lang="en-US" sz="568" dirty="0"/>
          </a:p>
        </p:txBody>
      </p:sp>
      <p:sp>
        <p:nvSpPr>
          <p:cNvPr id="40" name="Text 37"/>
          <p:cNvSpPr/>
          <p:nvPr/>
        </p:nvSpPr>
        <p:spPr>
          <a:xfrm>
            <a:off x="4686300" y="2437805"/>
            <a:ext cx="40290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F4444"/>
                </a:solidFill>
              </a:rPr>
              <a:t>+$169.15</a:t>
            </a:r>
            <a:endParaRPr lang="en-US" sz="1602" dirty="0"/>
          </a:p>
        </p:txBody>
      </p:sp>
      <p:sp>
        <p:nvSpPr>
          <p:cNvPr id="41" name="Text 38"/>
          <p:cNvSpPr/>
          <p:nvPr/>
        </p:nvSpPr>
        <p:spPr>
          <a:xfrm>
            <a:off x="4686300" y="2793206"/>
            <a:ext cx="402907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8% increase per Vault tier customer. Scales with volume.</a:t>
            </a:r>
            <a:endParaRPr lang="en-US" sz="568" dirty="0"/>
          </a:p>
        </p:txBody>
      </p:sp>
      <p:sp>
        <p:nvSpPr>
          <p:cNvPr id="42" name="Text 39"/>
          <p:cNvSpPr/>
          <p:nvPr/>
        </p:nvSpPr>
        <p:spPr>
          <a:xfrm>
            <a:off x="4614863" y="3023927"/>
            <a:ext cx="4171950" cy="232172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Conversion Targets</a:t>
            </a:r>
            <a:endParaRPr lang="en-US" sz="885" dirty="0"/>
          </a:p>
        </p:txBody>
      </p:sp>
      <p:sp>
        <p:nvSpPr>
          <p:cNvPr id="43" name="Shape 40"/>
          <p:cNvSpPr/>
          <p:nvPr/>
        </p:nvSpPr>
        <p:spPr>
          <a:xfrm>
            <a:off x="4614863" y="3313249"/>
            <a:ext cx="4171950" cy="1300163"/>
          </a:xfrm>
          <a:prstGeom prst="rect">
            <a:avLst/>
          </a:prstGeom>
          <a:solidFill>
            <a:srgbClr val="1A1A1A"/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57725" y="3384686"/>
            <a:ext cx="10882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Monthly Vault Transactions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8645863" y="3384686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50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4657725" y="3565066"/>
            <a:ext cx="9351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Target Conversion Rate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8442964" y="3565066"/>
            <a:ext cx="30098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15-25%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4657725" y="3745446"/>
            <a:ext cx="67963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Expected Upsells</a:t>
            </a:r>
            <a:endParaRPr lang="en-US" sz="621" dirty="0"/>
          </a:p>
        </p:txBody>
      </p:sp>
      <p:sp>
        <p:nvSpPr>
          <p:cNvPr id="49" name="Text 46"/>
          <p:cNvSpPr/>
          <p:nvPr/>
        </p:nvSpPr>
        <p:spPr>
          <a:xfrm>
            <a:off x="8569235" y="3745446"/>
            <a:ext cx="1747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7-12</a:t>
            </a:r>
            <a:endParaRPr lang="en-US" sz="584" dirty="0"/>
          </a:p>
        </p:txBody>
      </p:sp>
      <p:sp>
        <p:nvSpPr>
          <p:cNvPr id="50" name="Text 47"/>
          <p:cNvSpPr/>
          <p:nvPr/>
        </p:nvSpPr>
        <p:spPr>
          <a:xfrm>
            <a:off x="4657725" y="4009765"/>
            <a:ext cx="10052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Monthly Revenue Impact</a:t>
            </a:r>
            <a:endParaRPr lang="en-US" sz="621" dirty="0"/>
          </a:p>
        </p:txBody>
      </p:sp>
      <p:sp>
        <p:nvSpPr>
          <p:cNvPr id="51" name="Text 48"/>
          <p:cNvSpPr/>
          <p:nvPr/>
        </p:nvSpPr>
        <p:spPr>
          <a:xfrm>
            <a:off x="7988191" y="3990119"/>
            <a:ext cx="7557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</a:rPr>
              <a:t>$1,184-$2,030</a:t>
            </a:r>
            <a:endParaRPr lang="en-US" sz="784" dirty="0"/>
          </a:p>
        </p:txBody>
      </p:sp>
      <p:sp>
        <p:nvSpPr>
          <p:cNvPr id="52" name="Shape 49"/>
          <p:cNvSpPr/>
          <p:nvPr/>
        </p:nvSpPr>
        <p:spPr>
          <a:xfrm>
            <a:off x="4657725" y="4224077"/>
            <a:ext cx="4086225" cy="317897"/>
          </a:xfrm>
          <a:prstGeom prst="rect">
            <a:avLst/>
          </a:prstGeom>
          <a:solidFill>
            <a:srgbClr val="EF4444">
              <a:alpha val="6000"/>
            </a:srgbClr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57725" y="4224077"/>
            <a:ext cx="4086225" cy="317897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🎯 WHALE POSITIONING: Service-first approach. High-value customers don't want discounts—they want guarantees.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162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01923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D4AF37"/>
                </a:solidFill>
              </a:rPr>
              <a:t>Cross-Sell Strategy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Last Chance Offer: Capturing Non-Converter Revenue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357188" y="1722537"/>
            <a:ext cx="2053828" cy="857250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913" y="1926134"/>
            <a:ext cx="188237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TRIGGER</a:t>
            </a:r>
            <a:endParaRPr lang="en-US" sz="516" dirty="0"/>
          </a:p>
        </p:txBody>
      </p:sp>
      <p:sp>
        <p:nvSpPr>
          <p:cNvPr id="9" name="Text 6"/>
          <p:cNvSpPr/>
          <p:nvPr/>
        </p:nvSpPr>
        <p:spPr>
          <a:xfrm>
            <a:off x="442913" y="2081510"/>
            <a:ext cx="18823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Post-Purchase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442913" y="2283321"/>
            <a:ext cx="188237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CCCCC"/>
                </a:solidFill>
              </a:rPr>
              <a:t>User completes transaction without Bio Suite</a:t>
            </a:r>
            <a:endParaRPr lang="en-US" sz="516" dirty="0"/>
          </a:p>
        </p:txBody>
      </p:sp>
      <p:sp>
        <p:nvSpPr>
          <p:cNvPr id="11" name="Shape 8"/>
          <p:cNvSpPr/>
          <p:nvPr/>
        </p:nvSpPr>
        <p:spPr>
          <a:xfrm>
            <a:off x="2482453" y="1722537"/>
            <a:ext cx="2053828" cy="857250"/>
          </a:xfrm>
          <a:prstGeom prst="rect">
            <a:avLst/>
          </a:prstGeom>
          <a:solidFill>
            <a:srgbClr val="1A1A1A"/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8178" y="1828800"/>
            <a:ext cx="188237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OFFER</a:t>
            </a:r>
            <a:endParaRPr lang="en-US" sz="516" dirty="0"/>
          </a:p>
        </p:txBody>
      </p:sp>
      <p:sp>
        <p:nvSpPr>
          <p:cNvPr id="13" name="Text 10"/>
          <p:cNvSpPr/>
          <p:nvPr/>
        </p:nvSpPr>
        <p:spPr>
          <a:xfrm>
            <a:off x="2568178" y="1984177"/>
            <a:ext cx="18823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Bio Suite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2568178" y="2143125"/>
            <a:ext cx="18823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F37"/>
                </a:solidFill>
              </a:rPr>
              <a:t>$19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2568178" y="2380655"/>
            <a:ext cx="188237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CCCCC"/>
                </a:solidFill>
              </a:rPr>
              <a:t>34% discount vs. $29 regular</a:t>
            </a:r>
            <a:endParaRPr lang="en-US" sz="516" dirty="0"/>
          </a:p>
        </p:txBody>
      </p:sp>
      <p:sp>
        <p:nvSpPr>
          <p:cNvPr id="16" name="Shape 13"/>
          <p:cNvSpPr/>
          <p:nvPr/>
        </p:nvSpPr>
        <p:spPr>
          <a:xfrm>
            <a:off x="4607719" y="1722537"/>
            <a:ext cx="2053828" cy="857250"/>
          </a:xfrm>
          <a:prstGeom prst="rect">
            <a:avLst/>
          </a:prstGeom>
          <a:solidFill>
            <a:srgbClr val="EF4444">
              <a:alpha val="5000"/>
            </a:srgbClr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93444" y="1828800"/>
            <a:ext cx="188237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URGENCY</a:t>
            </a:r>
            <a:endParaRPr lang="en-US" sz="516" dirty="0"/>
          </a:p>
        </p:txBody>
      </p:sp>
      <p:sp>
        <p:nvSpPr>
          <p:cNvPr id="18" name="Text 15"/>
          <p:cNvSpPr/>
          <p:nvPr/>
        </p:nvSpPr>
        <p:spPr>
          <a:xfrm>
            <a:off x="4693444" y="1984177"/>
            <a:ext cx="18823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Countdown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4693444" y="2143125"/>
            <a:ext cx="18823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F37"/>
                </a:solidFill>
              </a:rPr>
              <a:t>10 MIN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4693444" y="2380655"/>
            <a:ext cx="188237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CCCCC"/>
                </a:solidFill>
              </a:rPr>
              <a:t>Creates FOMO without manipulation</a:t>
            </a:r>
            <a:endParaRPr lang="en-US" sz="516" dirty="0"/>
          </a:p>
        </p:txBody>
      </p:sp>
      <p:sp>
        <p:nvSpPr>
          <p:cNvPr id="21" name="Shape 18"/>
          <p:cNvSpPr/>
          <p:nvPr/>
        </p:nvSpPr>
        <p:spPr>
          <a:xfrm>
            <a:off x="6732984" y="1722537"/>
            <a:ext cx="2053828" cy="857250"/>
          </a:xfrm>
          <a:prstGeom prst="rect">
            <a:avLst/>
          </a:prstGeom>
          <a:solidFill>
            <a:srgbClr val="D4AF37">
              <a:alpha val="5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18709" y="1828800"/>
            <a:ext cx="188237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IMPACT</a:t>
            </a:r>
            <a:endParaRPr lang="en-US" sz="516" dirty="0"/>
          </a:p>
        </p:txBody>
      </p:sp>
      <p:sp>
        <p:nvSpPr>
          <p:cNvPr id="23" name="Text 20"/>
          <p:cNvSpPr/>
          <p:nvPr/>
        </p:nvSpPr>
        <p:spPr>
          <a:xfrm>
            <a:off x="6818709" y="1984177"/>
            <a:ext cx="18823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Conversion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6818709" y="2143125"/>
            <a:ext cx="18823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4AF37"/>
                </a:solidFill>
              </a:rPr>
              <a:t>5-10%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6818709" y="2380655"/>
            <a:ext cx="188237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CCCCC"/>
                </a:solidFill>
              </a:rPr>
              <a:t>Of non-converters accept offer</a:t>
            </a:r>
            <a:endParaRPr lang="en-US" sz="516" dirty="0"/>
          </a:p>
        </p:txBody>
      </p:sp>
      <p:sp>
        <p:nvSpPr>
          <p:cNvPr id="26" name="Shape 23"/>
          <p:cNvSpPr/>
          <p:nvPr/>
        </p:nvSpPr>
        <p:spPr>
          <a:xfrm>
            <a:off x="357188" y="2758380"/>
            <a:ext cx="4161234" cy="1184077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2913" y="2844105"/>
            <a:ext cx="3989784" cy="166092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Offer Mechanics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442913" y="3067348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Regular Price: $29 AUD</a:t>
            </a:r>
            <a:endParaRPr lang="en-US" sz="568" dirty="0"/>
          </a:p>
        </p:txBody>
      </p:sp>
      <p:sp>
        <p:nvSpPr>
          <p:cNvPr id="29" name="Text 26"/>
          <p:cNvSpPr/>
          <p:nvPr/>
        </p:nvSpPr>
        <p:spPr>
          <a:xfrm>
            <a:off x="442913" y="3228082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Last Chance: $19 AUD</a:t>
            </a:r>
            <a:endParaRPr lang="en-US" sz="568" dirty="0"/>
          </a:p>
        </p:txBody>
      </p:sp>
      <p:sp>
        <p:nvSpPr>
          <p:cNvPr id="30" name="Text 27"/>
          <p:cNvSpPr/>
          <p:nvPr/>
        </p:nvSpPr>
        <p:spPr>
          <a:xfrm>
            <a:off x="442913" y="3388816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Savings: $10 (34% discount)</a:t>
            </a:r>
            <a:endParaRPr lang="en-US" sz="568" dirty="0"/>
          </a:p>
        </p:txBody>
      </p:sp>
      <p:sp>
        <p:nvSpPr>
          <p:cNvPr id="31" name="Text 28"/>
          <p:cNvSpPr/>
          <p:nvPr/>
        </p:nvSpPr>
        <p:spPr>
          <a:xfrm>
            <a:off x="442913" y="3549551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Window: 10 minutes only</a:t>
            </a:r>
            <a:endParaRPr lang="en-US" sz="568" dirty="0"/>
          </a:p>
        </p:txBody>
      </p:sp>
      <p:sp>
        <p:nvSpPr>
          <p:cNvPr id="32" name="Text 29"/>
          <p:cNvSpPr/>
          <p:nvPr/>
        </p:nvSpPr>
        <p:spPr>
          <a:xfrm>
            <a:off x="442913" y="3710285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Guarantee: 30-day refund</a:t>
            </a:r>
            <a:endParaRPr lang="en-US" sz="568" dirty="0"/>
          </a:p>
        </p:txBody>
      </p:sp>
      <p:sp>
        <p:nvSpPr>
          <p:cNvPr id="33" name="Shape 30"/>
          <p:cNvSpPr/>
          <p:nvPr/>
        </p:nvSpPr>
        <p:spPr>
          <a:xfrm>
            <a:off x="4625578" y="2758380"/>
            <a:ext cx="4161234" cy="1184077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1303" y="2858393"/>
            <a:ext cx="3989784" cy="166092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Revenue Capture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4711303" y="3081635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Non-converters: ~750 per 1K trans</a:t>
            </a:r>
            <a:endParaRPr lang="en-US" sz="568" dirty="0"/>
          </a:p>
        </p:txBody>
      </p:sp>
      <p:sp>
        <p:nvSpPr>
          <p:cNvPr id="36" name="Text 33"/>
          <p:cNvSpPr/>
          <p:nvPr/>
        </p:nvSpPr>
        <p:spPr>
          <a:xfrm>
            <a:off x="4711303" y="3242370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5-10% acceptance rate</a:t>
            </a:r>
            <a:endParaRPr lang="en-US" sz="568" dirty="0"/>
          </a:p>
        </p:txBody>
      </p:sp>
      <p:sp>
        <p:nvSpPr>
          <p:cNvPr id="37" name="Text 34"/>
          <p:cNvSpPr/>
          <p:nvPr/>
        </p:nvSpPr>
        <p:spPr>
          <a:xfrm>
            <a:off x="4711303" y="3403104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Revenue per conversion: $19</a:t>
            </a:r>
            <a:endParaRPr lang="en-US" sz="568" dirty="0"/>
          </a:p>
        </p:txBody>
      </p:sp>
      <p:sp>
        <p:nvSpPr>
          <p:cNvPr id="38" name="Text 35"/>
          <p:cNvSpPr/>
          <p:nvPr/>
        </p:nvSpPr>
        <p:spPr>
          <a:xfrm>
            <a:off x="4711303" y="3563838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Monthly uplift: $712-$1,425</a:t>
            </a:r>
            <a:endParaRPr lang="en-US" sz="568" dirty="0"/>
          </a:p>
        </p:txBody>
      </p:sp>
      <p:sp>
        <p:nvSpPr>
          <p:cNvPr id="39" name="Text 36"/>
          <p:cNvSpPr/>
          <p:nvPr/>
        </p:nvSpPr>
        <p:spPr>
          <a:xfrm>
            <a:off x="4711303" y="3724573"/>
            <a:ext cx="39897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• Annual impact: $8.5K-$17K</a:t>
            </a:r>
            <a:endParaRPr lang="en-US" sz="568" dirty="0"/>
          </a:p>
        </p:txBody>
      </p:sp>
      <p:sp>
        <p:nvSpPr>
          <p:cNvPr id="40" name="Shape 37"/>
          <p:cNvSpPr/>
          <p:nvPr/>
        </p:nvSpPr>
        <p:spPr>
          <a:xfrm>
            <a:off x="0" y="4670227"/>
            <a:ext cx="9144000" cy="473273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0" y="4670227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2" name="Shape 39"/>
          <p:cNvSpPr/>
          <p:nvPr/>
        </p:nvSpPr>
        <p:spPr>
          <a:xfrm>
            <a:off x="357188" y="4770239"/>
            <a:ext cx="8429625" cy="287536"/>
          </a:xfrm>
          <a:prstGeom prst="rect">
            <a:avLst/>
          </a:prstGeom>
          <a:solidFill>
            <a:srgbClr val="D4AF37">
              <a:alpha val="10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57188" y="4770239"/>
            <a:ext cx="8429625" cy="28753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AF37"/>
                </a:solidFill>
              </a:rPr>
              <a:t>💰 STEALTH CROSS-SELL: Captures revenue from hesitant buyers through low friction, high urgency, and risk reversal. Zero additional infrastructure cost.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162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01923"/>
            <a:ext cx="9144000" cy="142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22C55E"/>
                </a:solidFill>
              </a:rPr>
              <a:t>Revenue Floor: 15% Conversion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Conservative Projection with Proven Scarcity Mechanics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1425987" y="1936849"/>
            <a:ext cx="1970056" cy="1214438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61731" y="2172593"/>
            <a:ext cx="14985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99999"/>
                </a:solidFill>
              </a:rPr>
              <a:t>Annual Additional Revenue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1661731" y="2360116"/>
            <a:ext cx="149856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649" b="1" dirty="0">
                <a:solidFill>
                  <a:srgbClr val="22C55E"/>
                </a:solidFill>
              </a:rPr>
              <a:t>$41,418</a:t>
            </a:r>
            <a:endParaRPr lang="en-US" sz="2649" dirty="0"/>
          </a:p>
        </p:txBody>
      </p:sp>
      <p:sp>
        <p:nvSpPr>
          <p:cNvPr id="10" name="Text 7"/>
          <p:cNvSpPr/>
          <p:nvPr/>
        </p:nvSpPr>
        <p:spPr>
          <a:xfrm>
            <a:off x="1661731" y="2788741"/>
            <a:ext cx="14985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Per 1,000 monthly transactions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1640579" y="3272730"/>
            <a:ext cx="1540845" cy="530423"/>
          </a:xfrm>
          <a:prstGeom prst="rect">
            <a:avLst/>
          </a:prstGeom>
          <a:solidFill>
            <a:srgbClr val="22C55E">
              <a:alpha val="10000"/>
            </a:srgbClr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40579" y="3272730"/>
            <a:ext cx="1540845" cy="53042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2C55E"/>
                </a:solidFill>
              </a:rPr>
              <a:t>✓ CONSERVATIVE ESTIMATE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2C55E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2C55E"/>
                </a:solidFill>
              </a:rPr>
              <a:t> 15% Forge Conversion Rate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2C55E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2C55E"/>
                </a:solidFill>
              </a:rPr>
              <a:t> Proven Scarcity Mechanics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4686300" y="1782366"/>
            <a:ext cx="1691701" cy="255389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6300" y="1782366"/>
            <a:ext cx="1691701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2C55E"/>
                </a:solidFill>
              </a:rPr>
              <a:t>Tier Strategy</a:t>
            </a:r>
            <a:endParaRPr lang="en-US" sz="534" dirty="0"/>
          </a:p>
        </p:txBody>
      </p:sp>
      <p:sp>
        <p:nvSpPr>
          <p:cNvPr id="15" name="Shape 12"/>
          <p:cNvSpPr/>
          <p:nvPr/>
        </p:nvSpPr>
        <p:spPr>
          <a:xfrm>
            <a:off x="6375908" y="1782366"/>
            <a:ext cx="921934" cy="255389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5908" y="1782366"/>
            <a:ext cx="921934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2C55E"/>
                </a:solidFill>
              </a:rPr>
              <a:t>Volume</a:t>
            </a:r>
            <a:endParaRPr lang="en-US" sz="534" dirty="0"/>
          </a:p>
        </p:txBody>
      </p:sp>
      <p:sp>
        <p:nvSpPr>
          <p:cNvPr id="17" name="Shape 14"/>
          <p:cNvSpPr/>
          <p:nvPr/>
        </p:nvSpPr>
        <p:spPr>
          <a:xfrm>
            <a:off x="7297843" y="1782366"/>
            <a:ext cx="687474" cy="255389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97843" y="1782366"/>
            <a:ext cx="687474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2C55E"/>
                </a:solidFill>
              </a:rPr>
              <a:t>Conv %</a:t>
            </a:r>
            <a:endParaRPr lang="en-US" sz="534" dirty="0"/>
          </a:p>
        </p:txBody>
      </p:sp>
      <p:sp>
        <p:nvSpPr>
          <p:cNvPr id="19" name="Shape 16"/>
          <p:cNvSpPr/>
          <p:nvPr/>
        </p:nvSpPr>
        <p:spPr>
          <a:xfrm>
            <a:off x="7983615" y="1782366"/>
            <a:ext cx="796054" cy="255389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3615" y="1782366"/>
            <a:ext cx="796054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2C55E"/>
                </a:solidFill>
              </a:rPr>
              <a:t>Revenue</a:t>
            </a:r>
            <a:endParaRPr lang="en-US" sz="534" dirty="0"/>
          </a:p>
        </p:txBody>
      </p:sp>
      <p:sp>
        <p:nvSpPr>
          <p:cNvPr id="21" name="Shape 18"/>
          <p:cNvSpPr/>
          <p:nvPr/>
        </p:nvSpPr>
        <p:spPr>
          <a:xfrm>
            <a:off x="4682728" y="2030611"/>
            <a:ext cx="1709449" cy="250031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82728" y="2030611"/>
            <a:ext cx="1709449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CCCCC"/>
                </a:solidFill>
              </a:rPr>
              <a:t>Anchor (Starter/Growth)</a:t>
            </a:r>
            <a:endParaRPr lang="en-US" sz="584" dirty="0"/>
          </a:p>
        </p:txBody>
      </p:sp>
      <p:sp>
        <p:nvSpPr>
          <p:cNvPr id="23" name="Shape 20"/>
          <p:cNvSpPr/>
          <p:nvPr/>
        </p:nvSpPr>
        <p:spPr>
          <a:xfrm>
            <a:off x="6392177" y="2030611"/>
            <a:ext cx="930808" cy="250031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92177" y="2030611"/>
            <a:ext cx="930808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250 txn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7322986" y="2030611"/>
            <a:ext cx="676173" cy="250031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22986" y="2030611"/>
            <a:ext cx="676173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15%</a:t>
            </a:r>
            <a:endParaRPr lang="en-US" sz="621" dirty="0"/>
          </a:p>
        </p:txBody>
      </p:sp>
      <p:sp>
        <p:nvSpPr>
          <p:cNvPr id="27" name="Shape 24"/>
          <p:cNvSpPr/>
          <p:nvPr/>
        </p:nvSpPr>
        <p:spPr>
          <a:xfrm>
            <a:off x="7999158" y="2030611"/>
            <a:ext cx="784082" cy="250031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99158" y="2030611"/>
            <a:ext cx="784082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CCCCC"/>
                </a:solidFill>
              </a:rPr>
              <a:t>$1,470</a:t>
            </a:r>
            <a:endParaRPr lang="en-US" sz="584" dirty="0"/>
          </a:p>
        </p:txBody>
      </p:sp>
      <p:sp>
        <p:nvSpPr>
          <p:cNvPr id="29" name="Shape 26"/>
          <p:cNvSpPr/>
          <p:nvPr/>
        </p:nvSpPr>
        <p:spPr>
          <a:xfrm>
            <a:off x="4682728" y="2277070"/>
            <a:ext cx="1709449" cy="250031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82728" y="2277070"/>
            <a:ext cx="1709449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CCCCC"/>
                </a:solidFill>
              </a:rPr>
              <a:t>Standard (Pro/Elite/Ent)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6392177" y="2277070"/>
            <a:ext cx="930808" cy="250031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92177" y="2277070"/>
            <a:ext cx="930808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650 txn</a:t>
            </a:r>
            <a:endParaRPr lang="en-US" sz="621" dirty="0"/>
          </a:p>
        </p:txBody>
      </p:sp>
      <p:sp>
        <p:nvSpPr>
          <p:cNvPr id="33" name="Shape 30"/>
          <p:cNvSpPr/>
          <p:nvPr/>
        </p:nvSpPr>
        <p:spPr>
          <a:xfrm>
            <a:off x="7322986" y="2277070"/>
            <a:ext cx="676173" cy="250031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22986" y="2277070"/>
            <a:ext cx="676173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0%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7999158" y="2277070"/>
            <a:ext cx="784082" cy="250031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99158" y="2277070"/>
            <a:ext cx="784082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CCCCC"/>
                </a:solidFill>
              </a:rPr>
              <a:t>$0</a:t>
            </a:r>
            <a:endParaRPr lang="en-US" sz="584" dirty="0"/>
          </a:p>
        </p:txBody>
      </p:sp>
      <p:sp>
        <p:nvSpPr>
          <p:cNvPr id="37" name="Shape 34"/>
          <p:cNvSpPr/>
          <p:nvPr/>
        </p:nvSpPr>
        <p:spPr>
          <a:xfrm>
            <a:off x="4682728" y="2523530"/>
            <a:ext cx="1709449" cy="250031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82728" y="2523530"/>
            <a:ext cx="1709449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CCCCC"/>
                </a:solidFill>
              </a:rPr>
              <a:t>Whale (Vault)</a:t>
            </a:r>
            <a:endParaRPr lang="en-US" sz="584" dirty="0"/>
          </a:p>
        </p:txBody>
      </p:sp>
      <p:sp>
        <p:nvSpPr>
          <p:cNvPr id="39" name="Shape 36"/>
          <p:cNvSpPr/>
          <p:nvPr/>
        </p:nvSpPr>
        <p:spPr>
          <a:xfrm>
            <a:off x="6392177" y="2523530"/>
            <a:ext cx="930808" cy="250031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92177" y="2523530"/>
            <a:ext cx="930808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50 txn</a:t>
            </a:r>
            <a:endParaRPr lang="en-US" sz="621" dirty="0"/>
          </a:p>
        </p:txBody>
      </p:sp>
      <p:sp>
        <p:nvSpPr>
          <p:cNvPr id="41" name="Shape 38"/>
          <p:cNvSpPr/>
          <p:nvPr/>
        </p:nvSpPr>
        <p:spPr>
          <a:xfrm>
            <a:off x="7322986" y="2523530"/>
            <a:ext cx="676173" cy="250031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22986" y="2523530"/>
            <a:ext cx="676173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15%</a:t>
            </a:r>
            <a:endParaRPr lang="en-US" sz="621" dirty="0"/>
          </a:p>
        </p:txBody>
      </p:sp>
      <p:sp>
        <p:nvSpPr>
          <p:cNvPr id="43" name="Shape 40"/>
          <p:cNvSpPr/>
          <p:nvPr/>
        </p:nvSpPr>
        <p:spPr>
          <a:xfrm>
            <a:off x="7999158" y="2523530"/>
            <a:ext cx="784082" cy="250031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99158" y="2523530"/>
            <a:ext cx="784082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CCCCC"/>
                </a:solidFill>
              </a:rPr>
              <a:t>$1,269</a:t>
            </a:r>
            <a:endParaRPr lang="en-US" sz="584" dirty="0"/>
          </a:p>
        </p:txBody>
      </p:sp>
      <p:sp>
        <p:nvSpPr>
          <p:cNvPr id="45" name="Shape 42"/>
          <p:cNvSpPr/>
          <p:nvPr/>
        </p:nvSpPr>
        <p:spPr>
          <a:xfrm>
            <a:off x="4682728" y="2769989"/>
            <a:ext cx="1709449" cy="253603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682728" y="2769989"/>
            <a:ext cx="1709449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CCCCC"/>
                </a:solidFill>
              </a:rPr>
              <a:t>Cross-Sell (Last Chance)</a:t>
            </a:r>
            <a:endParaRPr lang="en-US" sz="584" dirty="0"/>
          </a:p>
        </p:txBody>
      </p:sp>
      <p:sp>
        <p:nvSpPr>
          <p:cNvPr id="47" name="Shape 44"/>
          <p:cNvSpPr/>
          <p:nvPr/>
        </p:nvSpPr>
        <p:spPr>
          <a:xfrm>
            <a:off x="6389582" y="2769989"/>
            <a:ext cx="931813" cy="253603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89582" y="2769989"/>
            <a:ext cx="931813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750 non-conv</a:t>
            </a:r>
            <a:endParaRPr lang="en-US" sz="621" dirty="0"/>
          </a:p>
        </p:txBody>
      </p:sp>
      <p:sp>
        <p:nvSpPr>
          <p:cNvPr id="49" name="Shape 46"/>
          <p:cNvSpPr/>
          <p:nvPr/>
        </p:nvSpPr>
        <p:spPr>
          <a:xfrm>
            <a:off x="7318186" y="2769989"/>
            <a:ext cx="678405" cy="253603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318186" y="2769989"/>
            <a:ext cx="678405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5%</a:t>
            </a:r>
            <a:endParaRPr lang="en-US" sz="621" dirty="0"/>
          </a:p>
        </p:txBody>
      </p:sp>
      <p:sp>
        <p:nvSpPr>
          <p:cNvPr id="51" name="Shape 48"/>
          <p:cNvSpPr/>
          <p:nvPr/>
        </p:nvSpPr>
        <p:spPr>
          <a:xfrm>
            <a:off x="7995726" y="2769989"/>
            <a:ext cx="787515" cy="253603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995726" y="2769989"/>
            <a:ext cx="787515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CCCCC"/>
                </a:solidFill>
              </a:rPr>
              <a:t>$712</a:t>
            </a:r>
            <a:endParaRPr lang="en-US" sz="584" dirty="0"/>
          </a:p>
        </p:txBody>
      </p:sp>
      <p:sp>
        <p:nvSpPr>
          <p:cNvPr id="53" name="Shape 50"/>
          <p:cNvSpPr/>
          <p:nvPr/>
        </p:nvSpPr>
        <p:spPr>
          <a:xfrm>
            <a:off x="4682728" y="3020020"/>
            <a:ext cx="3312998" cy="23931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4" name="Shape 51"/>
          <p:cNvSpPr/>
          <p:nvPr/>
        </p:nvSpPr>
        <p:spPr>
          <a:xfrm>
            <a:off x="4682728" y="3020020"/>
            <a:ext cx="3312998" cy="142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5" name="Shape 52"/>
          <p:cNvSpPr/>
          <p:nvPr/>
        </p:nvSpPr>
        <p:spPr>
          <a:xfrm>
            <a:off x="7988582" y="3020020"/>
            <a:ext cx="7144" cy="2393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6" name="Shape 53"/>
          <p:cNvSpPr/>
          <p:nvPr/>
        </p:nvSpPr>
        <p:spPr>
          <a:xfrm>
            <a:off x="4682728" y="3245048"/>
            <a:ext cx="3312998" cy="142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7" name="Shape 54"/>
          <p:cNvSpPr/>
          <p:nvPr/>
        </p:nvSpPr>
        <p:spPr>
          <a:xfrm>
            <a:off x="4682728" y="3020020"/>
            <a:ext cx="7144" cy="2393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8" name="Text 55"/>
          <p:cNvSpPr/>
          <p:nvPr/>
        </p:nvSpPr>
        <p:spPr>
          <a:xfrm>
            <a:off x="4682728" y="3020020"/>
            <a:ext cx="3312998" cy="2393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2C55E"/>
                </a:solidFill>
              </a:rPr>
              <a:t>MONTHLY TOTAL</a:t>
            </a:r>
            <a:endParaRPr lang="en-US" sz="584" dirty="0"/>
          </a:p>
        </p:txBody>
      </p:sp>
      <p:sp>
        <p:nvSpPr>
          <p:cNvPr id="59" name="Shape 56"/>
          <p:cNvSpPr/>
          <p:nvPr/>
        </p:nvSpPr>
        <p:spPr>
          <a:xfrm>
            <a:off x="7995028" y="3020020"/>
            <a:ext cx="788212" cy="23931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0" name="Shape 57"/>
          <p:cNvSpPr/>
          <p:nvPr/>
        </p:nvSpPr>
        <p:spPr>
          <a:xfrm>
            <a:off x="7995028" y="3020020"/>
            <a:ext cx="788212" cy="142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1" name="Shape 58"/>
          <p:cNvSpPr/>
          <p:nvPr/>
        </p:nvSpPr>
        <p:spPr>
          <a:xfrm>
            <a:off x="8776097" y="3020020"/>
            <a:ext cx="7144" cy="2393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2" name="Shape 59"/>
          <p:cNvSpPr/>
          <p:nvPr/>
        </p:nvSpPr>
        <p:spPr>
          <a:xfrm>
            <a:off x="7995028" y="3245048"/>
            <a:ext cx="788212" cy="142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3" name="Shape 60"/>
          <p:cNvSpPr/>
          <p:nvPr/>
        </p:nvSpPr>
        <p:spPr>
          <a:xfrm>
            <a:off x="7995028" y="3020020"/>
            <a:ext cx="7144" cy="2393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4" name="Text 61"/>
          <p:cNvSpPr/>
          <p:nvPr/>
        </p:nvSpPr>
        <p:spPr>
          <a:xfrm>
            <a:off x="7995028" y="3020020"/>
            <a:ext cx="788212" cy="2393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2C55E"/>
                </a:solidFill>
              </a:rPr>
              <a:t>$3,451</a:t>
            </a:r>
            <a:endParaRPr lang="en-US" sz="584" dirty="0"/>
          </a:p>
        </p:txBody>
      </p:sp>
      <p:sp>
        <p:nvSpPr>
          <p:cNvPr id="65" name="Shape 62"/>
          <p:cNvSpPr/>
          <p:nvPr/>
        </p:nvSpPr>
        <p:spPr>
          <a:xfrm>
            <a:off x="4679156" y="3359348"/>
            <a:ext cx="4107656" cy="587573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750594" y="3445073"/>
            <a:ext cx="39647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999999"/>
                </a:solidFill>
              </a:rPr>
              <a:t>Annual Projection</a:t>
            </a:r>
            <a:endParaRPr lang="en-US" sz="568" dirty="0"/>
          </a:p>
        </p:txBody>
      </p:sp>
      <p:sp>
        <p:nvSpPr>
          <p:cNvPr id="67" name="Text 64"/>
          <p:cNvSpPr/>
          <p:nvPr/>
        </p:nvSpPr>
        <p:spPr>
          <a:xfrm>
            <a:off x="4750594" y="3587948"/>
            <a:ext cx="39647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2C55E"/>
                </a:solidFill>
              </a:rPr>
              <a:t>$41,418</a:t>
            </a:r>
            <a:endParaRPr lang="en-US" sz="1397" dirty="0"/>
          </a:p>
        </p:txBody>
      </p:sp>
      <p:sp>
        <p:nvSpPr>
          <p:cNvPr id="68" name="Shape 65"/>
          <p:cNvSpPr/>
          <p:nvPr/>
        </p:nvSpPr>
        <p:spPr>
          <a:xfrm>
            <a:off x="0" y="4659511"/>
            <a:ext cx="9144000" cy="483989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0" y="4659511"/>
            <a:ext cx="9144000" cy="142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0" name="Shape 67"/>
          <p:cNvSpPr/>
          <p:nvPr/>
        </p:nvSpPr>
        <p:spPr>
          <a:xfrm>
            <a:off x="357188" y="4759523"/>
            <a:ext cx="8429625" cy="298252"/>
          </a:xfrm>
          <a:prstGeom prst="rect">
            <a:avLst/>
          </a:prstGeom>
          <a:solidFill>
            <a:srgbClr val="22C55E">
              <a:alpha val="10000"/>
            </a:srgbClr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57188" y="4759523"/>
            <a:ext cx="8429625" cy="29825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2C55E"/>
                </a:solidFill>
              </a:rPr>
              <a:t>✓ FLOOR SCENARIO: This is the conservative estimate. Actual results will likely exceed this projection as scarcity mechanics and risk reversal optimize over time.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733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59061"/>
            <a:ext cx="9144000" cy="142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22C55E"/>
                </a:solidFill>
              </a:rPr>
              <a:t>Revenue Ceiling: 25% Conversion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Optimistic Scenario - All Tactics Achieve Target Performance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285750" y="1238548"/>
            <a:ext cx="2800350" cy="2171700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7188" y="1309985"/>
            <a:ext cx="2657475" cy="17680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22C55E"/>
                </a:solidFill>
              </a:rPr>
              <a:t>Anchor Tier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357188" y="1543943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Monthly Transactions</a:t>
            </a:r>
            <a:endParaRPr lang="en-US" sz="516" dirty="0"/>
          </a:p>
        </p:txBody>
      </p:sp>
      <p:sp>
        <p:nvSpPr>
          <p:cNvPr id="10" name="Text 7"/>
          <p:cNvSpPr/>
          <p:nvPr/>
        </p:nvSpPr>
        <p:spPr>
          <a:xfrm>
            <a:off x="357188" y="1663601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250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57188" y="1881485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Conversion Rate</a:t>
            </a:r>
            <a:endParaRPr lang="en-US" sz="516" dirty="0"/>
          </a:p>
        </p:txBody>
      </p:sp>
      <p:sp>
        <p:nvSpPr>
          <p:cNvPr id="12" name="Text 9"/>
          <p:cNvSpPr/>
          <p:nvPr/>
        </p:nvSpPr>
        <p:spPr>
          <a:xfrm>
            <a:off x="357188" y="2001143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25%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357188" y="2219027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Revenue per Upsell</a:t>
            </a:r>
            <a:endParaRPr lang="en-US" sz="516" dirty="0"/>
          </a:p>
        </p:txBody>
      </p:sp>
      <p:sp>
        <p:nvSpPr>
          <p:cNvPr id="14" name="Text 11"/>
          <p:cNvSpPr/>
          <p:nvPr/>
        </p:nvSpPr>
        <p:spPr>
          <a:xfrm>
            <a:off x="357188" y="2338685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$39.20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57188" y="2635151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Monthly Revenue</a:t>
            </a:r>
            <a:endParaRPr lang="en-US" sz="516" dirty="0"/>
          </a:p>
        </p:txBody>
      </p:sp>
      <p:sp>
        <p:nvSpPr>
          <p:cNvPr id="16" name="Text 13"/>
          <p:cNvSpPr/>
          <p:nvPr/>
        </p:nvSpPr>
        <p:spPr>
          <a:xfrm>
            <a:off x="357188" y="2754809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$2,450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57188" y="2972693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Annual Revenue</a:t>
            </a:r>
            <a:endParaRPr lang="en-US" sz="516" dirty="0"/>
          </a:p>
        </p:txBody>
      </p:sp>
      <p:sp>
        <p:nvSpPr>
          <p:cNvPr id="18" name="Text 15"/>
          <p:cNvSpPr/>
          <p:nvPr/>
        </p:nvSpPr>
        <p:spPr>
          <a:xfrm>
            <a:off x="357188" y="3092351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$29,400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3171825" y="1238548"/>
            <a:ext cx="2800350" cy="2171700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43263" y="1309985"/>
            <a:ext cx="2657475" cy="17680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22C55E"/>
                </a:solidFill>
              </a:rPr>
              <a:t>Whale Tier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3243263" y="1543943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Monthly Transactions</a:t>
            </a:r>
            <a:endParaRPr lang="en-US" sz="516" dirty="0"/>
          </a:p>
        </p:txBody>
      </p:sp>
      <p:sp>
        <p:nvSpPr>
          <p:cNvPr id="22" name="Text 19"/>
          <p:cNvSpPr/>
          <p:nvPr/>
        </p:nvSpPr>
        <p:spPr>
          <a:xfrm>
            <a:off x="3243263" y="1663601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50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3243263" y="1881485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Conversion Rate</a:t>
            </a:r>
            <a:endParaRPr lang="en-US" sz="516" dirty="0"/>
          </a:p>
        </p:txBody>
      </p:sp>
      <p:sp>
        <p:nvSpPr>
          <p:cNvPr id="24" name="Text 21"/>
          <p:cNvSpPr/>
          <p:nvPr/>
        </p:nvSpPr>
        <p:spPr>
          <a:xfrm>
            <a:off x="3243263" y="2001143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25%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3243263" y="2219027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Revenue per Upsell</a:t>
            </a:r>
            <a:endParaRPr lang="en-US" sz="516" dirty="0"/>
          </a:p>
        </p:txBody>
      </p:sp>
      <p:sp>
        <p:nvSpPr>
          <p:cNvPr id="26" name="Text 23"/>
          <p:cNvSpPr/>
          <p:nvPr/>
        </p:nvSpPr>
        <p:spPr>
          <a:xfrm>
            <a:off x="3243263" y="2338685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$169.15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3243263" y="2635151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Monthly Revenue</a:t>
            </a:r>
            <a:endParaRPr lang="en-US" sz="516" dirty="0"/>
          </a:p>
        </p:txBody>
      </p:sp>
      <p:sp>
        <p:nvSpPr>
          <p:cNvPr id="28" name="Text 25"/>
          <p:cNvSpPr/>
          <p:nvPr/>
        </p:nvSpPr>
        <p:spPr>
          <a:xfrm>
            <a:off x="3243263" y="2754809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$2,113.75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3243263" y="2972693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Annual Revenue</a:t>
            </a:r>
            <a:endParaRPr lang="en-US" sz="516" dirty="0"/>
          </a:p>
        </p:txBody>
      </p:sp>
      <p:sp>
        <p:nvSpPr>
          <p:cNvPr id="30" name="Text 27"/>
          <p:cNvSpPr/>
          <p:nvPr/>
        </p:nvSpPr>
        <p:spPr>
          <a:xfrm>
            <a:off x="3243263" y="3092351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$25,365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6057900" y="1238548"/>
            <a:ext cx="2800350" cy="2171700"/>
          </a:xfrm>
          <a:prstGeom prst="rect">
            <a:avLst/>
          </a:prstGeom>
          <a:solidFill>
            <a:srgbClr val="1A1A1A"/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9338" y="1324273"/>
            <a:ext cx="2657475" cy="17680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22C55E"/>
                </a:solidFill>
              </a:rPr>
              <a:t>Cross-Sell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6129338" y="1558230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Non-Converters</a:t>
            </a:r>
            <a:endParaRPr lang="en-US" sz="516" dirty="0"/>
          </a:p>
        </p:txBody>
      </p:sp>
      <p:sp>
        <p:nvSpPr>
          <p:cNvPr id="34" name="Text 31"/>
          <p:cNvSpPr/>
          <p:nvPr/>
        </p:nvSpPr>
        <p:spPr>
          <a:xfrm>
            <a:off x="6129338" y="1677888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750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6129338" y="1895773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Conversion Rate</a:t>
            </a:r>
            <a:endParaRPr lang="en-US" sz="516" dirty="0"/>
          </a:p>
        </p:txBody>
      </p:sp>
      <p:sp>
        <p:nvSpPr>
          <p:cNvPr id="36" name="Text 33"/>
          <p:cNvSpPr/>
          <p:nvPr/>
        </p:nvSpPr>
        <p:spPr>
          <a:xfrm>
            <a:off x="6129338" y="2015430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10%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6129338" y="2233315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Revenue per Upsell</a:t>
            </a:r>
            <a:endParaRPr lang="en-US" sz="516" dirty="0"/>
          </a:p>
        </p:txBody>
      </p:sp>
      <p:sp>
        <p:nvSpPr>
          <p:cNvPr id="38" name="Text 35"/>
          <p:cNvSpPr/>
          <p:nvPr/>
        </p:nvSpPr>
        <p:spPr>
          <a:xfrm>
            <a:off x="6129338" y="2352973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$19.00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6129338" y="2649438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Monthly Revenue</a:t>
            </a:r>
            <a:endParaRPr lang="en-US" sz="516" dirty="0"/>
          </a:p>
        </p:txBody>
      </p:sp>
      <p:sp>
        <p:nvSpPr>
          <p:cNvPr id="40" name="Text 37"/>
          <p:cNvSpPr/>
          <p:nvPr/>
        </p:nvSpPr>
        <p:spPr>
          <a:xfrm>
            <a:off x="6129338" y="2769096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$1,425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6129338" y="2986980"/>
            <a:ext cx="265747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Annual Revenue</a:t>
            </a:r>
            <a:endParaRPr lang="en-US" sz="516" dirty="0"/>
          </a:p>
        </p:txBody>
      </p:sp>
      <p:sp>
        <p:nvSpPr>
          <p:cNvPr id="42" name="Text 39"/>
          <p:cNvSpPr/>
          <p:nvPr/>
        </p:nvSpPr>
        <p:spPr>
          <a:xfrm>
            <a:off x="6129338" y="3106638"/>
            <a:ext cx="2657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$17,100</a:t>
            </a:r>
            <a:endParaRPr lang="en-US" sz="885" dirty="0"/>
          </a:p>
        </p:txBody>
      </p:sp>
      <p:sp>
        <p:nvSpPr>
          <p:cNvPr id="43" name="Shape 40"/>
          <p:cNvSpPr/>
          <p:nvPr/>
        </p:nvSpPr>
        <p:spPr>
          <a:xfrm>
            <a:off x="285750" y="3481685"/>
            <a:ext cx="8572500" cy="810816"/>
          </a:xfrm>
          <a:prstGeom prst="rect">
            <a:avLst/>
          </a:prstGeom>
          <a:solidFill>
            <a:srgbClr val="22C55E">
              <a:alpha val="10000"/>
            </a:srgbClr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57188" y="3567410"/>
            <a:ext cx="8429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22C55E"/>
                </a:solidFill>
              </a:rPr>
              <a:t>Total Additional Revenue (25% Conversion Ceiling)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357188" y="3751362"/>
            <a:ext cx="41719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2C55E"/>
                </a:solidFill>
              </a:rPr>
              <a:t>$5,988.75</a:t>
            </a:r>
            <a:endParaRPr lang="en-US" sz="1602" dirty="0"/>
          </a:p>
        </p:txBody>
      </p:sp>
      <p:sp>
        <p:nvSpPr>
          <p:cNvPr id="46" name="Text 43"/>
          <p:cNvSpPr/>
          <p:nvPr/>
        </p:nvSpPr>
        <p:spPr>
          <a:xfrm>
            <a:off x="357188" y="4099620"/>
            <a:ext cx="41719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Monthly Additional Revenue</a:t>
            </a:r>
            <a:endParaRPr lang="en-US" sz="568" dirty="0"/>
          </a:p>
        </p:txBody>
      </p:sp>
      <p:sp>
        <p:nvSpPr>
          <p:cNvPr id="47" name="Text 44"/>
          <p:cNvSpPr/>
          <p:nvPr/>
        </p:nvSpPr>
        <p:spPr>
          <a:xfrm>
            <a:off x="4614863" y="3751362"/>
            <a:ext cx="41719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2C55E"/>
                </a:solidFill>
              </a:rPr>
              <a:t>$69,030</a:t>
            </a:r>
            <a:endParaRPr lang="en-US" sz="1602" dirty="0"/>
          </a:p>
        </p:txBody>
      </p:sp>
      <p:sp>
        <p:nvSpPr>
          <p:cNvPr id="48" name="Text 45"/>
          <p:cNvSpPr/>
          <p:nvPr/>
        </p:nvSpPr>
        <p:spPr>
          <a:xfrm>
            <a:off x="4614863" y="4099620"/>
            <a:ext cx="41719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Annual Additional Revenue</a:t>
            </a:r>
            <a:endParaRPr lang="en-US" sz="568" dirty="0"/>
          </a:p>
        </p:txBody>
      </p:sp>
      <p:sp>
        <p:nvSpPr>
          <p:cNvPr id="49" name="Shape 46"/>
          <p:cNvSpPr/>
          <p:nvPr/>
        </p:nvSpPr>
        <p:spPr>
          <a:xfrm>
            <a:off x="0" y="4543425"/>
            <a:ext cx="9144000" cy="600075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0" y="4543425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1" name="Shape 48"/>
          <p:cNvSpPr/>
          <p:nvPr/>
        </p:nvSpPr>
        <p:spPr>
          <a:xfrm>
            <a:off x="357188" y="4643438"/>
            <a:ext cx="8429625" cy="414338"/>
          </a:xfrm>
          <a:prstGeom prst="rect">
            <a:avLst/>
          </a:prstGeom>
          <a:solidFill>
            <a:srgbClr val="22C55E">
              <a:alpha val="10000"/>
            </a:srgbClr>
          </a:solidFill>
          <a:ln w="18288">
            <a:solidFill>
              <a:srgbClr val="22C55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57188" y="4643438"/>
            <a:ext cx="8429625" cy="41433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2C55E"/>
                </a:solidFill>
              </a:rPr>
              <a:t>✓ CEILING ACHIEVED: When all conversion optimization tactics perform at target levels (25% Forge Conversion Rate), ETHINX Revenue Forge delivers $69,030 annual revenue uplift per 1,000 monthly transactions.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162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01923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D4AF37"/>
                </a:solidFill>
              </a:rPr>
              <a:t>Technical Superiority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Five Hardened Features Create Defensible Competitive Moat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357188" y="1390241"/>
            <a:ext cx="1628775" cy="1536520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913" y="1475966"/>
            <a:ext cx="14573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D4AF37"/>
                </a:solidFill>
              </a:rPr>
              <a:t>🔐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442913" y="1806364"/>
            <a:ext cx="1457325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Hardened Webhook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Verification</a:t>
            </a:r>
            <a:endParaRPr lang="en-US" sz="534" dirty="0"/>
          </a:p>
        </p:txBody>
      </p:sp>
      <p:sp>
        <p:nvSpPr>
          <p:cNvPr id="10" name="Text 7"/>
          <p:cNvSpPr/>
          <p:nvPr/>
        </p:nvSpPr>
        <p:spPr>
          <a:xfrm>
            <a:off x="442913" y="2067781"/>
            <a:ext cx="1457325" cy="57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Raw body signature validation using stripe.webhooks.constructEvent. Cryptographic verification prevents spoofing and man-in-the-middle attacks.</a:t>
            </a:r>
            <a:endParaRPr lang="en-US" sz="568" dirty="0"/>
          </a:p>
        </p:txBody>
      </p:sp>
      <p:sp>
        <p:nvSpPr>
          <p:cNvPr id="11" name="Text 8"/>
          <p:cNvSpPr/>
          <p:nvPr/>
        </p:nvSpPr>
        <p:spPr>
          <a:xfrm>
            <a:off x="442913" y="2703519"/>
            <a:ext cx="1457325" cy="137517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D4AF37"/>
                </a:solidFill>
              </a:rPr>
              <a:t>No Fraud Risk</a:t>
            </a:r>
            <a:endParaRPr lang="en-US" sz="463" dirty="0"/>
          </a:p>
        </p:txBody>
      </p:sp>
      <p:sp>
        <p:nvSpPr>
          <p:cNvPr id="12" name="Shape 9"/>
          <p:cNvSpPr/>
          <p:nvPr/>
        </p:nvSpPr>
        <p:spPr>
          <a:xfrm>
            <a:off x="2057400" y="1390241"/>
            <a:ext cx="1628775" cy="1536520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43125" y="1475966"/>
            <a:ext cx="14573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D4AF37"/>
                </a:solidFill>
              </a:rPr>
              <a:t>🔒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2143125" y="1806364"/>
            <a:ext cx="1457325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Idempotency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Locking</a:t>
            </a:r>
            <a:endParaRPr lang="en-US" sz="534" dirty="0"/>
          </a:p>
        </p:txBody>
      </p:sp>
      <p:sp>
        <p:nvSpPr>
          <p:cNvPr id="15" name="Text 12"/>
          <p:cNvSpPr/>
          <p:nvPr/>
        </p:nvSpPr>
        <p:spPr>
          <a:xfrm>
            <a:off x="2143125" y="2067781"/>
            <a:ext cx="1457325" cy="57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File-based processed_events.json tracking prevents double-charging. Every webhook is checked for duplicates before fulfillment processing.</a:t>
            </a:r>
            <a:endParaRPr lang="en-US" sz="568" dirty="0"/>
          </a:p>
        </p:txBody>
      </p:sp>
      <p:sp>
        <p:nvSpPr>
          <p:cNvPr id="16" name="Text 13"/>
          <p:cNvSpPr/>
          <p:nvPr/>
        </p:nvSpPr>
        <p:spPr>
          <a:xfrm>
            <a:off x="2143125" y="2703519"/>
            <a:ext cx="1457325" cy="137517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D4AF37"/>
                </a:solidFill>
              </a:rPr>
              <a:t>Zero Double-Charges</a:t>
            </a:r>
            <a:endParaRPr lang="en-US" sz="463" dirty="0"/>
          </a:p>
        </p:txBody>
      </p:sp>
      <p:sp>
        <p:nvSpPr>
          <p:cNvPr id="17" name="Shape 14"/>
          <p:cNvSpPr/>
          <p:nvPr/>
        </p:nvSpPr>
        <p:spPr>
          <a:xfrm>
            <a:off x="3757613" y="1390241"/>
            <a:ext cx="1628775" cy="1536520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3338" y="1475966"/>
            <a:ext cx="14573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D4AF37"/>
                </a:solidFill>
              </a:rPr>
              <a:t>⚖️</a:t>
            </a:r>
            <a:endParaRPr lang="en-US" sz="1486" dirty="0"/>
          </a:p>
        </p:txBody>
      </p:sp>
      <p:sp>
        <p:nvSpPr>
          <p:cNvPr id="19" name="Text 16"/>
          <p:cNvSpPr/>
          <p:nvPr/>
        </p:nvSpPr>
        <p:spPr>
          <a:xfrm>
            <a:off x="3843338" y="1806364"/>
            <a:ext cx="1457325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Automated FBT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Compliance</a:t>
            </a:r>
            <a:endParaRPr lang="en-US" sz="534" dirty="0"/>
          </a:p>
        </p:txBody>
      </p:sp>
      <p:sp>
        <p:nvSpPr>
          <p:cNvPr id="20" name="Text 17"/>
          <p:cNvSpPr/>
          <p:nvPr/>
        </p:nvSpPr>
        <p:spPr>
          <a:xfrm>
            <a:off x="3843338" y="2067781"/>
            <a:ext cx="1457325" cy="57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fbt_exempt metadata flag automatically enforced for EV products. Logic gate prevents manual errors. Regulatory compliance built into system DNA.</a:t>
            </a:r>
            <a:endParaRPr lang="en-US" sz="568" dirty="0"/>
          </a:p>
        </p:txBody>
      </p:sp>
      <p:sp>
        <p:nvSpPr>
          <p:cNvPr id="21" name="Text 18"/>
          <p:cNvSpPr/>
          <p:nvPr/>
        </p:nvSpPr>
        <p:spPr>
          <a:xfrm>
            <a:off x="3843338" y="2703519"/>
            <a:ext cx="1457325" cy="137517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D4AF37"/>
                </a:solidFill>
              </a:rPr>
              <a:t>No Penalties</a:t>
            </a:r>
            <a:endParaRPr lang="en-US" sz="463" dirty="0"/>
          </a:p>
        </p:txBody>
      </p:sp>
      <p:sp>
        <p:nvSpPr>
          <p:cNvPr id="22" name="Shape 19"/>
          <p:cNvSpPr/>
          <p:nvPr/>
        </p:nvSpPr>
        <p:spPr>
          <a:xfrm>
            <a:off x="5457825" y="1390241"/>
            <a:ext cx="1628775" cy="1536520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43550" y="1475966"/>
            <a:ext cx="14573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D4AF37"/>
                </a:solidFill>
              </a:rPr>
              <a:t>⚡</a:t>
            </a:r>
            <a:endParaRPr lang="en-US" sz="1486" dirty="0"/>
          </a:p>
        </p:txBody>
      </p:sp>
      <p:sp>
        <p:nvSpPr>
          <p:cNvPr id="24" name="Text 21"/>
          <p:cNvSpPr/>
          <p:nvPr/>
        </p:nvSpPr>
        <p:spPr>
          <a:xfrm>
            <a:off x="5543550" y="1806364"/>
            <a:ext cx="1457325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Real-Time WebSocket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Integration</a:t>
            </a:r>
            <a:endParaRPr lang="en-US" sz="534" dirty="0"/>
          </a:p>
        </p:txBody>
      </p:sp>
      <p:sp>
        <p:nvSpPr>
          <p:cNvPr id="25" name="Text 22"/>
          <p:cNvSpPr/>
          <p:nvPr/>
        </p:nvSpPr>
        <p:spPr>
          <a:xfrm>
            <a:off x="5543550" y="2067781"/>
            <a:ext cx="1457325" cy="57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Live connection to Hetzner Controller (ws://91.99.162.243:3001). Heartbeat mechanism keeps connection alive. Auto-reconnection with exponential backoff.</a:t>
            </a:r>
            <a:endParaRPr lang="en-US" sz="568" dirty="0"/>
          </a:p>
        </p:txBody>
      </p:sp>
      <p:sp>
        <p:nvSpPr>
          <p:cNvPr id="26" name="Text 23"/>
          <p:cNvSpPr/>
          <p:nvPr/>
        </p:nvSpPr>
        <p:spPr>
          <a:xfrm>
            <a:off x="5543550" y="2703519"/>
            <a:ext cx="1457325" cy="137517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D4AF37"/>
                </a:solidFill>
              </a:rPr>
              <a:t>Zero Latency</a:t>
            </a:r>
            <a:endParaRPr lang="en-US" sz="463" dirty="0"/>
          </a:p>
        </p:txBody>
      </p:sp>
      <p:sp>
        <p:nvSpPr>
          <p:cNvPr id="27" name="Shape 24"/>
          <p:cNvSpPr/>
          <p:nvPr/>
        </p:nvSpPr>
        <p:spPr>
          <a:xfrm>
            <a:off x="7158038" y="1390241"/>
            <a:ext cx="1628775" cy="1536520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43763" y="1490253"/>
            <a:ext cx="14573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D4AF37"/>
                </a:solidFill>
              </a:rPr>
              <a:t>📊</a:t>
            </a:r>
            <a:endParaRPr lang="en-US" sz="1486" dirty="0"/>
          </a:p>
        </p:txBody>
      </p:sp>
      <p:sp>
        <p:nvSpPr>
          <p:cNvPr id="29" name="Text 26"/>
          <p:cNvSpPr/>
          <p:nvPr/>
        </p:nvSpPr>
        <p:spPr>
          <a:xfrm>
            <a:off x="7243763" y="1820652"/>
            <a:ext cx="1457325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Forge Conversion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5F5F5"/>
                </a:solidFill>
              </a:rPr>
              <a:t>Rate Analytics</a:t>
            </a:r>
            <a:endParaRPr lang="en-US" sz="534" dirty="0"/>
          </a:p>
        </p:txBody>
      </p:sp>
      <p:sp>
        <p:nvSpPr>
          <p:cNvPr id="30" name="Text 27"/>
          <p:cNvSpPr/>
          <p:nvPr/>
        </p:nvSpPr>
        <p:spPr>
          <a:xfrm>
            <a:off x="7243763" y="2082068"/>
            <a:ext cx="1457325" cy="55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Real-time tracking of upsell acceptance rates by tier. Tier-specific breakdown (Anchor, Whale, Cross-Sell). Revenue impact metrics auto-calculated.</a:t>
            </a:r>
            <a:endParaRPr lang="en-US" sz="568" dirty="0"/>
          </a:p>
        </p:txBody>
      </p:sp>
      <p:sp>
        <p:nvSpPr>
          <p:cNvPr id="31" name="Text 28"/>
          <p:cNvSpPr/>
          <p:nvPr/>
        </p:nvSpPr>
        <p:spPr>
          <a:xfrm>
            <a:off x="7243763" y="2689231"/>
            <a:ext cx="1457325" cy="137517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D4AF37"/>
                </a:solidFill>
              </a:rPr>
              <a:t>Full Visibility</a:t>
            </a:r>
            <a:endParaRPr lang="en-US" sz="463" dirty="0"/>
          </a:p>
        </p:txBody>
      </p:sp>
      <p:sp>
        <p:nvSpPr>
          <p:cNvPr id="32" name="Shape 29"/>
          <p:cNvSpPr/>
          <p:nvPr/>
        </p:nvSpPr>
        <p:spPr>
          <a:xfrm>
            <a:off x="357188" y="3055348"/>
            <a:ext cx="8429625" cy="1078316"/>
          </a:xfrm>
          <a:prstGeom prst="rect">
            <a:avLst/>
          </a:prstGeom>
          <a:solidFill>
            <a:srgbClr val="D4AF37">
              <a:alpha val="10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4344" y="3176792"/>
            <a:ext cx="82153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4AF37"/>
                </a:solidFill>
              </a:rPr>
              <a:t>Defensible Competitive Advantages</a:t>
            </a:r>
            <a:endParaRPr lang="en-US" sz="634" dirty="0"/>
          </a:p>
        </p:txBody>
      </p:sp>
      <p:sp>
        <p:nvSpPr>
          <p:cNvPr id="34" name="Shape 31"/>
          <p:cNvSpPr/>
          <p:nvPr/>
        </p:nvSpPr>
        <p:spPr>
          <a:xfrm>
            <a:off x="464344" y="3375031"/>
            <a:ext cx="2666991" cy="637189"/>
          </a:xfrm>
          <a:prstGeom prst="rect">
            <a:avLst/>
          </a:prstGeom>
          <a:solidFill>
            <a:srgbClr val="1A1A1A"/>
          </a:solidFill>
          <a:ln w="9144">
            <a:solidFill>
              <a:srgbClr val="D4AF3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5781" y="3446469"/>
            <a:ext cx="25241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4AF37"/>
                </a:solidFill>
              </a:rPr>
              <a:t>Enterprise Security</a:t>
            </a:r>
            <a:endParaRPr lang="en-US" sz="534" dirty="0"/>
          </a:p>
        </p:txBody>
      </p:sp>
      <p:sp>
        <p:nvSpPr>
          <p:cNvPr id="36" name="Text 33"/>
          <p:cNvSpPr/>
          <p:nvPr/>
        </p:nvSpPr>
        <p:spPr>
          <a:xfrm>
            <a:off x="535781" y="3596487"/>
            <a:ext cx="2524116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Military-grade webhook verification and idempotency locking create regulatory compliance moat that competitors cannot easily replicate.</a:t>
            </a:r>
            <a:endParaRPr lang="en-US" sz="568" dirty="0"/>
          </a:p>
        </p:txBody>
      </p:sp>
      <p:sp>
        <p:nvSpPr>
          <p:cNvPr id="37" name="Shape 34"/>
          <p:cNvSpPr/>
          <p:nvPr/>
        </p:nvSpPr>
        <p:spPr>
          <a:xfrm>
            <a:off x="3238491" y="3375031"/>
            <a:ext cx="2666991" cy="637189"/>
          </a:xfrm>
          <a:prstGeom prst="rect">
            <a:avLst/>
          </a:prstGeom>
          <a:solidFill>
            <a:srgbClr val="1A1A1A"/>
          </a:solidFill>
          <a:ln w="9144">
            <a:solidFill>
              <a:srgbClr val="D4AF3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09928" y="3446469"/>
            <a:ext cx="25241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4AF37"/>
                </a:solidFill>
              </a:rPr>
              <a:t>Real-Time Intelligence</a:t>
            </a:r>
            <a:endParaRPr lang="en-US" sz="534" dirty="0"/>
          </a:p>
        </p:txBody>
      </p:sp>
      <p:sp>
        <p:nvSpPr>
          <p:cNvPr id="39" name="Text 36"/>
          <p:cNvSpPr/>
          <p:nvPr/>
        </p:nvSpPr>
        <p:spPr>
          <a:xfrm>
            <a:off x="3309928" y="3596487"/>
            <a:ext cx="2524116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WebSocket integration provides live transaction visibility and Neural Recon alerts. Competitors using REST APIs operate with 24-hour latency.</a:t>
            </a:r>
            <a:endParaRPr lang="en-US" sz="568" dirty="0"/>
          </a:p>
        </p:txBody>
      </p:sp>
      <p:sp>
        <p:nvSpPr>
          <p:cNvPr id="40" name="Shape 37"/>
          <p:cNvSpPr/>
          <p:nvPr/>
        </p:nvSpPr>
        <p:spPr>
          <a:xfrm>
            <a:off x="6012638" y="3375031"/>
            <a:ext cx="2667019" cy="637189"/>
          </a:xfrm>
          <a:prstGeom prst="rect">
            <a:avLst/>
          </a:prstGeom>
          <a:solidFill>
            <a:srgbClr val="1A1A1A"/>
          </a:solidFill>
          <a:ln w="9144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84075" y="3453612"/>
            <a:ext cx="25241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D4AF37"/>
                </a:solidFill>
              </a:rPr>
              <a:t>Behavioral Economics</a:t>
            </a:r>
            <a:endParaRPr lang="en-US" sz="534" dirty="0"/>
          </a:p>
        </p:txBody>
      </p:sp>
      <p:sp>
        <p:nvSpPr>
          <p:cNvPr id="42" name="Text 39"/>
          <p:cNvSpPr/>
          <p:nvPr/>
        </p:nvSpPr>
        <p:spPr>
          <a:xfrm>
            <a:off x="6084075" y="3603631"/>
            <a:ext cx="2524144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Scarcity engine, risk reversal, and tier-specific upsells are powered by proven psychological principles. Difficult to copy without deep behavioral expertise.</a:t>
            </a:r>
            <a:endParaRPr lang="en-US" sz="568" dirty="0"/>
          </a:p>
        </p:txBody>
      </p:sp>
      <p:sp>
        <p:nvSpPr>
          <p:cNvPr id="43" name="Shape 40"/>
          <p:cNvSpPr/>
          <p:nvPr/>
        </p:nvSpPr>
        <p:spPr>
          <a:xfrm>
            <a:off x="0" y="4543425"/>
            <a:ext cx="9144000" cy="600075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0" y="4543425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5" name="Shape 42"/>
          <p:cNvSpPr/>
          <p:nvPr/>
        </p:nvSpPr>
        <p:spPr>
          <a:xfrm>
            <a:off x="357188" y="4643438"/>
            <a:ext cx="8429625" cy="414338"/>
          </a:xfrm>
          <a:prstGeom prst="rect">
            <a:avLst/>
          </a:prstGeom>
          <a:solidFill>
            <a:srgbClr val="D4AF37">
              <a:alpha val="10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57188" y="4643438"/>
            <a:ext cx="8429625" cy="41433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AF37"/>
                </a:solidFill>
              </a:rPr>
              <a:t>✓ DEFENSIBLE MOAT: This is not a feature set—it's a hardened financial engine. Security, compliance, real-time intelligence, and behavioral economics create a defensible competitive advantage that compounds over time.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921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590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44773"/>
            <a:ext cx="9144000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F59E0B"/>
                </a:solidFill>
              </a:rPr>
              <a:t>Risk Mitigation: Plan B Strategy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Contingency Activation for Market Capture Resilience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285750" y="1130498"/>
            <a:ext cx="4800600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Trigger Condition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285750" y="1448395"/>
            <a:ext cx="4800600" cy="642938"/>
          </a:xfrm>
          <a:prstGeom prst="rect">
            <a:avLst/>
          </a:prstGeom>
          <a:solidFill>
            <a:srgbClr val="1A1A1A"/>
          </a:solidFill>
          <a:ln w="18288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7188" y="1519833"/>
            <a:ext cx="46577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F59E0B"/>
                </a:solidFill>
              </a:rPr>
              <a:t>Primary Scenario (Plan A)</a:t>
            </a:r>
            <a:endParaRPr lang="en-US" sz="568" dirty="0"/>
          </a:p>
        </p:txBody>
      </p:sp>
      <p:sp>
        <p:nvSpPr>
          <p:cNvPr id="10" name="Text 7"/>
          <p:cNvSpPr/>
          <p:nvPr/>
        </p:nvSpPr>
        <p:spPr>
          <a:xfrm>
            <a:off x="357188" y="1669852"/>
            <a:ext cx="46577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Vault tier ($2,500) Neural Priority Pipeline conversion performs at 15–25% target rate. Revenue baseline: $1,269–$2,030 monthly per 50 txns.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285750" y="2134195"/>
            <a:ext cx="4800600" cy="734020"/>
          </a:xfrm>
          <a:prstGeom prst="rect">
            <a:avLst/>
          </a:prstGeom>
          <a:solidFill>
            <a:srgbClr val="1A1A1A"/>
          </a:solidFill>
          <a:ln w="18288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7188" y="2205633"/>
            <a:ext cx="46577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spc="1" kern="0" dirty="0">
                <a:solidFill>
                  <a:srgbClr val="F59E0B"/>
                </a:solidFill>
              </a:rPr>
              <a:t>Contingency Trigger (Plan B)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357188" y="2355652"/>
            <a:ext cx="46577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If Vault conversion &lt; 10% for two consecutive months, system auto-activates Enterprise Accelerator.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357188" y="2537817"/>
            <a:ext cx="4657725" cy="23038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Shape 12"/>
          <p:cNvSpPr/>
          <p:nvPr/>
        </p:nvSpPr>
        <p:spPr>
          <a:xfrm>
            <a:off x="357188" y="2537817"/>
            <a:ext cx="21431" cy="23038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357188" y="2537817"/>
            <a:ext cx="4657725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THRESHOLD: Vault Conv Rate &lt; 10%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285750" y="2953941"/>
            <a:ext cx="4800600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Plan B Activation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285750" y="3271838"/>
            <a:ext cx="4800600" cy="503969"/>
          </a:xfrm>
          <a:prstGeom prst="rect">
            <a:avLst/>
          </a:prstGeom>
          <a:solidFill>
            <a:srgbClr val="1A1A1A"/>
          </a:solidFill>
          <a:ln w="18288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0050" y="3394704"/>
            <a:ext cx="85725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Detection</a:t>
            </a:r>
            <a:endParaRPr lang="en-US" sz="516" dirty="0"/>
          </a:p>
        </p:txBody>
      </p:sp>
      <p:sp>
        <p:nvSpPr>
          <p:cNvPr id="20" name="Text 17"/>
          <p:cNvSpPr/>
          <p:nvPr/>
        </p:nvSpPr>
        <p:spPr>
          <a:xfrm>
            <a:off x="400050" y="3521506"/>
            <a:ext cx="857250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Daily monitoring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1385888" y="3427381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59E0B"/>
                </a:solidFill>
              </a:rPr>
              <a:t>→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1628775" y="3394704"/>
            <a:ext cx="85725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Confirmation</a:t>
            </a:r>
            <a:endParaRPr lang="en-US" sz="516" dirty="0"/>
          </a:p>
        </p:txBody>
      </p:sp>
      <p:sp>
        <p:nvSpPr>
          <p:cNvPr id="23" name="Text 20"/>
          <p:cNvSpPr/>
          <p:nvPr/>
        </p:nvSpPr>
        <p:spPr>
          <a:xfrm>
            <a:off x="1628775" y="3521506"/>
            <a:ext cx="857250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2 months &lt;10%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2614613" y="3427381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59E0B"/>
                </a:solidFill>
              </a:rPr>
              <a:t>→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2857500" y="3343275"/>
            <a:ext cx="85725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Activation</a:t>
            </a:r>
            <a:endParaRPr lang="en-US" sz="516" dirty="0"/>
          </a:p>
        </p:txBody>
      </p:sp>
      <p:sp>
        <p:nvSpPr>
          <p:cNvPr id="26" name="Text 23"/>
          <p:cNvSpPr/>
          <p:nvPr/>
        </p:nvSpPr>
        <p:spPr>
          <a:xfrm>
            <a:off x="2857500" y="3470077"/>
            <a:ext cx="85725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Auto-trigger Accelerator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3843338" y="3427381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59E0B"/>
                </a:solidFill>
              </a:rPr>
              <a:t>→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086225" y="3394704"/>
            <a:ext cx="85725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Pivot</a:t>
            </a:r>
            <a:endParaRPr lang="en-US" sz="516" dirty="0"/>
          </a:p>
        </p:txBody>
      </p:sp>
      <p:sp>
        <p:nvSpPr>
          <p:cNvPr id="29" name="Text 26"/>
          <p:cNvSpPr/>
          <p:nvPr/>
        </p:nvSpPr>
        <p:spPr>
          <a:xfrm>
            <a:off x="4086225" y="3521506"/>
            <a:ext cx="857250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Target Enterprise tier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5186363" y="1130498"/>
            <a:ext cx="3671888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Enterprise Accelerator Strategy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5186363" y="1448395"/>
            <a:ext cx="3671888" cy="1661257"/>
          </a:xfrm>
          <a:prstGeom prst="rect">
            <a:avLst/>
          </a:prstGeom>
          <a:solidFill>
            <a:srgbClr val="F59E0B">
              <a:alpha val="6000"/>
            </a:srgbClr>
          </a:solidFill>
          <a:ln w="18288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57800" y="1519833"/>
            <a:ext cx="3529013" cy="17680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F59E0B"/>
                </a:solidFill>
              </a:rPr>
              <a:t>Plan B: Enterprise Tier Pivot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5257800" y="1753791"/>
            <a:ext cx="352901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Target Segment</a:t>
            </a:r>
            <a:endParaRPr lang="en-US" sz="516" dirty="0"/>
          </a:p>
        </p:txBody>
      </p:sp>
      <p:sp>
        <p:nvSpPr>
          <p:cNvPr id="34" name="Text 31"/>
          <p:cNvSpPr/>
          <p:nvPr/>
        </p:nvSpPr>
        <p:spPr>
          <a:xfrm>
            <a:off x="5257800" y="1880592"/>
            <a:ext cx="352901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Enterprise tier customers ($390 base). Higher volume and price-sensitive.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5257800" y="2067753"/>
            <a:ext cx="352901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Upsell Strategy</a:t>
            </a:r>
            <a:endParaRPr lang="en-US" sz="516" dirty="0"/>
          </a:p>
        </p:txBody>
      </p:sp>
      <p:sp>
        <p:nvSpPr>
          <p:cNvPr id="36" name="Text 33"/>
          <p:cNvSpPr/>
          <p:nvPr/>
        </p:nvSpPr>
        <p:spPr>
          <a:xfrm>
            <a:off x="5257800" y="2194554"/>
            <a:ext cx="352901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Accelerator Bundle ($79) at 25% discount for mid-market growth.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5257800" y="2381715"/>
            <a:ext cx="352901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Conversion Target</a:t>
            </a:r>
            <a:endParaRPr lang="en-US" sz="516" dirty="0"/>
          </a:p>
        </p:txBody>
      </p:sp>
      <p:sp>
        <p:nvSpPr>
          <p:cNvPr id="38" name="Text 35"/>
          <p:cNvSpPr/>
          <p:nvPr/>
        </p:nvSpPr>
        <p:spPr>
          <a:xfrm>
            <a:off x="5257800" y="2508517"/>
            <a:ext cx="352901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20–30% adoption (higher volume, price-sensitive).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5257800" y="2695677"/>
            <a:ext cx="352901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Activation</a:t>
            </a:r>
            <a:endParaRPr lang="en-US" sz="516" dirty="0"/>
          </a:p>
        </p:txBody>
      </p:sp>
      <p:sp>
        <p:nvSpPr>
          <p:cNvPr id="40" name="Text 37"/>
          <p:cNvSpPr/>
          <p:nvPr/>
        </p:nvSpPr>
        <p:spPr>
          <a:xfrm>
            <a:off x="5257800" y="2822479"/>
            <a:ext cx="352901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Immediate upon trigger; messaging: "Growth Acceleration".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5186363" y="3195377"/>
            <a:ext cx="3671888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Financial Safeguard</a:t>
            </a:r>
            <a:endParaRPr lang="en-US" sz="885" dirty="0"/>
          </a:p>
        </p:txBody>
      </p:sp>
      <p:sp>
        <p:nvSpPr>
          <p:cNvPr id="42" name="Shape 39"/>
          <p:cNvSpPr/>
          <p:nvPr/>
        </p:nvSpPr>
        <p:spPr>
          <a:xfrm>
            <a:off x="5186363" y="3513274"/>
            <a:ext cx="3671888" cy="1546622"/>
          </a:xfrm>
          <a:prstGeom prst="rect">
            <a:avLst/>
          </a:prstGeom>
          <a:solidFill>
            <a:srgbClr val="1A1A1A"/>
          </a:solidFill>
          <a:ln w="18288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257800" y="3584711"/>
            <a:ext cx="3529013" cy="17680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F5F5F5"/>
                </a:solidFill>
              </a:rPr>
              <a:t>Baseline Cash Flow Protection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5257800" y="3861532"/>
            <a:ext cx="74247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Enterprise Volume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8151828" y="3861532"/>
            <a:ext cx="6349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9E0B"/>
                </a:solidFill>
              </a:rPr>
              <a:t>150 txn/month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5257800" y="4070486"/>
            <a:ext cx="6809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Plan B Conv Rate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8470562" y="4070486"/>
            <a:ext cx="3162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9E0B"/>
                </a:solidFill>
              </a:rPr>
              <a:t>20–30%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5257800" y="4279441"/>
            <a:ext cx="7762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Revenue per Upsell</a:t>
            </a:r>
            <a:endParaRPr lang="en-US" sz="621" dirty="0"/>
          </a:p>
        </p:txBody>
      </p:sp>
      <p:sp>
        <p:nvSpPr>
          <p:cNvPr id="49" name="Text 46"/>
          <p:cNvSpPr/>
          <p:nvPr/>
        </p:nvSpPr>
        <p:spPr>
          <a:xfrm>
            <a:off x="8517192" y="4279441"/>
            <a:ext cx="26962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9E0B"/>
                </a:solidFill>
              </a:rPr>
              <a:t>$59.25</a:t>
            </a:r>
            <a:endParaRPr lang="en-US" sz="584" dirty="0"/>
          </a:p>
        </p:txBody>
      </p:sp>
      <p:sp>
        <p:nvSpPr>
          <p:cNvPr id="50" name="Text 47"/>
          <p:cNvSpPr/>
          <p:nvPr/>
        </p:nvSpPr>
        <p:spPr>
          <a:xfrm>
            <a:off x="5257800" y="4581265"/>
            <a:ext cx="6367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Monthly Impact</a:t>
            </a:r>
            <a:endParaRPr lang="en-US" sz="621" dirty="0"/>
          </a:p>
        </p:txBody>
      </p:sp>
      <p:sp>
        <p:nvSpPr>
          <p:cNvPr id="51" name="Text 48"/>
          <p:cNvSpPr/>
          <p:nvPr/>
        </p:nvSpPr>
        <p:spPr>
          <a:xfrm>
            <a:off x="8204736" y="4581265"/>
            <a:ext cx="58207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9E0B"/>
                </a:solidFill>
              </a:rPr>
              <a:t>$1,778–$2,667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5257800" y="4795577"/>
            <a:ext cx="7572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Maintains Baseline</a:t>
            </a:r>
            <a:endParaRPr lang="en-US" sz="621" dirty="0"/>
          </a:p>
        </p:txBody>
      </p:sp>
      <p:sp>
        <p:nvSpPr>
          <p:cNvPr id="53" name="Text 50"/>
          <p:cNvSpPr/>
          <p:nvPr/>
        </p:nvSpPr>
        <p:spPr>
          <a:xfrm>
            <a:off x="8553803" y="4790219"/>
            <a:ext cx="2330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9E0B"/>
                </a:solidFill>
              </a:rPr>
              <a:t>✓ YES</a:t>
            </a:r>
            <a:endParaRPr lang="en-US" sz="584" dirty="0"/>
          </a:p>
        </p:txBody>
      </p:sp>
      <p:sp>
        <p:nvSpPr>
          <p:cNvPr id="54" name="Shape 51"/>
          <p:cNvSpPr/>
          <p:nvPr/>
        </p:nvSpPr>
        <p:spPr>
          <a:xfrm>
            <a:off x="0" y="5117046"/>
            <a:ext cx="9144000" cy="503634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0" y="5117046"/>
            <a:ext cx="9144000" cy="14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Shape 53"/>
          <p:cNvSpPr/>
          <p:nvPr/>
        </p:nvSpPr>
        <p:spPr>
          <a:xfrm>
            <a:off x="285750" y="5174196"/>
            <a:ext cx="8572500" cy="375047"/>
          </a:xfrm>
          <a:prstGeom prst="rect">
            <a:avLst/>
          </a:prstGeom>
          <a:solidFill>
            <a:srgbClr val="F59E0B">
              <a:alpha val="6000"/>
            </a:srgbClr>
          </a:solidFill>
          <a:ln w="18288">
            <a:solidFill>
              <a:srgbClr val="F59E0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85750" y="5174196"/>
            <a:ext cx="8572500" cy="3750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⚙️ SYSTEM RESILIENCE: Plan B is an intelligent contingency. If Vault underperforms, the system auto-pivots to Enterprise Accelerator to maintain baseline cash flow and market penetration. Zero manual intervention required.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304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16198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3" kern="0" dirty="0">
                <a:solidFill>
                  <a:srgbClr val="D4AF37"/>
                </a:solidFill>
              </a:rPr>
              <a:t>Investment Thesis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57188" y="823317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$41K-$69K Annual Revenue Uplift Per 1,000 Monthly Transactions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357188" y="1073348"/>
            <a:ext cx="4143375" cy="1935956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913" y="1159073"/>
            <a:ext cx="3971925" cy="17680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4AF37"/>
                </a:solidFill>
              </a:rPr>
              <a:t>Conservative Floor (15% Conversion)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442913" y="1393031"/>
            <a:ext cx="39719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Annual Revenue Uplift</a:t>
            </a:r>
            <a:endParaRPr lang="en-US" sz="516" dirty="0"/>
          </a:p>
        </p:txBody>
      </p:sp>
      <p:sp>
        <p:nvSpPr>
          <p:cNvPr id="10" name="Text 7"/>
          <p:cNvSpPr/>
          <p:nvPr/>
        </p:nvSpPr>
        <p:spPr>
          <a:xfrm>
            <a:off x="442913" y="1505545"/>
            <a:ext cx="39719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D4AF37"/>
                </a:solidFill>
              </a:rPr>
              <a:t>$41,418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442913" y="1819870"/>
            <a:ext cx="39719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Monthly Average</a:t>
            </a:r>
            <a:endParaRPr lang="en-US" sz="516" dirty="0"/>
          </a:p>
        </p:txBody>
      </p:sp>
      <p:sp>
        <p:nvSpPr>
          <p:cNvPr id="12" name="Text 9"/>
          <p:cNvSpPr/>
          <p:nvPr/>
        </p:nvSpPr>
        <p:spPr>
          <a:xfrm>
            <a:off x="442913" y="1932384"/>
            <a:ext cx="39719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D4AF37"/>
                </a:solidFill>
              </a:rPr>
              <a:t>$3,451</a:t>
            </a:r>
            <a:endParaRPr lang="en-US" sz="1808" dirty="0"/>
          </a:p>
        </p:txBody>
      </p:sp>
      <p:sp>
        <p:nvSpPr>
          <p:cNvPr id="13" name="Text 10"/>
          <p:cNvSpPr/>
          <p:nvPr/>
        </p:nvSpPr>
        <p:spPr>
          <a:xfrm>
            <a:off x="442913" y="2218134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Scarcity + risk reversal</a:t>
            </a:r>
            <a:endParaRPr lang="en-US" sz="568" dirty="0"/>
          </a:p>
        </p:txBody>
      </p:sp>
      <p:sp>
        <p:nvSpPr>
          <p:cNvPr id="14" name="Text 11"/>
          <p:cNvSpPr/>
          <p:nvPr/>
        </p:nvSpPr>
        <p:spPr>
          <a:xfrm>
            <a:off x="442913" y="2446734"/>
            <a:ext cx="39719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Confidence Level</a:t>
            </a:r>
            <a:endParaRPr lang="en-US" sz="516" dirty="0"/>
          </a:p>
        </p:txBody>
      </p:sp>
      <p:sp>
        <p:nvSpPr>
          <p:cNvPr id="15" name="Text 12"/>
          <p:cNvSpPr/>
          <p:nvPr/>
        </p:nvSpPr>
        <p:spPr>
          <a:xfrm>
            <a:off x="442913" y="2559248"/>
            <a:ext cx="39719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D4AF37"/>
                </a:solidFill>
              </a:rPr>
              <a:t>HIGH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42913" y="2730698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Proven behavioral economics</a:t>
            </a:r>
            <a:endParaRPr lang="en-US" sz="568" dirty="0"/>
          </a:p>
        </p:txBody>
      </p:sp>
      <p:sp>
        <p:nvSpPr>
          <p:cNvPr id="17" name="Shape 14"/>
          <p:cNvSpPr/>
          <p:nvPr/>
        </p:nvSpPr>
        <p:spPr>
          <a:xfrm>
            <a:off x="4643438" y="1073348"/>
            <a:ext cx="4143375" cy="1935956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29163" y="1159073"/>
            <a:ext cx="3971925" cy="176808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4AF37"/>
                </a:solidFill>
              </a:rPr>
              <a:t>Optimistic Ceiling (25% Conversion)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4729163" y="1393031"/>
            <a:ext cx="39719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Annual Revenue Uplift</a:t>
            </a:r>
            <a:endParaRPr lang="en-US" sz="516" dirty="0"/>
          </a:p>
        </p:txBody>
      </p:sp>
      <p:sp>
        <p:nvSpPr>
          <p:cNvPr id="20" name="Text 17"/>
          <p:cNvSpPr/>
          <p:nvPr/>
        </p:nvSpPr>
        <p:spPr>
          <a:xfrm>
            <a:off x="4729163" y="1505545"/>
            <a:ext cx="39719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D4AF37"/>
                </a:solidFill>
              </a:rPr>
              <a:t>$69,030</a:t>
            </a:r>
            <a:endParaRPr lang="en-US" sz="1808" dirty="0"/>
          </a:p>
        </p:txBody>
      </p:sp>
      <p:sp>
        <p:nvSpPr>
          <p:cNvPr id="21" name="Text 18"/>
          <p:cNvSpPr/>
          <p:nvPr/>
        </p:nvSpPr>
        <p:spPr>
          <a:xfrm>
            <a:off x="4729163" y="1819870"/>
            <a:ext cx="39719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Monthly Average</a:t>
            </a:r>
            <a:endParaRPr lang="en-US" sz="516" dirty="0"/>
          </a:p>
        </p:txBody>
      </p:sp>
      <p:sp>
        <p:nvSpPr>
          <p:cNvPr id="22" name="Text 19"/>
          <p:cNvSpPr/>
          <p:nvPr/>
        </p:nvSpPr>
        <p:spPr>
          <a:xfrm>
            <a:off x="4729163" y="1932384"/>
            <a:ext cx="39719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D4AF37"/>
                </a:solidFill>
              </a:rPr>
              <a:t>$5,752.50</a:t>
            </a:r>
            <a:endParaRPr lang="en-US" sz="1808" dirty="0"/>
          </a:p>
        </p:txBody>
      </p:sp>
      <p:sp>
        <p:nvSpPr>
          <p:cNvPr id="23" name="Text 20"/>
          <p:cNvSpPr/>
          <p:nvPr/>
        </p:nvSpPr>
        <p:spPr>
          <a:xfrm>
            <a:off x="4729163" y="2218134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All tactics hit target</a:t>
            </a:r>
            <a:endParaRPr lang="en-US" sz="568" dirty="0"/>
          </a:p>
        </p:txBody>
      </p:sp>
      <p:sp>
        <p:nvSpPr>
          <p:cNvPr id="24" name="Text 21"/>
          <p:cNvSpPr/>
          <p:nvPr/>
        </p:nvSpPr>
        <p:spPr>
          <a:xfrm>
            <a:off x="4729163" y="2446734"/>
            <a:ext cx="39719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Upside Potential</a:t>
            </a:r>
            <a:endParaRPr lang="en-US" sz="516" dirty="0"/>
          </a:p>
        </p:txBody>
      </p:sp>
      <p:sp>
        <p:nvSpPr>
          <p:cNvPr id="25" name="Text 22"/>
          <p:cNvSpPr/>
          <p:nvPr/>
        </p:nvSpPr>
        <p:spPr>
          <a:xfrm>
            <a:off x="4729163" y="2559248"/>
            <a:ext cx="39719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D4AF37"/>
                </a:solidFill>
              </a:rPr>
              <a:t>+66%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4729163" y="2730698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From floor to ceiling</a:t>
            </a:r>
            <a:endParaRPr lang="en-US" sz="568" dirty="0"/>
          </a:p>
        </p:txBody>
      </p:sp>
      <p:sp>
        <p:nvSpPr>
          <p:cNvPr id="27" name="Shape 24"/>
          <p:cNvSpPr/>
          <p:nvPr/>
        </p:nvSpPr>
        <p:spPr>
          <a:xfrm>
            <a:off x="357188" y="3095030"/>
            <a:ext cx="2771775" cy="709352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8625" y="3166467"/>
            <a:ext cx="26289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D4AF37"/>
                </a:solidFill>
              </a:rPr>
              <a:t>🧠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428625" y="3443288"/>
            <a:ext cx="26289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Behavioral Economics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428625" y="3602236"/>
            <a:ext cx="2628900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Scarcity triggers and urgency mechanics—decades of research.</a:t>
            </a:r>
            <a:endParaRPr lang="en-US" sz="568" dirty="0"/>
          </a:p>
        </p:txBody>
      </p:sp>
      <p:sp>
        <p:nvSpPr>
          <p:cNvPr id="31" name="Shape 28"/>
          <p:cNvSpPr/>
          <p:nvPr/>
        </p:nvSpPr>
        <p:spPr>
          <a:xfrm>
            <a:off x="3186113" y="3095030"/>
            <a:ext cx="2771775" cy="709352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57550" y="3166467"/>
            <a:ext cx="26289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D4AF37"/>
                </a:solidFill>
              </a:rPr>
              <a:t>🔒</a:t>
            </a:r>
            <a:endParaRPr lang="en-US" sz="1269" dirty="0"/>
          </a:p>
        </p:txBody>
      </p:sp>
      <p:sp>
        <p:nvSpPr>
          <p:cNvPr id="33" name="Text 30"/>
          <p:cNvSpPr/>
          <p:nvPr/>
        </p:nvSpPr>
        <p:spPr>
          <a:xfrm>
            <a:off x="3257550" y="3443288"/>
            <a:ext cx="26289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Technical Excellence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3257550" y="3602236"/>
            <a:ext cx="2628900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Webhook verification, idempotency, and automated compliance.</a:t>
            </a:r>
            <a:endParaRPr lang="en-US" sz="568" dirty="0"/>
          </a:p>
        </p:txBody>
      </p:sp>
      <p:sp>
        <p:nvSpPr>
          <p:cNvPr id="35" name="Shape 32"/>
          <p:cNvSpPr/>
          <p:nvPr/>
        </p:nvSpPr>
        <p:spPr>
          <a:xfrm>
            <a:off x="6015038" y="3095030"/>
            <a:ext cx="2771775" cy="709352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86475" y="3166467"/>
            <a:ext cx="26289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D4AF37"/>
                </a:solidFill>
              </a:rPr>
              <a:t>💰</a:t>
            </a:r>
            <a:endParaRPr lang="en-US" sz="1269" dirty="0"/>
          </a:p>
        </p:txBody>
      </p:sp>
      <p:sp>
        <p:nvSpPr>
          <p:cNvPr id="37" name="Text 34"/>
          <p:cNvSpPr/>
          <p:nvPr/>
        </p:nvSpPr>
        <p:spPr>
          <a:xfrm>
            <a:off x="6086475" y="3443288"/>
            <a:ext cx="26289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Capital Efficiency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6086475" y="3602236"/>
            <a:ext cx="2628900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Runs on existing Stripe integration—minimal capex.</a:t>
            </a:r>
            <a:endParaRPr lang="en-US" sz="568" dirty="0"/>
          </a:p>
        </p:txBody>
      </p:sp>
      <p:sp>
        <p:nvSpPr>
          <p:cNvPr id="39" name="Shape 36"/>
          <p:cNvSpPr/>
          <p:nvPr/>
        </p:nvSpPr>
        <p:spPr>
          <a:xfrm>
            <a:off x="357188" y="3890107"/>
            <a:ext cx="8429625" cy="418244"/>
          </a:xfrm>
          <a:prstGeom prst="rect">
            <a:avLst/>
          </a:prstGeom>
          <a:solidFill>
            <a:srgbClr val="D4AF37">
              <a:alpha val="10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28625" y="3961544"/>
            <a:ext cx="97585" cy="2467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4AF37"/>
                </a:solidFill>
              </a:rPr>
              <a:t>✓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83360" y="3961544"/>
            <a:ext cx="39457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Existing Stripe Integration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583360" y="4106205"/>
            <a:ext cx="3945778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No new processor or vendor lock‑in.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4614863" y="3961544"/>
            <a:ext cx="97585" cy="2467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4AF37"/>
                </a:solidFill>
              </a:rPr>
              <a:t>✓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769597" y="3961544"/>
            <a:ext cx="39457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Minimal Deployment Cost</a:t>
            </a:r>
            <a:endParaRPr lang="en-US" sz="584" dirty="0"/>
          </a:p>
        </p:txBody>
      </p:sp>
      <p:sp>
        <p:nvSpPr>
          <p:cNvPr id="45" name="Text 42"/>
          <p:cNvSpPr/>
          <p:nvPr/>
        </p:nvSpPr>
        <p:spPr>
          <a:xfrm>
            <a:off x="4769597" y="4106205"/>
            <a:ext cx="3945778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Hetzner ($50–100/mo). Standard Stripe fees.</a:t>
            </a:r>
            <a:endParaRPr lang="en-US" sz="568" dirty="0"/>
          </a:p>
        </p:txBody>
      </p:sp>
      <p:sp>
        <p:nvSpPr>
          <p:cNvPr id="46" name="Shape 43"/>
          <p:cNvSpPr/>
          <p:nvPr/>
        </p:nvSpPr>
        <p:spPr>
          <a:xfrm>
            <a:off x="0" y="4629150"/>
            <a:ext cx="9144000" cy="51435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0" y="4629150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8" name="Shape 45"/>
          <p:cNvSpPr/>
          <p:nvPr/>
        </p:nvSpPr>
        <p:spPr>
          <a:xfrm>
            <a:off x="357188" y="4700588"/>
            <a:ext cx="8429625" cy="385763"/>
          </a:xfrm>
          <a:prstGeom prst="rect">
            <a:avLst/>
          </a:prstGeom>
          <a:solidFill>
            <a:srgbClr val="D4AF37">
              <a:alpha val="10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57188" y="4700588"/>
            <a:ext cx="8429625" cy="3857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4AF37"/>
                </a:solidFill>
              </a:rPr>
              <a:t>✓ INVESTMENT QUALITY: Proven behavioral mechanics + technical defensibility + capital efficiency = $41K–$69K annual uplift with zero additional infrastructure cost.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35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555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41214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85750"/>
            <a:ext cx="8429625" cy="505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49" b="1" spc="3" kern="0" dirty="0">
                <a:solidFill>
                  <a:srgbClr val="D4AF37"/>
                </a:solidFill>
              </a:rPr>
              <a:t>The Ask</a:t>
            </a:r>
            <a:endParaRPr lang="en-US" sz="2649" dirty="0"/>
          </a:p>
        </p:txBody>
      </p:sp>
      <p:sp>
        <p:nvSpPr>
          <p:cNvPr id="6" name="Text 3"/>
          <p:cNvSpPr/>
          <p:nvPr/>
        </p:nvSpPr>
        <p:spPr>
          <a:xfrm>
            <a:off x="357188" y="862608"/>
            <a:ext cx="8429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CCCCCC"/>
                </a:solidFill>
              </a:rPr>
              <a:t>Investment Capital for Deployment, Infrastructure, and Market Launch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357188" y="1284089"/>
            <a:ext cx="4107656" cy="1087636"/>
          </a:xfrm>
          <a:prstGeom prst="rect">
            <a:avLst/>
          </a:prstGeom>
          <a:solidFill>
            <a:srgbClr val="D4AF37">
              <a:alpha val="15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0063" y="1426964"/>
            <a:ext cx="38219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D4AF37"/>
                </a:solidFill>
              </a:rPr>
              <a:t>Total Capital Required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500063" y="1614488"/>
            <a:ext cx="382190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649" b="1" dirty="0">
                <a:solidFill>
                  <a:srgbClr val="D4AF37"/>
                </a:solidFill>
              </a:rPr>
              <a:t>$75K</a:t>
            </a:r>
            <a:endParaRPr lang="en-US" sz="2649" dirty="0"/>
          </a:p>
        </p:txBody>
      </p:sp>
      <p:sp>
        <p:nvSpPr>
          <p:cNvPr id="10" name="Text 7"/>
          <p:cNvSpPr/>
          <p:nvPr/>
        </p:nvSpPr>
        <p:spPr>
          <a:xfrm>
            <a:off x="500063" y="2057400"/>
            <a:ext cx="38219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12-week deployment to $69K+ annual revenue baseline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357188" y="2436019"/>
            <a:ext cx="4107656" cy="1714500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344" y="2543175"/>
            <a:ext cx="3893344" cy="2053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4AF37"/>
                </a:solidFill>
              </a:rPr>
              <a:t>Capital Allocation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464344" y="2891433"/>
            <a:ext cx="10520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Stripe Integration &amp; Setup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4153644" y="2891433"/>
            <a:ext cx="2040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4AF37"/>
                </a:solidFill>
              </a:rPr>
              <a:t>$15K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464344" y="3128963"/>
            <a:ext cx="140701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Hetzner Infrastructure (12 months)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4153644" y="3128963"/>
            <a:ext cx="2040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4AF37"/>
                </a:solidFill>
              </a:rPr>
              <a:t>$12K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464344" y="3366492"/>
            <a:ext cx="10350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Market Launch Campaign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4153644" y="3366492"/>
            <a:ext cx="2040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4AF37"/>
                </a:solidFill>
              </a:rPr>
              <a:t>$30K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464344" y="3604022"/>
            <a:ext cx="8855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Engineering &amp; Testing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4153644" y="3604022"/>
            <a:ext cx="2040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4AF37"/>
                </a:solidFill>
              </a:rPr>
              <a:t>$12K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64344" y="3841552"/>
            <a:ext cx="10386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CCCCC"/>
                </a:solidFill>
              </a:rPr>
              <a:t>Contingency Reserve (5%)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4202674" y="3841552"/>
            <a:ext cx="1550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4AF37"/>
                </a:solidFill>
              </a:rPr>
              <a:t>$6K</a:t>
            </a:r>
            <a:endParaRPr lang="en-US" sz="584" dirty="0"/>
          </a:p>
        </p:txBody>
      </p:sp>
      <p:sp>
        <p:nvSpPr>
          <p:cNvPr id="23" name="Shape 20"/>
          <p:cNvSpPr/>
          <p:nvPr/>
        </p:nvSpPr>
        <p:spPr>
          <a:xfrm>
            <a:off x="4679156" y="1284089"/>
            <a:ext cx="4107656" cy="2546356"/>
          </a:xfrm>
          <a:prstGeom prst="rect">
            <a:avLst/>
          </a:prstGeom>
          <a:solidFill>
            <a:srgbClr val="1A1A1A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86313" y="1391245"/>
            <a:ext cx="3893344" cy="2053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4AF37"/>
                </a:solidFill>
              </a:rPr>
              <a:t>12-Week Deployment Timeline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4786313" y="1682353"/>
            <a:ext cx="389334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Phase 1</a:t>
            </a:r>
            <a:endParaRPr lang="en-US" sz="516" dirty="0"/>
          </a:p>
        </p:txBody>
      </p:sp>
      <p:sp>
        <p:nvSpPr>
          <p:cNvPr id="26" name="Text 23"/>
          <p:cNvSpPr/>
          <p:nvPr/>
        </p:nvSpPr>
        <p:spPr>
          <a:xfrm>
            <a:off x="4786313" y="1809155"/>
            <a:ext cx="38933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Infrastructure Setup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4786313" y="1953816"/>
            <a:ext cx="389334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Weeks 1-4: Stripe integration, Hetzner deployment, webhook hardening</a:t>
            </a:r>
            <a:endParaRPr lang="en-US" sz="568" dirty="0"/>
          </a:p>
        </p:txBody>
      </p:sp>
      <p:sp>
        <p:nvSpPr>
          <p:cNvPr id="28" name="Shape 25"/>
          <p:cNvSpPr/>
          <p:nvPr/>
        </p:nvSpPr>
        <p:spPr>
          <a:xfrm>
            <a:off x="4786313" y="2106681"/>
            <a:ext cx="3893344" cy="189309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9" name="Shape 26"/>
          <p:cNvSpPr/>
          <p:nvPr/>
        </p:nvSpPr>
        <p:spPr>
          <a:xfrm>
            <a:off x="4786313" y="2106681"/>
            <a:ext cx="21431" cy="189309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7"/>
          <p:cNvSpPr/>
          <p:nvPr/>
        </p:nvSpPr>
        <p:spPr>
          <a:xfrm>
            <a:off x="4786313" y="2106681"/>
            <a:ext cx="3893344" cy="18930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AF37"/>
                </a:solidFill>
              </a:rPr>
              <a:t>✓ Production-ready backend</a:t>
            </a:r>
            <a:endParaRPr lang="en-US" sz="516" dirty="0"/>
          </a:p>
        </p:txBody>
      </p:sp>
      <p:sp>
        <p:nvSpPr>
          <p:cNvPr id="31" name="Text 28"/>
          <p:cNvSpPr/>
          <p:nvPr/>
        </p:nvSpPr>
        <p:spPr>
          <a:xfrm>
            <a:off x="4786313" y="2381715"/>
            <a:ext cx="389334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Phase 2</a:t>
            </a:r>
            <a:endParaRPr lang="en-US" sz="516" dirty="0"/>
          </a:p>
        </p:txBody>
      </p:sp>
      <p:sp>
        <p:nvSpPr>
          <p:cNvPr id="32" name="Text 29"/>
          <p:cNvSpPr/>
          <p:nvPr/>
        </p:nvSpPr>
        <p:spPr>
          <a:xfrm>
            <a:off x="4786313" y="2508517"/>
            <a:ext cx="38933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Testing &amp; Optimization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4786313" y="2653178"/>
            <a:ext cx="389334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Weeks 5-8: Load testing, conversion optimization, security audit</a:t>
            </a:r>
            <a:endParaRPr lang="en-US" sz="568" dirty="0"/>
          </a:p>
        </p:txBody>
      </p:sp>
      <p:sp>
        <p:nvSpPr>
          <p:cNvPr id="34" name="Shape 31"/>
          <p:cNvSpPr/>
          <p:nvPr/>
        </p:nvSpPr>
        <p:spPr>
          <a:xfrm>
            <a:off x="4786313" y="2806043"/>
            <a:ext cx="3893344" cy="189309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5" name="Shape 32"/>
          <p:cNvSpPr/>
          <p:nvPr/>
        </p:nvSpPr>
        <p:spPr>
          <a:xfrm>
            <a:off x="4786313" y="2806043"/>
            <a:ext cx="21431" cy="189309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Text 33"/>
          <p:cNvSpPr/>
          <p:nvPr/>
        </p:nvSpPr>
        <p:spPr>
          <a:xfrm>
            <a:off x="4786313" y="2806043"/>
            <a:ext cx="3893344" cy="18930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AF37"/>
                </a:solidFill>
              </a:rPr>
              <a:t>✓ 99.9% uptime SLA verified</a:t>
            </a:r>
            <a:endParaRPr lang="en-US" sz="516" dirty="0"/>
          </a:p>
        </p:txBody>
      </p:sp>
      <p:sp>
        <p:nvSpPr>
          <p:cNvPr id="37" name="Text 34"/>
          <p:cNvSpPr/>
          <p:nvPr/>
        </p:nvSpPr>
        <p:spPr>
          <a:xfrm>
            <a:off x="4786313" y="3081077"/>
            <a:ext cx="389334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Phase 3</a:t>
            </a:r>
            <a:endParaRPr lang="en-US" sz="516" dirty="0"/>
          </a:p>
        </p:txBody>
      </p:sp>
      <p:sp>
        <p:nvSpPr>
          <p:cNvPr id="38" name="Text 35"/>
          <p:cNvSpPr/>
          <p:nvPr/>
        </p:nvSpPr>
        <p:spPr>
          <a:xfrm>
            <a:off x="4786313" y="3207879"/>
            <a:ext cx="38933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5F5F5"/>
                </a:solidFill>
              </a:rPr>
              <a:t>Market Launch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4786313" y="3352540"/>
            <a:ext cx="389334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CCCCC"/>
                </a:solidFill>
              </a:rPr>
              <a:t>Weeks 9-12: Campaign rollout, customer onboarding, revenue tracking</a:t>
            </a:r>
            <a:endParaRPr lang="en-US" sz="568" dirty="0"/>
          </a:p>
        </p:txBody>
      </p:sp>
      <p:sp>
        <p:nvSpPr>
          <p:cNvPr id="40" name="Shape 37"/>
          <p:cNvSpPr/>
          <p:nvPr/>
        </p:nvSpPr>
        <p:spPr>
          <a:xfrm>
            <a:off x="4786313" y="3505405"/>
            <a:ext cx="3893344" cy="189309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1" name="Shape 38"/>
          <p:cNvSpPr/>
          <p:nvPr/>
        </p:nvSpPr>
        <p:spPr>
          <a:xfrm>
            <a:off x="4786313" y="3505405"/>
            <a:ext cx="21431" cy="189309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2" name="Text 39"/>
          <p:cNvSpPr/>
          <p:nvPr/>
        </p:nvSpPr>
        <p:spPr>
          <a:xfrm>
            <a:off x="4786313" y="3505405"/>
            <a:ext cx="3893344" cy="18930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D4AF37"/>
                </a:solidFill>
              </a:rPr>
              <a:t>✓ Live transactions flowing</a:t>
            </a:r>
            <a:endParaRPr lang="en-US" sz="516" dirty="0"/>
          </a:p>
        </p:txBody>
      </p:sp>
      <p:sp>
        <p:nvSpPr>
          <p:cNvPr id="43" name="Shape 40"/>
          <p:cNvSpPr/>
          <p:nvPr/>
        </p:nvSpPr>
        <p:spPr>
          <a:xfrm>
            <a:off x="4679156" y="3909027"/>
            <a:ext cx="4107656" cy="1030486"/>
          </a:xfrm>
          <a:prstGeom prst="rect">
            <a:avLst/>
          </a:prstGeom>
          <a:solidFill>
            <a:srgbClr val="D4AF37">
              <a:alpha val="15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86313" y="4016183"/>
            <a:ext cx="3893344" cy="2053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D4AF37"/>
                </a:solidFill>
              </a:rPr>
              <a:t>ROI Breakeven &amp; Beyond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4786313" y="4307291"/>
            <a:ext cx="190380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Breakeven Timeline</a:t>
            </a:r>
            <a:endParaRPr lang="en-US" sz="516" dirty="0"/>
          </a:p>
        </p:txBody>
      </p:sp>
      <p:sp>
        <p:nvSpPr>
          <p:cNvPr id="46" name="Text 43"/>
          <p:cNvSpPr/>
          <p:nvPr/>
        </p:nvSpPr>
        <p:spPr>
          <a:xfrm>
            <a:off x="4786313" y="4448380"/>
            <a:ext cx="19038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4AF37"/>
                </a:solidFill>
              </a:rPr>
              <a:t>12 Weeks</a:t>
            </a:r>
            <a:endParaRPr lang="en-US" sz="1193" dirty="0"/>
          </a:p>
        </p:txBody>
      </p:sp>
      <p:sp>
        <p:nvSpPr>
          <p:cNvPr id="47" name="Text 44"/>
          <p:cNvSpPr/>
          <p:nvPr/>
        </p:nvSpPr>
        <p:spPr>
          <a:xfrm>
            <a:off x="4786313" y="4710912"/>
            <a:ext cx="190380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CCCCC"/>
                </a:solidFill>
              </a:rPr>
              <a:t>$75K investment recovered</a:t>
            </a:r>
            <a:endParaRPr lang="en-US" sz="516" dirty="0"/>
          </a:p>
        </p:txBody>
      </p:sp>
      <p:sp>
        <p:nvSpPr>
          <p:cNvPr id="48" name="Text 45"/>
          <p:cNvSpPr/>
          <p:nvPr/>
        </p:nvSpPr>
        <p:spPr>
          <a:xfrm>
            <a:off x="6775847" y="4307291"/>
            <a:ext cx="190380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999999"/>
                </a:solidFill>
              </a:rPr>
              <a:t>Annual Revenue</a:t>
            </a:r>
            <a:endParaRPr lang="en-US" sz="516" dirty="0"/>
          </a:p>
        </p:txBody>
      </p:sp>
      <p:sp>
        <p:nvSpPr>
          <p:cNvPr id="49" name="Text 46"/>
          <p:cNvSpPr/>
          <p:nvPr/>
        </p:nvSpPr>
        <p:spPr>
          <a:xfrm>
            <a:off x="6775847" y="4448380"/>
            <a:ext cx="19038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4AF37"/>
                </a:solidFill>
              </a:rPr>
              <a:t>$69K+</a:t>
            </a:r>
            <a:endParaRPr lang="en-US" sz="1193" dirty="0"/>
          </a:p>
        </p:txBody>
      </p:sp>
      <p:sp>
        <p:nvSpPr>
          <p:cNvPr id="50" name="Text 47"/>
          <p:cNvSpPr/>
          <p:nvPr/>
        </p:nvSpPr>
        <p:spPr>
          <a:xfrm>
            <a:off x="6775847" y="4710912"/>
            <a:ext cx="190380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CCCCCC"/>
                </a:solidFill>
              </a:rPr>
              <a:t>Baseline per 1K transactions</a:t>
            </a:r>
            <a:endParaRPr lang="en-US" sz="516" dirty="0"/>
          </a:p>
        </p:txBody>
      </p:sp>
      <p:sp>
        <p:nvSpPr>
          <p:cNvPr id="51" name="Shape 48"/>
          <p:cNvSpPr/>
          <p:nvPr/>
        </p:nvSpPr>
        <p:spPr>
          <a:xfrm>
            <a:off x="0" y="5053812"/>
            <a:ext cx="9144000" cy="648295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0" y="5053812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3" name="Shape 50"/>
          <p:cNvSpPr/>
          <p:nvPr/>
        </p:nvSpPr>
        <p:spPr>
          <a:xfrm>
            <a:off x="357188" y="5139537"/>
            <a:ext cx="8429625" cy="462558"/>
          </a:xfrm>
          <a:prstGeom prst="rect">
            <a:avLst/>
          </a:prstGeom>
          <a:solidFill>
            <a:srgbClr val="D4AF37">
              <a:alpha val="15000"/>
            </a:srgbClr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57188" y="5139537"/>
            <a:ext cx="8429625" cy="4625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spc="1" kern="0" dirty="0">
                <a:solidFill>
                  <a:srgbClr val="D4AF37"/>
                </a:solidFill>
              </a:rPr>
              <a:t>🎯 READY TO DEPLOY: $75K capital investment → 12-week path to profitability → $69K+ annual revenue baseline. This is a time-sensitive opportunity. Let's build the future of fintech together.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2026-02-10T10:21:07Z</dcterms:created>
  <dcterms:modified xsi:type="dcterms:W3CDTF">2026-02-10T10:21:07Z</dcterms:modified>
</cp:coreProperties>
</file>