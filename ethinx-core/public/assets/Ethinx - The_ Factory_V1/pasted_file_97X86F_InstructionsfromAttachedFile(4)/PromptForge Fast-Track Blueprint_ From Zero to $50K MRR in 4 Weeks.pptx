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465892"/>
            <a:ext cx="3786188" cy="1440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2862" b="1" spc="-1" kern="0" dirty="0">
                <a:solidFill>
                  <a:srgbClr val="FFFFFF"/>
                </a:solidFill>
              </a:rPr>
              <a:t>PromptForge: From Zero to $50K MRR in 4 Weeks</a:t>
            </a:r>
            <a:endParaRPr lang="en-US" sz="2862" dirty="0"/>
          </a:p>
        </p:txBody>
      </p:sp>
      <p:sp>
        <p:nvSpPr>
          <p:cNvPr id="4" name="Text 1"/>
          <p:cNvSpPr/>
          <p:nvPr/>
        </p:nvSpPr>
        <p:spPr>
          <a:xfrm>
            <a:off x="571500" y="3220380"/>
            <a:ext cx="37861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E8E8E8"/>
                </a:solidFill>
              </a:rPr>
              <a:t>Fast-Track Blueprint for Aggressive MVP Launch and Revenue Generation</a:t>
            </a:r>
            <a:endParaRPr lang="en-US" sz="987" dirty="0"/>
          </a:p>
        </p:txBody>
      </p:sp>
      <p:sp>
        <p:nvSpPr>
          <p:cNvPr id="5" name="Shape 2"/>
          <p:cNvSpPr/>
          <p:nvPr/>
        </p:nvSpPr>
        <p:spPr>
          <a:xfrm>
            <a:off x="4786313" y="1457325"/>
            <a:ext cx="1785938" cy="1007269"/>
          </a:xfrm>
          <a:prstGeom prst="rect">
            <a:avLst/>
          </a:prstGeom>
          <a:solidFill>
            <a:srgbClr val="FFFFFF">
              <a:alpha val="10000"/>
            </a:srgbClr>
          </a:solidFill>
          <a:ln w="9144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00625" y="1671638"/>
            <a:ext cx="135731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FF6B35"/>
                </a:solidFill>
              </a:rPr>
              <a:t>4</a:t>
            </a:r>
            <a:endParaRPr lang="en-US" sz="2436" dirty="0"/>
          </a:p>
        </p:txBody>
      </p:sp>
      <p:sp>
        <p:nvSpPr>
          <p:cNvPr id="7" name="Text 4"/>
          <p:cNvSpPr/>
          <p:nvPr/>
        </p:nvSpPr>
        <p:spPr>
          <a:xfrm>
            <a:off x="5000625" y="2100263"/>
            <a:ext cx="135731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E8E8E8"/>
                </a:solidFill>
              </a:rPr>
              <a:t>Weeks to Launch</a:t>
            </a:r>
            <a:endParaRPr lang="en-US" sz="683" dirty="0"/>
          </a:p>
        </p:txBody>
      </p:sp>
      <p:sp>
        <p:nvSpPr>
          <p:cNvPr id="8" name="Shape 5"/>
          <p:cNvSpPr/>
          <p:nvPr/>
        </p:nvSpPr>
        <p:spPr>
          <a:xfrm>
            <a:off x="6786563" y="1457325"/>
            <a:ext cx="1785938" cy="1007269"/>
          </a:xfrm>
          <a:prstGeom prst="rect">
            <a:avLst/>
          </a:prstGeom>
          <a:solidFill>
            <a:srgbClr val="FFFFFF">
              <a:alpha val="10000"/>
            </a:srgbClr>
          </a:solidFill>
          <a:ln w="9144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000875" y="1678781"/>
            <a:ext cx="135731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FF6B35"/>
                </a:solidFill>
              </a:rPr>
              <a:t>$54K</a:t>
            </a:r>
            <a:endParaRPr lang="en-US" sz="2436" dirty="0"/>
          </a:p>
        </p:txBody>
      </p:sp>
      <p:sp>
        <p:nvSpPr>
          <p:cNvPr id="10" name="Text 7"/>
          <p:cNvSpPr/>
          <p:nvPr/>
        </p:nvSpPr>
        <p:spPr>
          <a:xfrm>
            <a:off x="7000875" y="2107406"/>
            <a:ext cx="135731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E8E8E8"/>
                </a:solidFill>
              </a:rPr>
              <a:t>Total Budget</a:t>
            </a:r>
            <a:endParaRPr lang="en-US" sz="683" dirty="0"/>
          </a:p>
        </p:txBody>
      </p:sp>
      <p:sp>
        <p:nvSpPr>
          <p:cNvPr id="11" name="Shape 8"/>
          <p:cNvSpPr/>
          <p:nvPr/>
        </p:nvSpPr>
        <p:spPr>
          <a:xfrm>
            <a:off x="4786313" y="2671763"/>
            <a:ext cx="1785938" cy="1007269"/>
          </a:xfrm>
          <a:prstGeom prst="rect">
            <a:avLst/>
          </a:prstGeom>
          <a:solidFill>
            <a:srgbClr val="FFFFFF">
              <a:alpha val="10000"/>
            </a:srgbClr>
          </a:solidFill>
          <a:ln w="9144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00625" y="2886075"/>
            <a:ext cx="135731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FF6B35"/>
                </a:solidFill>
              </a:rPr>
              <a:t>5</a:t>
            </a:r>
            <a:endParaRPr lang="en-US" sz="2436" dirty="0"/>
          </a:p>
        </p:txBody>
      </p:sp>
      <p:sp>
        <p:nvSpPr>
          <p:cNvPr id="13" name="Text 10"/>
          <p:cNvSpPr/>
          <p:nvPr/>
        </p:nvSpPr>
        <p:spPr>
          <a:xfrm>
            <a:off x="5000625" y="3314700"/>
            <a:ext cx="135731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E8E8E8"/>
                </a:solidFill>
              </a:rPr>
              <a:t>Person Team</a:t>
            </a:r>
            <a:endParaRPr lang="en-US" sz="683" dirty="0"/>
          </a:p>
        </p:txBody>
      </p:sp>
      <p:sp>
        <p:nvSpPr>
          <p:cNvPr id="14" name="Shape 11"/>
          <p:cNvSpPr/>
          <p:nvPr/>
        </p:nvSpPr>
        <p:spPr>
          <a:xfrm>
            <a:off x="6786563" y="2671763"/>
            <a:ext cx="1785938" cy="1007269"/>
          </a:xfrm>
          <a:prstGeom prst="rect">
            <a:avLst/>
          </a:prstGeom>
          <a:solidFill>
            <a:srgbClr val="FFFFFF">
              <a:alpha val="10000"/>
            </a:srgbClr>
          </a:solidFill>
          <a:ln w="9144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000875" y="2893219"/>
            <a:ext cx="135731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FF6B35"/>
                </a:solidFill>
              </a:rPr>
              <a:t>$50K</a:t>
            </a:r>
            <a:endParaRPr lang="en-US" sz="2436" dirty="0"/>
          </a:p>
        </p:txBody>
      </p:sp>
      <p:sp>
        <p:nvSpPr>
          <p:cNvPr id="16" name="Text 13"/>
          <p:cNvSpPr/>
          <p:nvPr/>
        </p:nvSpPr>
        <p:spPr>
          <a:xfrm>
            <a:off x="7000875" y="3321844"/>
            <a:ext cx="135731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E8E8E8"/>
                </a:solidFill>
              </a:rPr>
              <a:t>MRR Target</a:t>
            </a:r>
            <a:endParaRPr lang="en-US" sz="683" dirty="0"/>
          </a:p>
        </p:txBody>
      </p:sp>
      <p:sp>
        <p:nvSpPr>
          <p:cNvPr id="17" name="Text 14"/>
          <p:cNvSpPr/>
          <p:nvPr/>
        </p:nvSpPr>
        <p:spPr>
          <a:xfrm>
            <a:off x="571500" y="4722019"/>
            <a:ext cx="61988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A8A8A8"/>
                </a:solidFill>
              </a:rPr>
              <a:t>January 2026</a:t>
            </a:r>
            <a:endParaRPr lang="en-US" sz="683" dirty="0"/>
          </a:p>
        </p:txBody>
      </p:sp>
      <p:sp>
        <p:nvSpPr>
          <p:cNvPr id="18" name="Text 15"/>
          <p:cNvSpPr/>
          <p:nvPr/>
        </p:nvSpPr>
        <p:spPr>
          <a:xfrm>
            <a:off x="6977295" y="4722019"/>
            <a:ext cx="159520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A8A8A8"/>
                </a:solidFill>
              </a:rPr>
              <a:t>PromptForge Stakeholder Review</a:t>
            </a:r>
            <a:endParaRPr lang="en-US" sz="683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623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8001000" cy="7543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226" b="1" dirty="0">
                <a:solidFill>
                  <a:srgbClr val="0F3A7D"/>
                </a:solidFill>
              </a:rPr>
              <a:t>Why Now? Market Timing &amp; Competitive Advantage</a:t>
            </a:r>
            <a:endParaRPr lang="en-US" sz="2226" dirty="0"/>
          </a:p>
        </p:txBody>
      </p:sp>
      <p:sp>
        <p:nvSpPr>
          <p:cNvPr id="4" name="Text 1"/>
          <p:cNvSpPr/>
          <p:nvPr/>
        </p:nvSpPr>
        <p:spPr>
          <a:xfrm>
            <a:off x="571500" y="1754460"/>
            <a:ext cx="371475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F3A7D"/>
                </a:solidFill>
              </a:rPr>
              <a:t>Market Opportunity</a:t>
            </a:r>
            <a:endParaRPr lang="en-US" sz="1193" dirty="0"/>
          </a:p>
        </p:txBody>
      </p:sp>
      <p:sp>
        <p:nvSpPr>
          <p:cNvPr id="5" name="Text 2"/>
          <p:cNvSpPr/>
          <p:nvPr/>
        </p:nvSpPr>
        <p:spPr>
          <a:xfrm>
            <a:off x="742950" y="2188443"/>
            <a:ext cx="35433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F3A7D"/>
                </a:solidFill>
              </a:rPr>
              <a:t>Prompt Engineering Tools</a:t>
            </a:r>
            <a:endParaRPr lang="en-US" sz="784" dirty="0"/>
          </a:p>
        </p:txBody>
      </p:sp>
      <p:sp>
        <p:nvSpPr>
          <p:cNvPr id="6" name="Text 3"/>
          <p:cNvSpPr/>
          <p:nvPr/>
        </p:nvSpPr>
        <p:spPr>
          <a:xfrm>
            <a:off x="742950" y="2386682"/>
            <a:ext cx="354330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Companies spending millions on prompt optimization and AI workflow development</a:t>
            </a:r>
            <a:endParaRPr lang="en-US" sz="727" dirty="0"/>
          </a:p>
        </p:txBody>
      </p:sp>
      <p:sp>
        <p:nvSpPr>
          <p:cNvPr id="7" name="Text 4"/>
          <p:cNvSpPr/>
          <p:nvPr/>
        </p:nvSpPr>
        <p:spPr>
          <a:xfrm>
            <a:off x="742950" y="2821000"/>
            <a:ext cx="295419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F3A7D"/>
                </a:solidFill>
              </a:rPr>
              <a:t>SaaS Development</a:t>
            </a:r>
            <a:endParaRPr lang="en-US" sz="784" dirty="0"/>
          </a:p>
        </p:txBody>
      </p:sp>
      <p:sp>
        <p:nvSpPr>
          <p:cNvPr id="8" name="Text 5"/>
          <p:cNvSpPr/>
          <p:nvPr/>
        </p:nvSpPr>
        <p:spPr>
          <a:xfrm>
            <a:off x="742950" y="3019239"/>
            <a:ext cx="2954192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Founders need faster ways to build and monetize digital assets</a:t>
            </a:r>
            <a:endParaRPr lang="en-US" sz="727" dirty="0"/>
          </a:p>
        </p:txBody>
      </p:sp>
      <p:sp>
        <p:nvSpPr>
          <p:cNvPr id="9" name="Text 6"/>
          <p:cNvSpPr/>
          <p:nvPr/>
        </p:nvSpPr>
        <p:spPr>
          <a:xfrm>
            <a:off x="742950" y="3293548"/>
            <a:ext cx="351704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F3A7D"/>
                </a:solidFill>
              </a:rPr>
              <a:t>Automation Demand</a:t>
            </a:r>
            <a:endParaRPr lang="en-US" sz="784" dirty="0"/>
          </a:p>
        </p:txBody>
      </p:sp>
      <p:sp>
        <p:nvSpPr>
          <p:cNvPr id="10" name="Text 7"/>
          <p:cNvSpPr/>
          <p:nvPr/>
        </p:nvSpPr>
        <p:spPr>
          <a:xfrm>
            <a:off x="742950" y="3491787"/>
            <a:ext cx="3517041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Teams desperate for tools that reduce manual work and increase efficiency</a:t>
            </a:r>
            <a:endParaRPr lang="en-US" sz="727" dirty="0"/>
          </a:p>
        </p:txBody>
      </p:sp>
      <p:sp>
        <p:nvSpPr>
          <p:cNvPr id="11" name="Text 8"/>
          <p:cNvSpPr/>
          <p:nvPr/>
        </p:nvSpPr>
        <p:spPr>
          <a:xfrm>
            <a:off x="4857750" y="1754460"/>
            <a:ext cx="371475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F3A7D"/>
                </a:solidFill>
              </a:rPr>
              <a:t>Competitive Advantage</a:t>
            </a:r>
            <a:endParaRPr lang="en-US" sz="1193" dirty="0"/>
          </a:p>
        </p:txBody>
      </p:sp>
      <p:sp>
        <p:nvSpPr>
          <p:cNvPr id="12" name="Text 9"/>
          <p:cNvSpPr/>
          <p:nvPr/>
        </p:nvSpPr>
        <p:spPr>
          <a:xfrm>
            <a:off x="5029200" y="2188443"/>
            <a:ext cx="35433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F3A7D"/>
                </a:solidFill>
              </a:rPr>
              <a:t>Structured Paths</a:t>
            </a:r>
            <a:endParaRPr lang="en-US" sz="784" dirty="0"/>
          </a:p>
        </p:txBody>
      </p:sp>
      <p:sp>
        <p:nvSpPr>
          <p:cNvPr id="13" name="Text 10"/>
          <p:cNvSpPr/>
          <p:nvPr/>
        </p:nvSpPr>
        <p:spPr>
          <a:xfrm>
            <a:off x="5029200" y="2386682"/>
            <a:ext cx="354330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60-pack ecosystem guides users to profitable digital assets, not blank canvas</a:t>
            </a:r>
            <a:endParaRPr lang="en-US" sz="727" dirty="0"/>
          </a:p>
        </p:txBody>
      </p:sp>
      <p:sp>
        <p:nvSpPr>
          <p:cNvPr id="14" name="Text 11"/>
          <p:cNvSpPr/>
          <p:nvPr/>
        </p:nvSpPr>
        <p:spPr>
          <a:xfrm>
            <a:off x="5029200" y="2821000"/>
            <a:ext cx="328693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F3A7D"/>
                </a:solidFill>
              </a:rPr>
              <a:t>Content Moat</a:t>
            </a:r>
            <a:endParaRPr lang="en-US" sz="784" dirty="0"/>
          </a:p>
        </p:txBody>
      </p:sp>
      <p:sp>
        <p:nvSpPr>
          <p:cNvPr id="15" name="Text 12"/>
          <p:cNvSpPr/>
          <p:nvPr/>
        </p:nvSpPr>
        <p:spPr>
          <a:xfrm>
            <a:off x="5029200" y="3019239"/>
            <a:ext cx="3286934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Comprehensive pack library creates defensible competitive advantage</a:t>
            </a:r>
            <a:endParaRPr lang="en-US" sz="727" dirty="0"/>
          </a:p>
        </p:txBody>
      </p:sp>
      <p:sp>
        <p:nvSpPr>
          <p:cNvPr id="16" name="Text 13"/>
          <p:cNvSpPr/>
          <p:nvPr/>
        </p:nvSpPr>
        <p:spPr>
          <a:xfrm>
            <a:off x="5029200" y="3293548"/>
            <a:ext cx="336303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F3A7D"/>
                </a:solidFill>
              </a:rPr>
              <a:t>Market Timing</a:t>
            </a:r>
            <a:endParaRPr lang="en-US" sz="784" dirty="0"/>
          </a:p>
        </p:txBody>
      </p:sp>
      <p:sp>
        <p:nvSpPr>
          <p:cNvPr id="17" name="Text 14"/>
          <p:cNvSpPr/>
          <p:nvPr/>
        </p:nvSpPr>
        <p:spPr>
          <a:xfrm>
            <a:off x="5029200" y="3491787"/>
            <a:ext cx="3363032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12-month window to capture market share before competitors catch up</a:t>
            </a:r>
            <a:endParaRPr lang="en-US" sz="727" dirty="0"/>
          </a:p>
        </p:txBody>
      </p:sp>
      <p:sp>
        <p:nvSpPr>
          <p:cNvPr id="18" name="Shape 15"/>
          <p:cNvSpPr/>
          <p:nvPr/>
        </p:nvSpPr>
        <p:spPr>
          <a:xfrm>
            <a:off x="571500" y="3823246"/>
            <a:ext cx="8001000" cy="910437"/>
          </a:xfrm>
          <a:prstGeom prst="rect">
            <a:avLst/>
          </a:prstGeom>
          <a:solidFill>
            <a:srgbClr val="0F3A7D"/>
          </a:solidFill>
          <a:ln/>
        </p:spPr>
      </p:sp>
      <p:sp>
        <p:nvSpPr>
          <p:cNvPr id="19" name="Shape 16"/>
          <p:cNvSpPr/>
          <p:nvPr/>
        </p:nvSpPr>
        <p:spPr>
          <a:xfrm>
            <a:off x="571500" y="3823246"/>
            <a:ext cx="28575" cy="910437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0" name="Text 17"/>
          <p:cNvSpPr/>
          <p:nvPr/>
        </p:nvSpPr>
        <p:spPr>
          <a:xfrm>
            <a:off x="742950" y="3994696"/>
            <a:ext cx="765810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spc="1" kern="0" dirty="0">
                <a:solidFill>
                  <a:srgbClr val="FF6B35"/>
                </a:solidFill>
              </a:rPr>
              <a:t>Key Insight</a:t>
            </a:r>
            <a:endParaRPr lang="en-US" sz="584" dirty="0"/>
          </a:p>
        </p:txBody>
      </p:sp>
      <p:sp>
        <p:nvSpPr>
          <p:cNvPr id="21" name="Text 18"/>
          <p:cNvSpPr/>
          <p:nvPr/>
        </p:nvSpPr>
        <p:spPr>
          <a:xfrm>
            <a:off x="742950" y="4196507"/>
            <a:ext cx="7658100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AI adoption is at all-time high. Founders actively seeking tools to accelerate workflows. Willingness to pay for productivity tools has never been higher. We need to move now.</a:t>
            </a:r>
            <a:endParaRPr lang="en-US" sz="784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8001000" cy="377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226" b="1" dirty="0">
                <a:solidFill>
                  <a:srgbClr val="0F3A7D"/>
                </a:solidFill>
              </a:rPr>
              <a:t>The 4-Week Timeline: Week-by-Week Execution</a:t>
            </a:r>
            <a:endParaRPr lang="en-US" sz="2226" dirty="0"/>
          </a:p>
        </p:txBody>
      </p:sp>
      <p:sp>
        <p:nvSpPr>
          <p:cNvPr id="4" name="Text 1"/>
          <p:cNvSpPr/>
          <p:nvPr/>
        </p:nvSpPr>
        <p:spPr>
          <a:xfrm>
            <a:off x="571500" y="1403189"/>
            <a:ext cx="1000125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6B35"/>
                </a:solidFill>
              </a:rPr>
              <a:t>Week 1</a:t>
            </a:r>
            <a:endParaRPr lang="en-US" sz="1602" dirty="0"/>
          </a:p>
        </p:txBody>
      </p:sp>
      <p:sp>
        <p:nvSpPr>
          <p:cNvPr id="5" name="Text 2"/>
          <p:cNvSpPr/>
          <p:nvPr/>
        </p:nvSpPr>
        <p:spPr>
          <a:xfrm>
            <a:off x="571500" y="1772878"/>
            <a:ext cx="100012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spc="1" kern="0" dirty="0">
                <a:solidFill>
                  <a:srgbClr val="0F3A7D"/>
                </a:solidFill>
              </a:rPr>
              <a:t>Days 1-7</a:t>
            </a:r>
            <a:endParaRPr lang="en-US" sz="584" dirty="0"/>
          </a:p>
        </p:txBody>
      </p:sp>
      <p:sp>
        <p:nvSpPr>
          <p:cNvPr id="6" name="Text 3"/>
          <p:cNvSpPr/>
          <p:nvPr/>
        </p:nvSpPr>
        <p:spPr>
          <a:xfrm>
            <a:off x="1985963" y="1305855"/>
            <a:ext cx="658653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F3A7D"/>
                </a:solidFill>
              </a:rPr>
              <a:t>Foundation &amp; Launch Prep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1985963" y="1566602"/>
            <a:ext cx="658653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Infrastructure setup, backend/frontend development, authentication, pack execution engine</a:t>
            </a:r>
            <a:endParaRPr lang="en-US" sz="727" dirty="0"/>
          </a:p>
        </p:txBody>
      </p:sp>
      <p:sp>
        <p:nvSpPr>
          <p:cNvPr id="8" name="Text 5"/>
          <p:cNvSpPr/>
          <p:nvPr/>
        </p:nvSpPr>
        <p:spPr>
          <a:xfrm>
            <a:off x="2085975" y="1859496"/>
            <a:ext cx="182506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F3A7D"/>
                </a:solidFill>
              </a:rPr>
              <a:t>500+ email subscribers, landing page live</a:t>
            </a:r>
            <a:endParaRPr lang="en-US" sz="634" dirty="0"/>
          </a:p>
        </p:txBody>
      </p:sp>
      <p:sp>
        <p:nvSpPr>
          <p:cNvPr id="9" name="Text 6"/>
          <p:cNvSpPr/>
          <p:nvPr/>
        </p:nvSpPr>
        <p:spPr>
          <a:xfrm>
            <a:off x="571500" y="2226506"/>
            <a:ext cx="1000125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6B35"/>
                </a:solidFill>
              </a:rPr>
              <a:t>Week 2</a:t>
            </a:r>
            <a:endParaRPr lang="en-US" sz="1602" dirty="0"/>
          </a:p>
        </p:txBody>
      </p:sp>
      <p:sp>
        <p:nvSpPr>
          <p:cNvPr id="10" name="Text 7"/>
          <p:cNvSpPr/>
          <p:nvPr/>
        </p:nvSpPr>
        <p:spPr>
          <a:xfrm>
            <a:off x="571500" y="2596195"/>
            <a:ext cx="100012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spc="1" kern="0" dirty="0">
                <a:solidFill>
                  <a:srgbClr val="0F3A7D"/>
                </a:solidFill>
              </a:rPr>
              <a:t>Days 8-14</a:t>
            </a:r>
            <a:endParaRPr lang="en-US" sz="584" dirty="0"/>
          </a:p>
        </p:txBody>
      </p:sp>
      <p:sp>
        <p:nvSpPr>
          <p:cNvPr id="11" name="Text 8"/>
          <p:cNvSpPr/>
          <p:nvPr/>
        </p:nvSpPr>
        <p:spPr>
          <a:xfrm>
            <a:off x="1985963" y="2129172"/>
            <a:ext cx="658653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F3A7D"/>
                </a:solidFill>
              </a:rPr>
              <a:t>Launch &amp; Early Traction</a:t>
            </a:r>
            <a:endParaRPr lang="en-US" sz="885" dirty="0"/>
          </a:p>
        </p:txBody>
      </p:sp>
      <p:sp>
        <p:nvSpPr>
          <p:cNvPr id="12" name="Text 9"/>
          <p:cNvSpPr/>
          <p:nvPr/>
        </p:nvSpPr>
        <p:spPr>
          <a:xfrm>
            <a:off x="1985963" y="2389919"/>
            <a:ext cx="658653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Soft launch with 50 beta users, Product Hunt launch, momentum and optimization</a:t>
            </a:r>
            <a:endParaRPr lang="en-US" sz="727" dirty="0"/>
          </a:p>
        </p:txBody>
      </p:sp>
      <p:sp>
        <p:nvSpPr>
          <p:cNvPr id="13" name="Text 10"/>
          <p:cNvSpPr/>
          <p:nvPr/>
        </p:nvSpPr>
        <p:spPr>
          <a:xfrm>
            <a:off x="2085975" y="2682813"/>
            <a:ext cx="174798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F3A7D"/>
                </a:solidFill>
              </a:rPr>
              <a:t>50-100 paying customers, $5K-10K MRR</a:t>
            </a:r>
            <a:endParaRPr lang="en-US" sz="634" dirty="0"/>
          </a:p>
        </p:txBody>
      </p:sp>
      <p:sp>
        <p:nvSpPr>
          <p:cNvPr id="14" name="Text 11"/>
          <p:cNvSpPr/>
          <p:nvPr/>
        </p:nvSpPr>
        <p:spPr>
          <a:xfrm>
            <a:off x="571500" y="3049823"/>
            <a:ext cx="1000125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6B35"/>
                </a:solidFill>
              </a:rPr>
              <a:t>Week 3</a:t>
            </a:r>
            <a:endParaRPr lang="en-US" sz="1602" dirty="0"/>
          </a:p>
        </p:txBody>
      </p:sp>
      <p:sp>
        <p:nvSpPr>
          <p:cNvPr id="15" name="Text 12"/>
          <p:cNvSpPr/>
          <p:nvPr/>
        </p:nvSpPr>
        <p:spPr>
          <a:xfrm>
            <a:off x="571500" y="3419512"/>
            <a:ext cx="100012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spc="1" kern="0" dirty="0">
                <a:solidFill>
                  <a:srgbClr val="0F3A7D"/>
                </a:solidFill>
              </a:rPr>
              <a:t>Days 15-21</a:t>
            </a:r>
            <a:endParaRPr lang="en-US" sz="584" dirty="0"/>
          </a:p>
        </p:txBody>
      </p:sp>
      <p:sp>
        <p:nvSpPr>
          <p:cNvPr id="16" name="Text 13"/>
          <p:cNvSpPr/>
          <p:nvPr/>
        </p:nvSpPr>
        <p:spPr>
          <a:xfrm>
            <a:off x="1985963" y="2952490"/>
            <a:ext cx="658653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F3A7D"/>
                </a:solidFill>
              </a:rPr>
              <a:t>Scale &amp; Monetize</a:t>
            </a:r>
            <a:endParaRPr lang="en-US" sz="885" dirty="0"/>
          </a:p>
        </p:txBody>
      </p:sp>
      <p:sp>
        <p:nvSpPr>
          <p:cNvPr id="17" name="Text 14"/>
          <p:cNvSpPr/>
          <p:nvPr/>
        </p:nvSpPr>
        <p:spPr>
          <a:xfrm>
            <a:off x="1985963" y="3213236"/>
            <a:ext cx="658653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Affiliate program launch, pack library expansion, mobile app launch, enterprise deals</a:t>
            </a:r>
            <a:endParaRPr lang="en-US" sz="727" dirty="0"/>
          </a:p>
        </p:txBody>
      </p:sp>
      <p:sp>
        <p:nvSpPr>
          <p:cNvPr id="18" name="Text 15"/>
          <p:cNvSpPr/>
          <p:nvPr/>
        </p:nvSpPr>
        <p:spPr>
          <a:xfrm>
            <a:off x="2085975" y="3506130"/>
            <a:ext cx="185422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F3A7D"/>
                </a:solidFill>
              </a:rPr>
              <a:t>200-300 paying customers, $20K-50K MRR</a:t>
            </a:r>
            <a:endParaRPr lang="en-US" sz="634" dirty="0"/>
          </a:p>
        </p:txBody>
      </p:sp>
      <p:sp>
        <p:nvSpPr>
          <p:cNvPr id="19" name="Text 16"/>
          <p:cNvSpPr/>
          <p:nvPr/>
        </p:nvSpPr>
        <p:spPr>
          <a:xfrm>
            <a:off x="571500" y="3873140"/>
            <a:ext cx="1000125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6B35"/>
                </a:solidFill>
              </a:rPr>
              <a:t>Week 4</a:t>
            </a:r>
            <a:endParaRPr lang="en-US" sz="1602" dirty="0"/>
          </a:p>
        </p:txBody>
      </p:sp>
      <p:sp>
        <p:nvSpPr>
          <p:cNvPr id="20" name="Text 17"/>
          <p:cNvSpPr/>
          <p:nvPr/>
        </p:nvSpPr>
        <p:spPr>
          <a:xfrm>
            <a:off x="571500" y="4242829"/>
            <a:ext cx="100012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spc="1" kern="0" dirty="0">
                <a:solidFill>
                  <a:srgbClr val="0F3A7D"/>
                </a:solidFill>
              </a:rPr>
              <a:t>Days 22-28</a:t>
            </a:r>
            <a:endParaRPr lang="en-US" sz="584" dirty="0"/>
          </a:p>
        </p:txBody>
      </p:sp>
      <p:sp>
        <p:nvSpPr>
          <p:cNvPr id="21" name="Text 18"/>
          <p:cNvSpPr/>
          <p:nvPr/>
        </p:nvSpPr>
        <p:spPr>
          <a:xfrm>
            <a:off x="1985963" y="3775807"/>
            <a:ext cx="658653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F3A7D"/>
                </a:solidFill>
              </a:rPr>
              <a:t>Optimize &amp; Prepare for Scale</a:t>
            </a:r>
            <a:endParaRPr lang="en-US" sz="885" dirty="0"/>
          </a:p>
        </p:txBody>
      </p:sp>
      <p:sp>
        <p:nvSpPr>
          <p:cNvPr id="22" name="Text 19"/>
          <p:cNvSpPr/>
          <p:nvPr/>
        </p:nvSpPr>
        <p:spPr>
          <a:xfrm>
            <a:off x="1985963" y="4036554"/>
            <a:ext cx="658653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Analytics dashboard, security hardening, compliance, Phase 2 planning</a:t>
            </a:r>
            <a:endParaRPr lang="en-US" sz="727" dirty="0"/>
          </a:p>
        </p:txBody>
      </p:sp>
      <p:sp>
        <p:nvSpPr>
          <p:cNvPr id="23" name="Text 20"/>
          <p:cNvSpPr/>
          <p:nvPr/>
        </p:nvSpPr>
        <p:spPr>
          <a:xfrm>
            <a:off x="2085975" y="4329447"/>
            <a:ext cx="185422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F3A7D"/>
                </a:solidFill>
              </a:rPr>
              <a:t>300-500 paying customers, $30K-50K MRR</a:t>
            </a:r>
            <a:endParaRPr lang="en-US" sz="634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8001000" cy="377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226" b="1" dirty="0">
                <a:solidFill>
                  <a:srgbClr val="0F3A7D"/>
                </a:solidFill>
              </a:rPr>
              <a:t>Lean MVP Specification: Core Features Only</a:t>
            </a:r>
            <a:endParaRPr lang="en-US" sz="2226" dirty="0"/>
          </a:p>
        </p:txBody>
      </p:sp>
      <p:sp>
        <p:nvSpPr>
          <p:cNvPr id="4" name="Text 1"/>
          <p:cNvSpPr/>
          <p:nvPr/>
        </p:nvSpPr>
        <p:spPr>
          <a:xfrm>
            <a:off x="571500" y="1234418"/>
            <a:ext cx="255269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F3A7D"/>
                </a:solidFill>
              </a:rPr>
              <a:t>Core Features</a:t>
            </a:r>
            <a:endParaRPr lang="en-US" sz="987" dirty="0"/>
          </a:p>
        </p:txBody>
      </p:sp>
      <p:sp>
        <p:nvSpPr>
          <p:cNvPr id="5" name="Text 2"/>
          <p:cNvSpPr/>
          <p:nvPr/>
        </p:nvSpPr>
        <p:spPr>
          <a:xfrm>
            <a:off x="571500" y="1486235"/>
            <a:ext cx="255269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spc="1" kern="0" dirty="0">
                <a:solidFill>
                  <a:srgbClr val="FF6B35"/>
                </a:solidFill>
              </a:rPr>
              <a:t>Week 1-2</a:t>
            </a:r>
            <a:endParaRPr lang="en-US" sz="584" dirty="0"/>
          </a:p>
        </p:txBody>
      </p:sp>
      <p:sp>
        <p:nvSpPr>
          <p:cNvPr id="6" name="Text 3"/>
          <p:cNvSpPr/>
          <p:nvPr/>
        </p:nvSpPr>
        <p:spPr>
          <a:xfrm>
            <a:off x="571500" y="1838065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AA44"/>
                </a:solidFill>
              </a:rPr>
              <a:t>✓</a:t>
            </a:r>
            <a:endParaRPr lang="en-US" sz="683" dirty="0"/>
          </a:p>
        </p:txBody>
      </p:sp>
      <p:sp>
        <p:nvSpPr>
          <p:cNvPr id="7" name="Text 4"/>
          <p:cNvSpPr/>
          <p:nvPr/>
        </p:nvSpPr>
        <p:spPr>
          <a:xfrm>
            <a:off x="800100" y="1838065"/>
            <a:ext cx="959244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0F3A7D"/>
                </a:solidFill>
              </a:rPr>
              <a:t>User Authentication</a:t>
            </a:r>
            <a:endParaRPr lang="en-US" sz="683" dirty="0"/>
          </a:p>
        </p:txBody>
      </p:sp>
      <p:sp>
        <p:nvSpPr>
          <p:cNvPr id="8" name="Text 5"/>
          <p:cNvSpPr/>
          <p:nvPr/>
        </p:nvSpPr>
        <p:spPr>
          <a:xfrm>
            <a:off x="571500" y="2066665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AA44"/>
                </a:solidFill>
              </a:rPr>
              <a:t>✓</a:t>
            </a:r>
            <a:endParaRPr lang="en-US" sz="683" dirty="0"/>
          </a:p>
        </p:txBody>
      </p:sp>
      <p:sp>
        <p:nvSpPr>
          <p:cNvPr id="9" name="Text 6"/>
          <p:cNvSpPr/>
          <p:nvPr/>
        </p:nvSpPr>
        <p:spPr>
          <a:xfrm>
            <a:off x="800100" y="2066665"/>
            <a:ext cx="716217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0F3A7D"/>
                </a:solidFill>
              </a:rPr>
              <a:t>Pack Execution</a:t>
            </a:r>
            <a:endParaRPr lang="en-US" sz="683" dirty="0"/>
          </a:p>
        </p:txBody>
      </p:sp>
      <p:sp>
        <p:nvSpPr>
          <p:cNvPr id="10" name="Text 7"/>
          <p:cNvSpPr/>
          <p:nvPr/>
        </p:nvSpPr>
        <p:spPr>
          <a:xfrm>
            <a:off x="571500" y="2295265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AA44"/>
                </a:solidFill>
              </a:rPr>
              <a:t>✓</a:t>
            </a:r>
            <a:endParaRPr lang="en-US" sz="683" dirty="0"/>
          </a:p>
        </p:txBody>
      </p:sp>
      <p:sp>
        <p:nvSpPr>
          <p:cNvPr id="11" name="Text 8"/>
          <p:cNvSpPr/>
          <p:nvPr/>
        </p:nvSpPr>
        <p:spPr>
          <a:xfrm>
            <a:off x="800100" y="2295265"/>
            <a:ext cx="739713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0F3A7D"/>
                </a:solidFill>
              </a:rPr>
              <a:t>Pack Composer</a:t>
            </a:r>
            <a:endParaRPr lang="en-US" sz="683" dirty="0"/>
          </a:p>
        </p:txBody>
      </p:sp>
      <p:sp>
        <p:nvSpPr>
          <p:cNvPr id="12" name="Text 9"/>
          <p:cNvSpPr/>
          <p:nvPr/>
        </p:nvSpPr>
        <p:spPr>
          <a:xfrm>
            <a:off x="571500" y="2523865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AA44"/>
                </a:solidFill>
              </a:rPr>
              <a:t>✓</a:t>
            </a:r>
            <a:endParaRPr lang="en-US" sz="683" dirty="0"/>
          </a:p>
        </p:txBody>
      </p:sp>
      <p:sp>
        <p:nvSpPr>
          <p:cNvPr id="13" name="Text 10"/>
          <p:cNvSpPr/>
          <p:nvPr/>
        </p:nvSpPr>
        <p:spPr>
          <a:xfrm>
            <a:off x="800100" y="2523865"/>
            <a:ext cx="837521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0F3A7D"/>
                </a:solidFill>
              </a:rPr>
              <a:t>Execution History</a:t>
            </a:r>
            <a:endParaRPr lang="en-US" sz="683" dirty="0"/>
          </a:p>
        </p:txBody>
      </p:sp>
      <p:sp>
        <p:nvSpPr>
          <p:cNvPr id="14" name="Text 11"/>
          <p:cNvSpPr/>
          <p:nvPr/>
        </p:nvSpPr>
        <p:spPr>
          <a:xfrm>
            <a:off x="571500" y="2752465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AA44"/>
                </a:solidFill>
              </a:rPr>
              <a:t>✓</a:t>
            </a:r>
            <a:endParaRPr lang="en-US" sz="683" dirty="0"/>
          </a:p>
        </p:txBody>
      </p:sp>
      <p:sp>
        <p:nvSpPr>
          <p:cNvPr id="15" name="Text 12"/>
          <p:cNvSpPr/>
          <p:nvPr/>
        </p:nvSpPr>
        <p:spPr>
          <a:xfrm>
            <a:off x="800100" y="2752465"/>
            <a:ext cx="661104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0F3A7D"/>
                </a:solidFill>
              </a:rPr>
              <a:t>Credit System</a:t>
            </a:r>
            <a:endParaRPr lang="en-US" sz="683" dirty="0"/>
          </a:p>
        </p:txBody>
      </p:sp>
      <p:sp>
        <p:nvSpPr>
          <p:cNvPr id="16" name="Text 13"/>
          <p:cNvSpPr/>
          <p:nvPr/>
        </p:nvSpPr>
        <p:spPr>
          <a:xfrm>
            <a:off x="571500" y="2981065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AA44"/>
                </a:solidFill>
              </a:rPr>
              <a:t>✓</a:t>
            </a:r>
            <a:endParaRPr lang="en-US" sz="683" dirty="0"/>
          </a:p>
        </p:txBody>
      </p:sp>
      <p:sp>
        <p:nvSpPr>
          <p:cNvPr id="17" name="Text 14"/>
          <p:cNvSpPr/>
          <p:nvPr/>
        </p:nvSpPr>
        <p:spPr>
          <a:xfrm>
            <a:off x="800100" y="2981065"/>
            <a:ext cx="911637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0F3A7D"/>
                </a:solidFill>
              </a:rPr>
              <a:t>Subscription Mgmt</a:t>
            </a:r>
            <a:endParaRPr lang="en-US" sz="683" dirty="0"/>
          </a:p>
        </p:txBody>
      </p:sp>
      <p:sp>
        <p:nvSpPr>
          <p:cNvPr id="18" name="Text 15"/>
          <p:cNvSpPr/>
          <p:nvPr/>
        </p:nvSpPr>
        <p:spPr>
          <a:xfrm>
            <a:off x="571500" y="3209665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AA44"/>
                </a:solidFill>
              </a:rPr>
              <a:t>✓</a:t>
            </a:r>
            <a:endParaRPr lang="en-US" sz="683" dirty="0"/>
          </a:p>
        </p:txBody>
      </p:sp>
      <p:sp>
        <p:nvSpPr>
          <p:cNvPr id="19" name="Text 16"/>
          <p:cNvSpPr/>
          <p:nvPr/>
        </p:nvSpPr>
        <p:spPr>
          <a:xfrm>
            <a:off x="800100" y="3209665"/>
            <a:ext cx="798621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0F3A7D"/>
                </a:solidFill>
              </a:rPr>
              <a:t>Basic Dashboard</a:t>
            </a:r>
            <a:endParaRPr lang="en-US" sz="683" dirty="0"/>
          </a:p>
        </p:txBody>
      </p:sp>
      <p:sp>
        <p:nvSpPr>
          <p:cNvPr id="20" name="Text 17"/>
          <p:cNvSpPr/>
          <p:nvPr/>
        </p:nvSpPr>
        <p:spPr>
          <a:xfrm>
            <a:off x="3295641" y="1234418"/>
            <a:ext cx="255269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F3A7D"/>
                </a:solidFill>
              </a:rPr>
              <a:t>Expanded Features</a:t>
            </a:r>
            <a:endParaRPr lang="en-US" sz="987" dirty="0"/>
          </a:p>
        </p:txBody>
      </p:sp>
      <p:sp>
        <p:nvSpPr>
          <p:cNvPr id="21" name="Text 18"/>
          <p:cNvSpPr/>
          <p:nvPr/>
        </p:nvSpPr>
        <p:spPr>
          <a:xfrm>
            <a:off x="3295641" y="1486235"/>
            <a:ext cx="255269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spc="1" kern="0" dirty="0">
                <a:solidFill>
                  <a:srgbClr val="FF6B35"/>
                </a:solidFill>
              </a:rPr>
              <a:t>Week 3</a:t>
            </a:r>
            <a:endParaRPr lang="en-US" sz="584" dirty="0"/>
          </a:p>
        </p:txBody>
      </p:sp>
      <p:sp>
        <p:nvSpPr>
          <p:cNvPr id="22" name="Text 19"/>
          <p:cNvSpPr/>
          <p:nvPr/>
        </p:nvSpPr>
        <p:spPr>
          <a:xfrm>
            <a:off x="3295641" y="1838065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AA44"/>
                </a:solidFill>
              </a:rPr>
              <a:t>✓</a:t>
            </a:r>
            <a:endParaRPr lang="en-US" sz="683" dirty="0"/>
          </a:p>
        </p:txBody>
      </p:sp>
      <p:sp>
        <p:nvSpPr>
          <p:cNvPr id="23" name="Text 20"/>
          <p:cNvSpPr/>
          <p:nvPr/>
        </p:nvSpPr>
        <p:spPr>
          <a:xfrm>
            <a:off x="3524241" y="1838065"/>
            <a:ext cx="826108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0F3A7D"/>
                </a:solidFill>
              </a:rPr>
              <a:t>Visualisation Gen</a:t>
            </a:r>
            <a:endParaRPr lang="en-US" sz="683" dirty="0"/>
          </a:p>
        </p:txBody>
      </p:sp>
      <p:sp>
        <p:nvSpPr>
          <p:cNvPr id="24" name="Text 21"/>
          <p:cNvSpPr/>
          <p:nvPr/>
        </p:nvSpPr>
        <p:spPr>
          <a:xfrm>
            <a:off x="3295641" y="2066665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AA44"/>
                </a:solidFill>
              </a:rPr>
              <a:t>✓</a:t>
            </a:r>
            <a:endParaRPr lang="en-US" sz="683" dirty="0"/>
          </a:p>
        </p:txBody>
      </p:sp>
      <p:sp>
        <p:nvSpPr>
          <p:cNvPr id="25" name="Text 22"/>
          <p:cNvSpPr/>
          <p:nvPr/>
        </p:nvSpPr>
        <p:spPr>
          <a:xfrm>
            <a:off x="3524241" y="2066665"/>
            <a:ext cx="845530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0F3A7D"/>
                </a:solidFill>
              </a:rPr>
              <a:t>Pack Library (40+)</a:t>
            </a:r>
            <a:endParaRPr lang="en-US" sz="683" dirty="0"/>
          </a:p>
        </p:txBody>
      </p:sp>
      <p:sp>
        <p:nvSpPr>
          <p:cNvPr id="26" name="Text 23"/>
          <p:cNvSpPr/>
          <p:nvPr/>
        </p:nvSpPr>
        <p:spPr>
          <a:xfrm>
            <a:off x="3295641" y="2295265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AA44"/>
                </a:solidFill>
              </a:rPr>
              <a:t>✓</a:t>
            </a:r>
            <a:endParaRPr lang="en-US" sz="683" dirty="0"/>
          </a:p>
        </p:txBody>
      </p:sp>
      <p:sp>
        <p:nvSpPr>
          <p:cNvPr id="27" name="Text 24"/>
          <p:cNvSpPr/>
          <p:nvPr/>
        </p:nvSpPr>
        <p:spPr>
          <a:xfrm>
            <a:off x="3524241" y="2295265"/>
            <a:ext cx="541781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0F3A7D"/>
                </a:solidFill>
              </a:rPr>
              <a:t>Mobile App</a:t>
            </a:r>
            <a:endParaRPr lang="en-US" sz="683" dirty="0"/>
          </a:p>
        </p:txBody>
      </p:sp>
      <p:sp>
        <p:nvSpPr>
          <p:cNvPr id="28" name="Text 25"/>
          <p:cNvSpPr/>
          <p:nvPr/>
        </p:nvSpPr>
        <p:spPr>
          <a:xfrm>
            <a:off x="3295641" y="2523865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AA44"/>
                </a:solidFill>
              </a:rPr>
              <a:t>✓</a:t>
            </a:r>
            <a:endParaRPr lang="en-US" sz="683" dirty="0"/>
          </a:p>
        </p:txBody>
      </p:sp>
      <p:sp>
        <p:nvSpPr>
          <p:cNvPr id="29" name="Text 26"/>
          <p:cNvSpPr/>
          <p:nvPr/>
        </p:nvSpPr>
        <p:spPr>
          <a:xfrm>
            <a:off x="3524241" y="2523865"/>
            <a:ext cx="931143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0F3A7D"/>
                </a:solidFill>
              </a:rPr>
              <a:t>Team Collaboration</a:t>
            </a:r>
            <a:endParaRPr lang="en-US" sz="683" dirty="0"/>
          </a:p>
        </p:txBody>
      </p:sp>
      <p:sp>
        <p:nvSpPr>
          <p:cNvPr id="30" name="Text 27"/>
          <p:cNvSpPr/>
          <p:nvPr/>
        </p:nvSpPr>
        <p:spPr>
          <a:xfrm>
            <a:off x="6019781" y="1234418"/>
            <a:ext cx="255271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F3A7D"/>
                </a:solidFill>
              </a:rPr>
              <a:t>Deferred</a:t>
            </a:r>
            <a:endParaRPr lang="en-US" sz="987" dirty="0"/>
          </a:p>
        </p:txBody>
      </p:sp>
      <p:sp>
        <p:nvSpPr>
          <p:cNvPr id="31" name="Text 28"/>
          <p:cNvSpPr/>
          <p:nvPr/>
        </p:nvSpPr>
        <p:spPr>
          <a:xfrm>
            <a:off x="6019781" y="1486235"/>
            <a:ext cx="255271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spc="1" kern="0" dirty="0">
                <a:solidFill>
                  <a:srgbClr val="FF6B35"/>
                </a:solidFill>
              </a:rPr>
              <a:t>Phase 2</a:t>
            </a:r>
            <a:endParaRPr lang="en-US" sz="584" dirty="0"/>
          </a:p>
        </p:txBody>
      </p:sp>
      <p:sp>
        <p:nvSpPr>
          <p:cNvPr id="32" name="Text 29"/>
          <p:cNvSpPr/>
          <p:nvPr/>
        </p:nvSpPr>
        <p:spPr>
          <a:xfrm>
            <a:off x="6019781" y="1838065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CCCCCC"/>
                </a:solidFill>
              </a:rPr>
              <a:t>✕</a:t>
            </a:r>
            <a:endParaRPr lang="en-US" sz="683" dirty="0"/>
          </a:p>
        </p:txBody>
      </p:sp>
      <p:sp>
        <p:nvSpPr>
          <p:cNvPr id="33" name="Text 30"/>
          <p:cNvSpPr/>
          <p:nvPr/>
        </p:nvSpPr>
        <p:spPr>
          <a:xfrm>
            <a:off x="6248381" y="1838065"/>
            <a:ext cx="1008134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0F3A7D"/>
                </a:solidFill>
              </a:rPr>
              <a:t>AI Agent Automation</a:t>
            </a:r>
            <a:endParaRPr lang="en-US" sz="683" dirty="0"/>
          </a:p>
        </p:txBody>
      </p:sp>
      <p:sp>
        <p:nvSpPr>
          <p:cNvPr id="34" name="Text 31"/>
          <p:cNvSpPr/>
          <p:nvPr/>
        </p:nvSpPr>
        <p:spPr>
          <a:xfrm>
            <a:off x="6019781" y="2066665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CCCCCC"/>
                </a:solidFill>
              </a:rPr>
              <a:t>✕</a:t>
            </a:r>
            <a:endParaRPr lang="en-US" sz="683" dirty="0"/>
          </a:p>
        </p:txBody>
      </p:sp>
      <p:sp>
        <p:nvSpPr>
          <p:cNvPr id="35" name="Text 32"/>
          <p:cNvSpPr/>
          <p:nvPr/>
        </p:nvSpPr>
        <p:spPr>
          <a:xfrm>
            <a:off x="6248381" y="2066665"/>
            <a:ext cx="1101840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0F3A7D"/>
                </a:solidFill>
              </a:rPr>
              <a:t>Advanced Visualisation</a:t>
            </a:r>
            <a:endParaRPr lang="en-US" sz="683" dirty="0"/>
          </a:p>
        </p:txBody>
      </p:sp>
      <p:sp>
        <p:nvSpPr>
          <p:cNvPr id="36" name="Text 33"/>
          <p:cNvSpPr/>
          <p:nvPr/>
        </p:nvSpPr>
        <p:spPr>
          <a:xfrm>
            <a:off x="6019781" y="2295265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CCCCCC"/>
                </a:solidFill>
              </a:rPr>
              <a:t>✕</a:t>
            </a:r>
            <a:endParaRPr lang="en-US" sz="683" dirty="0"/>
          </a:p>
        </p:txBody>
      </p:sp>
      <p:sp>
        <p:nvSpPr>
          <p:cNvPr id="37" name="Text 34"/>
          <p:cNvSpPr/>
          <p:nvPr/>
        </p:nvSpPr>
        <p:spPr>
          <a:xfrm>
            <a:off x="6248381" y="2295265"/>
            <a:ext cx="611488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0F3A7D"/>
                </a:solidFill>
              </a:rPr>
              <a:t>Desktop App</a:t>
            </a:r>
            <a:endParaRPr lang="en-US" sz="683" dirty="0"/>
          </a:p>
        </p:txBody>
      </p:sp>
      <p:sp>
        <p:nvSpPr>
          <p:cNvPr id="38" name="Text 35"/>
          <p:cNvSpPr/>
          <p:nvPr/>
        </p:nvSpPr>
        <p:spPr>
          <a:xfrm>
            <a:off x="6019781" y="2523865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CCCCCC"/>
                </a:solidFill>
              </a:rPr>
              <a:t>✕</a:t>
            </a:r>
            <a:endParaRPr lang="en-US" sz="683" dirty="0"/>
          </a:p>
        </p:txBody>
      </p:sp>
      <p:sp>
        <p:nvSpPr>
          <p:cNvPr id="39" name="Text 36"/>
          <p:cNvSpPr/>
          <p:nvPr/>
        </p:nvSpPr>
        <p:spPr>
          <a:xfrm>
            <a:off x="6248381" y="2523865"/>
            <a:ext cx="755396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0F3A7D"/>
                </a:solidFill>
              </a:rPr>
              <a:t>Multi-Language</a:t>
            </a:r>
            <a:endParaRPr lang="en-US" sz="683" dirty="0"/>
          </a:p>
        </p:txBody>
      </p:sp>
      <p:sp>
        <p:nvSpPr>
          <p:cNvPr id="40" name="Text 37"/>
          <p:cNvSpPr/>
          <p:nvPr/>
        </p:nvSpPr>
        <p:spPr>
          <a:xfrm>
            <a:off x="6019781" y="2752465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CCCCCC"/>
                </a:solidFill>
              </a:rPr>
              <a:t>✕</a:t>
            </a:r>
            <a:endParaRPr lang="en-US" sz="683" dirty="0"/>
          </a:p>
        </p:txBody>
      </p:sp>
      <p:sp>
        <p:nvSpPr>
          <p:cNvPr id="41" name="Text 38"/>
          <p:cNvSpPr/>
          <p:nvPr/>
        </p:nvSpPr>
        <p:spPr>
          <a:xfrm>
            <a:off x="6248381" y="2752465"/>
            <a:ext cx="1086352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0F3A7D"/>
                </a:solidFill>
              </a:rPr>
              <a:t>Advanced Integrations</a:t>
            </a:r>
            <a:endParaRPr lang="en-US" sz="683" dirty="0"/>
          </a:p>
        </p:txBody>
      </p:sp>
      <p:sp>
        <p:nvSpPr>
          <p:cNvPr id="42" name="Text 39"/>
          <p:cNvSpPr/>
          <p:nvPr/>
        </p:nvSpPr>
        <p:spPr>
          <a:xfrm>
            <a:off x="6019781" y="2981065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CCCCCC"/>
                </a:solidFill>
              </a:rPr>
              <a:t>✕</a:t>
            </a:r>
            <a:endParaRPr lang="en-US" sz="683" dirty="0"/>
          </a:p>
        </p:txBody>
      </p:sp>
      <p:sp>
        <p:nvSpPr>
          <p:cNvPr id="43" name="Text 40"/>
          <p:cNvSpPr/>
          <p:nvPr/>
        </p:nvSpPr>
        <p:spPr>
          <a:xfrm>
            <a:off x="6248381" y="2981065"/>
            <a:ext cx="845530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0F3A7D"/>
                </a:solidFill>
              </a:rPr>
              <a:t>Pack Marketplace</a:t>
            </a:r>
            <a:endParaRPr lang="en-US" sz="683" dirty="0"/>
          </a:p>
        </p:txBody>
      </p:sp>
      <p:sp>
        <p:nvSpPr>
          <p:cNvPr id="44" name="Text 41"/>
          <p:cNvSpPr/>
          <p:nvPr/>
        </p:nvSpPr>
        <p:spPr>
          <a:xfrm>
            <a:off x="6019781" y="3209665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CCCCCC"/>
                </a:solidFill>
              </a:rPr>
              <a:t>✕</a:t>
            </a:r>
            <a:endParaRPr lang="en-US" sz="683" dirty="0"/>
          </a:p>
        </p:txBody>
      </p:sp>
      <p:sp>
        <p:nvSpPr>
          <p:cNvPr id="45" name="Text 42"/>
          <p:cNvSpPr/>
          <p:nvPr/>
        </p:nvSpPr>
        <p:spPr>
          <a:xfrm>
            <a:off x="6248381" y="3209665"/>
            <a:ext cx="999148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0F3A7D"/>
                </a:solidFill>
              </a:rPr>
              <a:t>Community Features</a:t>
            </a:r>
            <a:endParaRPr lang="en-US" sz="683" dirty="0"/>
          </a:p>
        </p:txBody>
      </p:sp>
      <p:sp>
        <p:nvSpPr>
          <p:cNvPr id="46" name="Shape 43"/>
          <p:cNvSpPr/>
          <p:nvPr/>
        </p:nvSpPr>
        <p:spPr>
          <a:xfrm>
            <a:off x="571500" y="3970139"/>
            <a:ext cx="8001000" cy="887611"/>
          </a:xfrm>
          <a:prstGeom prst="rect">
            <a:avLst/>
          </a:prstGeom>
          <a:solidFill>
            <a:srgbClr val="0F3A7D"/>
          </a:solidFill>
          <a:ln/>
        </p:spPr>
      </p:sp>
      <p:sp>
        <p:nvSpPr>
          <p:cNvPr id="47" name="Shape 44"/>
          <p:cNvSpPr/>
          <p:nvPr/>
        </p:nvSpPr>
        <p:spPr>
          <a:xfrm>
            <a:off x="571500" y="3970139"/>
            <a:ext cx="28575" cy="887611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8" name="Text 45"/>
          <p:cNvSpPr/>
          <p:nvPr/>
        </p:nvSpPr>
        <p:spPr>
          <a:xfrm>
            <a:off x="742950" y="4141589"/>
            <a:ext cx="765810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spc="1" kern="0" dirty="0">
                <a:solidFill>
                  <a:srgbClr val="FF6B35"/>
                </a:solidFill>
              </a:rPr>
              <a:t>Scope Discipline</a:t>
            </a:r>
            <a:endParaRPr lang="en-US" sz="584" dirty="0"/>
          </a:p>
        </p:txBody>
      </p:sp>
      <p:sp>
        <p:nvSpPr>
          <p:cNvPr id="49" name="Text 46"/>
          <p:cNvSpPr/>
          <p:nvPr/>
        </p:nvSpPr>
        <p:spPr>
          <a:xfrm>
            <a:off x="742950" y="4343400"/>
            <a:ext cx="76581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FFFFFF"/>
                </a:solidFill>
              </a:rPr>
              <a:t>We're building exactly what we need to validate product-market fit and generate revenue. Everything else waits. This ruthless scope discipline is what allows us to ship in 4 weeks.</a:t>
            </a:r>
            <a:endParaRPr lang="en-US" sz="734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8001000" cy="377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226" b="1" dirty="0">
                <a:solidFill>
                  <a:srgbClr val="0F3A7D"/>
                </a:solidFill>
              </a:rPr>
              <a:t>Revenue Model &amp; Pricing: $30K-50K MRR Strategy</a:t>
            </a:r>
            <a:endParaRPr lang="en-US" sz="2226" dirty="0"/>
          </a:p>
        </p:txBody>
      </p:sp>
      <p:sp>
        <p:nvSpPr>
          <p:cNvPr id="4" name="Text 1"/>
          <p:cNvSpPr/>
          <p:nvPr/>
        </p:nvSpPr>
        <p:spPr>
          <a:xfrm>
            <a:off x="714375" y="1120118"/>
            <a:ext cx="244790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F3A7D"/>
                </a:solidFill>
              </a:rPr>
              <a:t>Free Tier</a:t>
            </a:r>
            <a:endParaRPr lang="en-US" sz="885" dirty="0"/>
          </a:p>
        </p:txBody>
      </p:sp>
      <p:sp>
        <p:nvSpPr>
          <p:cNvPr id="5" name="Text 2"/>
          <p:cNvSpPr/>
          <p:nvPr/>
        </p:nvSpPr>
        <p:spPr>
          <a:xfrm>
            <a:off x="714375" y="1352290"/>
            <a:ext cx="2447906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6B35"/>
                </a:solidFill>
              </a:rPr>
              <a:t>$0</a:t>
            </a:r>
            <a:endParaRPr lang="en-US" sz="1397" dirty="0"/>
          </a:p>
        </p:txBody>
      </p:sp>
      <p:sp>
        <p:nvSpPr>
          <p:cNvPr id="6" name="Text 3"/>
          <p:cNvSpPr/>
          <p:nvPr/>
        </p:nvSpPr>
        <p:spPr>
          <a:xfrm>
            <a:off x="714375" y="1682688"/>
            <a:ext cx="244790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555555"/>
                </a:solidFill>
              </a:rPr>
              <a:t>10 executions/month</a:t>
            </a:r>
            <a:endParaRPr lang="en-US" sz="634" dirty="0"/>
          </a:p>
        </p:txBody>
      </p:sp>
      <p:sp>
        <p:nvSpPr>
          <p:cNvPr id="7" name="Text 4"/>
          <p:cNvSpPr/>
          <p:nvPr/>
        </p:nvSpPr>
        <p:spPr>
          <a:xfrm>
            <a:off x="714375" y="1864854"/>
            <a:ext cx="244790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555555"/>
                </a:solidFill>
              </a:rPr>
              <a:t>Limited packs</a:t>
            </a:r>
            <a:endParaRPr lang="en-US" sz="634" dirty="0"/>
          </a:p>
        </p:txBody>
      </p:sp>
      <p:sp>
        <p:nvSpPr>
          <p:cNvPr id="8" name="Text 5"/>
          <p:cNvSpPr/>
          <p:nvPr/>
        </p:nvSpPr>
        <p:spPr>
          <a:xfrm>
            <a:off x="714375" y="2047019"/>
            <a:ext cx="244790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555555"/>
                </a:solidFill>
              </a:rPr>
              <a:t>Basic dashboard</a:t>
            </a:r>
            <a:endParaRPr lang="en-US" sz="634" dirty="0"/>
          </a:p>
        </p:txBody>
      </p:sp>
      <p:sp>
        <p:nvSpPr>
          <p:cNvPr id="9" name="Text 6"/>
          <p:cNvSpPr/>
          <p:nvPr/>
        </p:nvSpPr>
        <p:spPr>
          <a:xfrm>
            <a:off x="714375" y="2229185"/>
            <a:ext cx="244790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555555"/>
                </a:solidFill>
              </a:rPr>
              <a:t>Purpose: Acquisition</a:t>
            </a:r>
            <a:endParaRPr lang="en-US" sz="634" dirty="0"/>
          </a:p>
        </p:txBody>
      </p:sp>
      <p:sp>
        <p:nvSpPr>
          <p:cNvPr id="10" name="Text 7"/>
          <p:cNvSpPr/>
          <p:nvPr/>
        </p:nvSpPr>
        <p:spPr>
          <a:xfrm>
            <a:off x="3419456" y="1120118"/>
            <a:ext cx="244793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F3A7D"/>
                </a:solidFill>
              </a:rPr>
              <a:t>Pro Tier</a:t>
            </a:r>
            <a:endParaRPr lang="en-US" sz="885" dirty="0"/>
          </a:p>
        </p:txBody>
      </p:sp>
      <p:sp>
        <p:nvSpPr>
          <p:cNvPr id="11" name="Text 8"/>
          <p:cNvSpPr/>
          <p:nvPr/>
        </p:nvSpPr>
        <p:spPr>
          <a:xfrm>
            <a:off x="3419456" y="1352290"/>
            <a:ext cx="2447934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6B35"/>
                </a:solidFill>
              </a:rPr>
              <a:t>$29/mo</a:t>
            </a:r>
            <a:endParaRPr lang="en-US" sz="1397" dirty="0"/>
          </a:p>
        </p:txBody>
      </p:sp>
      <p:sp>
        <p:nvSpPr>
          <p:cNvPr id="12" name="Text 9"/>
          <p:cNvSpPr/>
          <p:nvPr/>
        </p:nvSpPr>
        <p:spPr>
          <a:xfrm>
            <a:off x="3419456" y="1682688"/>
            <a:ext cx="244793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555555"/>
                </a:solidFill>
              </a:rPr>
              <a:t>Unlimited executions</a:t>
            </a:r>
            <a:endParaRPr lang="en-US" sz="634" dirty="0"/>
          </a:p>
        </p:txBody>
      </p:sp>
      <p:sp>
        <p:nvSpPr>
          <p:cNvPr id="13" name="Text 10"/>
          <p:cNvSpPr/>
          <p:nvPr/>
        </p:nvSpPr>
        <p:spPr>
          <a:xfrm>
            <a:off x="3419456" y="1864854"/>
            <a:ext cx="244793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555555"/>
                </a:solidFill>
              </a:rPr>
              <a:t>All packs</a:t>
            </a:r>
            <a:endParaRPr lang="en-US" sz="634" dirty="0"/>
          </a:p>
        </p:txBody>
      </p:sp>
      <p:sp>
        <p:nvSpPr>
          <p:cNvPr id="14" name="Text 11"/>
          <p:cNvSpPr/>
          <p:nvPr/>
        </p:nvSpPr>
        <p:spPr>
          <a:xfrm>
            <a:off x="3419456" y="2047019"/>
            <a:ext cx="244793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555555"/>
                </a:solidFill>
              </a:rPr>
              <a:t>Visualisation</a:t>
            </a:r>
            <a:endParaRPr lang="en-US" sz="634" dirty="0"/>
          </a:p>
        </p:txBody>
      </p:sp>
      <p:sp>
        <p:nvSpPr>
          <p:cNvPr id="15" name="Text 12"/>
          <p:cNvSpPr/>
          <p:nvPr/>
        </p:nvSpPr>
        <p:spPr>
          <a:xfrm>
            <a:off x="3419456" y="2229185"/>
            <a:ext cx="244793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555555"/>
                </a:solidFill>
              </a:rPr>
              <a:t>Purpose: Monetisation</a:t>
            </a:r>
            <a:endParaRPr lang="en-US" sz="634" dirty="0"/>
          </a:p>
        </p:txBody>
      </p:sp>
      <p:sp>
        <p:nvSpPr>
          <p:cNvPr id="16" name="Text 13"/>
          <p:cNvSpPr/>
          <p:nvPr/>
        </p:nvSpPr>
        <p:spPr>
          <a:xfrm>
            <a:off x="6124566" y="1120118"/>
            <a:ext cx="244790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F3A7D"/>
                </a:solidFill>
              </a:rPr>
              <a:t>Enterprise</a:t>
            </a:r>
            <a:endParaRPr lang="en-US" sz="885" dirty="0"/>
          </a:p>
        </p:txBody>
      </p:sp>
      <p:sp>
        <p:nvSpPr>
          <p:cNvPr id="17" name="Text 14"/>
          <p:cNvSpPr/>
          <p:nvPr/>
        </p:nvSpPr>
        <p:spPr>
          <a:xfrm>
            <a:off x="6124566" y="1352290"/>
            <a:ext cx="2447906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6B35"/>
                </a:solidFill>
              </a:rPr>
              <a:t>$500-5K/mo</a:t>
            </a:r>
            <a:endParaRPr lang="en-US" sz="1397" dirty="0"/>
          </a:p>
        </p:txBody>
      </p:sp>
      <p:sp>
        <p:nvSpPr>
          <p:cNvPr id="18" name="Text 15"/>
          <p:cNvSpPr/>
          <p:nvPr/>
        </p:nvSpPr>
        <p:spPr>
          <a:xfrm>
            <a:off x="6124566" y="1682688"/>
            <a:ext cx="244790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555555"/>
                </a:solidFill>
              </a:rPr>
              <a:t>Custom features</a:t>
            </a:r>
            <a:endParaRPr lang="en-US" sz="634" dirty="0"/>
          </a:p>
        </p:txBody>
      </p:sp>
      <p:sp>
        <p:nvSpPr>
          <p:cNvPr id="19" name="Text 16"/>
          <p:cNvSpPr/>
          <p:nvPr/>
        </p:nvSpPr>
        <p:spPr>
          <a:xfrm>
            <a:off x="6124566" y="1864854"/>
            <a:ext cx="244790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555555"/>
                </a:solidFill>
              </a:rPr>
              <a:t>SSO &amp; security</a:t>
            </a:r>
            <a:endParaRPr lang="en-US" sz="634" dirty="0"/>
          </a:p>
        </p:txBody>
      </p:sp>
      <p:sp>
        <p:nvSpPr>
          <p:cNvPr id="20" name="Text 17"/>
          <p:cNvSpPr/>
          <p:nvPr/>
        </p:nvSpPr>
        <p:spPr>
          <a:xfrm>
            <a:off x="6124566" y="2047019"/>
            <a:ext cx="244790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555555"/>
                </a:solidFill>
              </a:rPr>
              <a:t>Dedicated support</a:t>
            </a:r>
            <a:endParaRPr lang="en-US" sz="634" dirty="0"/>
          </a:p>
        </p:txBody>
      </p:sp>
      <p:sp>
        <p:nvSpPr>
          <p:cNvPr id="21" name="Text 18"/>
          <p:cNvSpPr/>
          <p:nvPr/>
        </p:nvSpPr>
        <p:spPr>
          <a:xfrm>
            <a:off x="6124566" y="2229185"/>
            <a:ext cx="244790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555555"/>
                </a:solidFill>
              </a:rPr>
              <a:t>Purpose: Expansion</a:t>
            </a:r>
            <a:endParaRPr lang="en-US" sz="634" dirty="0"/>
          </a:p>
        </p:txBody>
      </p:sp>
      <p:sp>
        <p:nvSpPr>
          <p:cNvPr id="22" name="Text 19"/>
          <p:cNvSpPr/>
          <p:nvPr/>
        </p:nvSpPr>
        <p:spPr>
          <a:xfrm>
            <a:off x="571500" y="2718532"/>
            <a:ext cx="258126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spc="1" kern="0" dirty="0">
                <a:solidFill>
                  <a:srgbClr val="0F3A7D"/>
                </a:solidFill>
              </a:rPr>
              <a:t>Week 2 Target</a:t>
            </a:r>
            <a:endParaRPr lang="en-US" sz="584" dirty="0"/>
          </a:p>
        </p:txBody>
      </p:sp>
      <p:sp>
        <p:nvSpPr>
          <p:cNvPr id="23" name="Text 20"/>
          <p:cNvSpPr/>
          <p:nvPr/>
        </p:nvSpPr>
        <p:spPr>
          <a:xfrm>
            <a:off x="571500" y="2877480"/>
            <a:ext cx="2581266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6B35"/>
                </a:solidFill>
              </a:rPr>
              <a:t>$5K-10K</a:t>
            </a:r>
            <a:endParaRPr lang="en-US" sz="1602" dirty="0"/>
          </a:p>
        </p:txBody>
      </p:sp>
      <p:sp>
        <p:nvSpPr>
          <p:cNvPr id="24" name="Text 21"/>
          <p:cNvSpPr/>
          <p:nvPr/>
        </p:nvSpPr>
        <p:spPr>
          <a:xfrm>
            <a:off x="571500" y="3232882"/>
            <a:ext cx="258126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555555"/>
                </a:solidFill>
              </a:rPr>
              <a:t>10-20 paying customers</a:t>
            </a:r>
            <a:endParaRPr lang="en-US" sz="674" dirty="0"/>
          </a:p>
        </p:txBody>
      </p:sp>
      <p:sp>
        <p:nvSpPr>
          <p:cNvPr id="25" name="Text 22"/>
          <p:cNvSpPr/>
          <p:nvPr/>
        </p:nvSpPr>
        <p:spPr>
          <a:xfrm>
            <a:off x="3281353" y="2718532"/>
            <a:ext cx="258126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spc="1" kern="0" dirty="0">
                <a:solidFill>
                  <a:srgbClr val="0F3A7D"/>
                </a:solidFill>
              </a:rPr>
              <a:t>Week 3 Target</a:t>
            </a:r>
            <a:endParaRPr lang="en-US" sz="584" dirty="0"/>
          </a:p>
        </p:txBody>
      </p:sp>
      <p:sp>
        <p:nvSpPr>
          <p:cNvPr id="26" name="Text 23"/>
          <p:cNvSpPr/>
          <p:nvPr/>
        </p:nvSpPr>
        <p:spPr>
          <a:xfrm>
            <a:off x="3281353" y="2877480"/>
            <a:ext cx="2581266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6B35"/>
                </a:solidFill>
              </a:rPr>
              <a:t>$20K-50K</a:t>
            </a:r>
            <a:endParaRPr lang="en-US" sz="1602" dirty="0"/>
          </a:p>
        </p:txBody>
      </p:sp>
      <p:sp>
        <p:nvSpPr>
          <p:cNvPr id="27" name="Text 24"/>
          <p:cNvSpPr/>
          <p:nvPr/>
        </p:nvSpPr>
        <p:spPr>
          <a:xfrm>
            <a:off x="3281353" y="3232882"/>
            <a:ext cx="258126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555555"/>
                </a:solidFill>
              </a:rPr>
              <a:t>50-100 paying customers</a:t>
            </a:r>
            <a:endParaRPr lang="en-US" sz="674" dirty="0"/>
          </a:p>
        </p:txBody>
      </p:sp>
      <p:sp>
        <p:nvSpPr>
          <p:cNvPr id="28" name="Text 25"/>
          <p:cNvSpPr/>
          <p:nvPr/>
        </p:nvSpPr>
        <p:spPr>
          <a:xfrm>
            <a:off x="5991206" y="2718532"/>
            <a:ext cx="258129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spc="1" kern="0" dirty="0">
                <a:solidFill>
                  <a:srgbClr val="0F3A7D"/>
                </a:solidFill>
              </a:rPr>
              <a:t>Week 4 Target</a:t>
            </a:r>
            <a:endParaRPr lang="en-US" sz="584" dirty="0"/>
          </a:p>
        </p:txBody>
      </p:sp>
      <p:sp>
        <p:nvSpPr>
          <p:cNvPr id="29" name="Text 26"/>
          <p:cNvSpPr/>
          <p:nvPr/>
        </p:nvSpPr>
        <p:spPr>
          <a:xfrm>
            <a:off x="5991206" y="2877480"/>
            <a:ext cx="2581294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6B35"/>
                </a:solidFill>
              </a:rPr>
              <a:t>$30K-50K</a:t>
            </a:r>
            <a:endParaRPr lang="en-US" sz="1602" dirty="0"/>
          </a:p>
        </p:txBody>
      </p:sp>
      <p:sp>
        <p:nvSpPr>
          <p:cNvPr id="30" name="Text 27"/>
          <p:cNvSpPr/>
          <p:nvPr/>
        </p:nvSpPr>
        <p:spPr>
          <a:xfrm>
            <a:off x="5991206" y="3232882"/>
            <a:ext cx="258129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555555"/>
                </a:solidFill>
              </a:rPr>
              <a:t>200-500 paying customers</a:t>
            </a:r>
            <a:endParaRPr lang="en-US" sz="674" dirty="0"/>
          </a:p>
        </p:txBody>
      </p:sp>
      <p:sp>
        <p:nvSpPr>
          <p:cNvPr id="31" name="Text 28"/>
          <p:cNvSpPr/>
          <p:nvPr/>
        </p:nvSpPr>
        <p:spPr>
          <a:xfrm>
            <a:off x="571500" y="3624002"/>
            <a:ext cx="260984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spc="1" kern="0" dirty="0">
                <a:solidFill>
                  <a:srgbClr val="0F3A7D"/>
                </a:solidFill>
              </a:rPr>
              <a:t>Target CAC</a:t>
            </a:r>
            <a:endParaRPr lang="en-US" sz="584" dirty="0"/>
          </a:p>
        </p:txBody>
      </p:sp>
      <p:sp>
        <p:nvSpPr>
          <p:cNvPr id="32" name="Text 29"/>
          <p:cNvSpPr/>
          <p:nvPr/>
        </p:nvSpPr>
        <p:spPr>
          <a:xfrm>
            <a:off x="571500" y="3782950"/>
            <a:ext cx="2609841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6B35"/>
                </a:solidFill>
              </a:rPr>
              <a:t>&lt;$100</a:t>
            </a:r>
            <a:endParaRPr lang="en-US" sz="1397" dirty="0"/>
          </a:p>
        </p:txBody>
      </p:sp>
      <p:sp>
        <p:nvSpPr>
          <p:cNvPr id="33" name="Text 30"/>
          <p:cNvSpPr/>
          <p:nvPr/>
        </p:nvSpPr>
        <p:spPr>
          <a:xfrm>
            <a:off x="571500" y="4099061"/>
            <a:ext cx="260984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555555"/>
                </a:solidFill>
              </a:rPr>
              <a:t>Customer Acquisition Cost</a:t>
            </a:r>
            <a:endParaRPr lang="en-US" sz="674" dirty="0"/>
          </a:p>
        </p:txBody>
      </p:sp>
      <p:sp>
        <p:nvSpPr>
          <p:cNvPr id="34" name="Text 31"/>
          <p:cNvSpPr/>
          <p:nvPr/>
        </p:nvSpPr>
        <p:spPr>
          <a:xfrm>
            <a:off x="3267066" y="3624002"/>
            <a:ext cx="260984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spc="1" kern="0" dirty="0">
                <a:solidFill>
                  <a:srgbClr val="0F3A7D"/>
                </a:solidFill>
              </a:rPr>
              <a:t>Target LTV</a:t>
            </a:r>
            <a:endParaRPr lang="en-US" sz="584" dirty="0"/>
          </a:p>
        </p:txBody>
      </p:sp>
      <p:sp>
        <p:nvSpPr>
          <p:cNvPr id="35" name="Text 32"/>
          <p:cNvSpPr/>
          <p:nvPr/>
        </p:nvSpPr>
        <p:spPr>
          <a:xfrm>
            <a:off x="3267066" y="3782950"/>
            <a:ext cx="2609841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6B35"/>
                </a:solidFill>
              </a:rPr>
              <a:t>&gt;$1000</a:t>
            </a:r>
            <a:endParaRPr lang="en-US" sz="1397" dirty="0"/>
          </a:p>
        </p:txBody>
      </p:sp>
      <p:sp>
        <p:nvSpPr>
          <p:cNvPr id="36" name="Text 33"/>
          <p:cNvSpPr/>
          <p:nvPr/>
        </p:nvSpPr>
        <p:spPr>
          <a:xfrm>
            <a:off x="3267066" y="4099061"/>
            <a:ext cx="260984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555555"/>
                </a:solidFill>
              </a:rPr>
              <a:t>Lifetime Value</a:t>
            </a:r>
            <a:endParaRPr lang="en-US" sz="674" dirty="0"/>
          </a:p>
        </p:txBody>
      </p:sp>
      <p:sp>
        <p:nvSpPr>
          <p:cNvPr id="37" name="Text 34"/>
          <p:cNvSpPr/>
          <p:nvPr/>
        </p:nvSpPr>
        <p:spPr>
          <a:xfrm>
            <a:off x="5962631" y="3624002"/>
            <a:ext cx="260986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spc="1" kern="0" dirty="0">
                <a:solidFill>
                  <a:srgbClr val="0F3A7D"/>
                </a:solidFill>
              </a:rPr>
              <a:t>LTV:CAC Ratio</a:t>
            </a:r>
            <a:endParaRPr lang="en-US" sz="584" dirty="0"/>
          </a:p>
        </p:txBody>
      </p:sp>
      <p:sp>
        <p:nvSpPr>
          <p:cNvPr id="38" name="Text 35"/>
          <p:cNvSpPr/>
          <p:nvPr/>
        </p:nvSpPr>
        <p:spPr>
          <a:xfrm>
            <a:off x="5962631" y="3782950"/>
            <a:ext cx="2609869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6B35"/>
                </a:solidFill>
              </a:rPr>
              <a:t>&gt;10:1</a:t>
            </a:r>
            <a:endParaRPr lang="en-US" sz="1397" dirty="0"/>
          </a:p>
        </p:txBody>
      </p:sp>
      <p:sp>
        <p:nvSpPr>
          <p:cNvPr id="39" name="Text 36"/>
          <p:cNvSpPr/>
          <p:nvPr/>
        </p:nvSpPr>
        <p:spPr>
          <a:xfrm>
            <a:off x="5962631" y="4099061"/>
            <a:ext cx="260986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555555"/>
                </a:solidFill>
              </a:rPr>
              <a:t>Highly Profitable</a:t>
            </a:r>
            <a:endParaRPr lang="en-US" sz="674" dirty="0"/>
          </a:p>
        </p:txBody>
      </p:sp>
      <p:sp>
        <p:nvSpPr>
          <p:cNvPr id="40" name="Text 37"/>
          <p:cNvSpPr/>
          <p:nvPr/>
        </p:nvSpPr>
        <p:spPr>
          <a:xfrm>
            <a:off x="571500" y="4311588"/>
            <a:ext cx="800100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spc="1" kern="0" dirty="0">
                <a:solidFill>
                  <a:srgbClr val="0F3A7D"/>
                </a:solidFill>
              </a:rPr>
              <a:t>Customer Acquisition Channels</a:t>
            </a:r>
            <a:endParaRPr lang="en-US" sz="584" dirty="0"/>
          </a:p>
        </p:txBody>
      </p:sp>
      <p:sp>
        <p:nvSpPr>
          <p:cNvPr id="41" name="Shape 38"/>
          <p:cNvSpPr/>
          <p:nvPr/>
        </p:nvSpPr>
        <p:spPr>
          <a:xfrm>
            <a:off x="571500" y="4484824"/>
            <a:ext cx="659876" cy="212527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42" name="Text 39"/>
          <p:cNvSpPr/>
          <p:nvPr/>
        </p:nvSpPr>
        <p:spPr>
          <a:xfrm>
            <a:off x="571500" y="4484824"/>
            <a:ext cx="659876" cy="212527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555555"/>
                </a:solidFill>
              </a:rPr>
              <a:t>Direct Sales</a:t>
            </a:r>
            <a:endParaRPr lang="en-US" sz="634" dirty="0"/>
          </a:p>
        </p:txBody>
      </p:sp>
      <p:sp>
        <p:nvSpPr>
          <p:cNvPr id="43" name="Shape 40"/>
          <p:cNvSpPr/>
          <p:nvPr/>
        </p:nvSpPr>
        <p:spPr>
          <a:xfrm>
            <a:off x="1288526" y="4484824"/>
            <a:ext cx="737257" cy="212527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44" name="Text 41"/>
          <p:cNvSpPr/>
          <p:nvPr/>
        </p:nvSpPr>
        <p:spPr>
          <a:xfrm>
            <a:off x="1288526" y="4484824"/>
            <a:ext cx="737257" cy="212527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555555"/>
                </a:solidFill>
              </a:rPr>
              <a:t>Product Hunt</a:t>
            </a:r>
            <a:endParaRPr lang="en-US" sz="634" dirty="0"/>
          </a:p>
        </p:txBody>
      </p:sp>
      <p:sp>
        <p:nvSpPr>
          <p:cNvPr id="45" name="Shape 42"/>
          <p:cNvSpPr/>
          <p:nvPr/>
        </p:nvSpPr>
        <p:spPr>
          <a:xfrm>
            <a:off x="2082933" y="4484824"/>
            <a:ext cx="899387" cy="212527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46" name="Text 43"/>
          <p:cNvSpPr/>
          <p:nvPr/>
        </p:nvSpPr>
        <p:spPr>
          <a:xfrm>
            <a:off x="2082933" y="4484824"/>
            <a:ext cx="899387" cy="212527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555555"/>
                </a:solidFill>
              </a:rPr>
              <a:t>Affiliate Program</a:t>
            </a:r>
            <a:endParaRPr lang="en-US" sz="634" dirty="0"/>
          </a:p>
        </p:txBody>
      </p:sp>
      <p:sp>
        <p:nvSpPr>
          <p:cNvPr id="47" name="Shape 44"/>
          <p:cNvSpPr/>
          <p:nvPr/>
        </p:nvSpPr>
        <p:spPr>
          <a:xfrm>
            <a:off x="3039470" y="4484824"/>
            <a:ext cx="983633" cy="212527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48" name="Text 45"/>
          <p:cNvSpPr/>
          <p:nvPr/>
        </p:nvSpPr>
        <p:spPr>
          <a:xfrm>
            <a:off x="3039470" y="4484824"/>
            <a:ext cx="983633" cy="212527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555555"/>
                </a:solidFill>
              </a:rPr>
              <a:t>Content Marketing</a:t>
            </a:r>
            <a:endParaRPr lang="en-US" sz="634" dirty="0"/>
          </a:p>
        </p:txBody>
      </p:sp>
      <p:sp>
        <p:nvSpPr>
          <p:cNvPr id="49" name="Shape 46"/>
          <p:cNvSpPr/>
          <p:nvPr/>
        </p:nvSpPr>
        <p:spPr>
          <a:xfrm>
            <a:off x="4080253" y="4484824"/>
            <a:ext cx="710412" cy="212527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50" name="Text 47"/>
          <p:cNvSpPr/>
          <p:nvPr/>
        </p:nvSpPr>
        <p:spPr>
          <a:xfrm>
            <a:off x="4080253" y="4484824"/>
            <a:ext cx="710412" cy="212527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555555"/>
                </a:solidFill>
              </a:rPr>
              <a:t>Partnerships</a:t>
            </a:r>
            <a:endParaRPr lang="en-US" sz="634" dirty="0"/>
          </a:p>
        </p:txBody>
      </p:sp>
      <p:sp>
        <p:nvSpPr>
          <p:cNvPr id="51" name="Shape 48"/>
          <p:cNvSpPr/>
          <p:nvPr/>
        </p:nvSpPr>
        <p:spPr>
          <a:xfrm>
            <a:off x="4847816" y="4484824"/>
            <a:ext cx="853511" cy="212527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52" name="Text 49"/>
          <p:cNvSpPr/>
          <p:nvPr/>
        </p:nvSpPr>
        <p:spPr>
          <a:xfrm>
            <a:off x="4847816" y="4484824"/>
            <a:ext cx="853511" cy="212527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555555"/>
                </a:solidFill>
              </a:rPr>
              <a:t>Enterprise Sales</a:t>
            </a:r>
            <a:endParaRPr lang="en-US" sz="634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331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8001000" cy="377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226" b="1" dirty="0">
                <a:solidFill>
                  <a:srgbClr val="0F3A7D"/>
                </a:solidFill>
              </a:rPr>
              <a:t>5-Person Lean Team: Roles &amp; Execution Discipline</a:t>
            </a:r>
            <a:endParaRPr lang="en-US" sz="2226" dirty="0"/>
          </a:p>
        </p:txBody>
      </p:sp>
      <p:sp>
        <p:nvSpPr>
          <p:cNvPr id="4" name="Text 1"/>
          <p:cNvSpPr/>
          <p:nvPr/>
        </p:nvSpPr>
        <p:spPr>
          <a:xfrm>
            <a:off x="571500" y="1305855"/>
            <a:ext cx="378618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F3A7D"/>
                </a:solidFill>
              </a:rPr>
              <a:t>Team Structure</a:t>
            </a:r>
            <a:endParaRPr lang="en-US" sz="987" dirty="0"/>
          </a:p>
        </p:txBody>
      </p:sp>
      <p:sp>
        <p:nvSpPr>
          <p:cNvPr id="5" name="Text 2"/>
          <p:cNvSpPr/>
          <p:nvPr/>
        </p:nvSpPr>
        <p:spPr>
          <a:xfrm>
            <a:off x="571500" y="1714835"/>
            <a:ext cx="378618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FF6B35"/>
                </a:solidFill>
              </a:rPr>
              <a:t>1. Founder/CTO</a:t>
            </a:r>
            <a:endParaRPr lang="en-US" sz="734" dirty="0"/>
          </a:p>
        </p:txBody>
      </p:sp>
      <p:sp>
        <p:nvSpPr>
          <p:cNvPr id="6" name="Text 3"/>
          <p:cNvSpPr/>
          <p:nvPr/>
        </p:nvSpPr>
        <p:spPr>
          <a:xfrm>
            <a:off x="571500" y="1918432"/>
            <a:ext cx="378618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F3A7D"/>
                </a:solidFill>
              </a:rPr>
              <a:t>Vision, Strategy, Sales</a:t>
            </a:r>
            <a:endParaRPr lang="en-US" sz="634" dirty="0"/>
          </a:p>
        </p:txBody>
      </p:sp>
      <p:sp>
        <p:nvSpPr>
          <p:cNvPr id="7" name="Text 4"/>
          <p:cNvSpPr/>
          <p:nvPr/>
        </p:nvSpPr>
        <p:spPr>
          <a:xfrm>
            <a:off x="571500" y="2102383"/>
            <a:ext cx="378618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777777"/>
                </a:solidFill>
              </a:rPr>
              <a:t>80% leadership, 20% technical</a:t>
            </a:r>
            <a:endParaRPr lang="en-US" sz="621" dirty="0"/>
          </a:p>
        </p:txBody>
      </p:sp>
      <p:sp>
        <p:nvSpPr>
          <p:cNvPr id="8" name="Text 5"/>
          <p:cNvSpPr/>
          <p:nvPr/>
        </p:nvSpPr>
        <p:spPr>
          <a:xfrm>
            <a:off x="571500" y="2361344"/>
            <a:ext cx="378618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FF6B35"/>
                </a:solidFill>
              </a:rPr>
              <a:t>2. Backend Developer</a:t>
            </a:r>
            <a:endParaRPr lang="en-US" sz="734" dirty="0"/>
          </a:p>
        </p:txBody>
      </p:sp>
      <p:sp>
        <p:nvSpPr>
          <p:cNvPr id="9" name="Text 6"/>
          <p:cNvSpPr/>
          <p:nvPr/>
        </p:nvSpPr>
        <p:spPr>
          <a:xfrm>
            <a:off x="571500" y="2564941"/>
            <a:ext cx="378618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F3A7D"/>
                </a:solidFill>
              </a:rPr>
              <a:t>API, Database, Integrations</a:t>
            </a:r>
            <a:endParaRPr lang="en-US" sz="634" dirty="0"/>
          </a:p>
        </p:txBody>
      </p:sp>
      <p:sp>
        <p:nvSpPr>
          <p:cNvPr id="10" name="Text 7"/>
          <p:cNvSpPr/>
          <p:nvPr/>
        </p:nvSpPr>
        <p:spPr>
          <a:xfrm>
            <a:off x="571500" y="2748893"/>
            <a:ext cx="378618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777777"/>
                </a:solidFill>
              </a:rPr>
              <a:t>100% backend focus</a:t>
            </a:r>
            <a:endParaRPr lang="en-US" sz="621" dirty="0"/>
          </a:p>
        </p:txBody>
      </p:sp>
      <p:sp>
        <p:nvSpPr>
          <p:cNvPr id="11" name="Text 8"/>
          <p:cNvSpPr/>
          <p:nvPr/>
        </p:nvSpPr>
        <p:spPr>
          <a:xfrm>
            <a:off x="571500" y="3007854"/>
            <a:ext cx="378618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FF6B35"/>
                </a:solidFill>
              </a:rPr>
              <a:t>3. Frontend Developer</a:t>
            </a:r>
            <a:endParaRPr lang="en-US" sz="734" dirty="0"/>
          </a:p>
        </p:txBody>
      </p:sp>
      <p:sp>
        <p:nvSpPr>
          <p:cNvPr id="12" name="Text 9"/>
          <p:cNvSpPr/>
          <p:nvPr/>
        </p:nvSpPr>
        <p:spPr>
          <a:xfrm>
            <a:off x="571500" y="3211450"/>
            <a:ext cx="378618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F3A7D"/>
                </a:solidFill>
              </a:rPr>
              <a:t>Web UI, Mobile App, UX</a:t>
            </a:r>
            <a:endParaRPr lang="en-US" sz="634" dirty="0"/>
          </a:p>
        </p:txBody>
      </p:sp>
      <p:sp>
        <p:nvSpPr>
          <p:cNvPr id="13" name="Text 10"/>
          <p:cNvSpPr/>
          <p:nvPr/>
        </p:nvSpPr>
        <p:spPr>
          <a:xfrm>
            <a:off x="571500" y="3395402"/>
            <a:ext cx="378618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777777"/>
                </a:solidFill>
              </a:rPr>
              <a:t>100% frontend focus</a:t>
            </a:r>
            <a:endParaRPr lang="en-US" sz="621" dirty="0"/>
          </a:p>
        </p:txBody>
      </p:sp>
      <p:sp>
        <p:nvSpPr>
          <p:cNvPr id="14" name="Text 11"/>
          <p:cNvSpPr/>
          <p:nvPr/>
        </p:nvSpPr>
        <p:spPr>
          <a:xfrm>
            <a:off x="571500" y="3654363"/>
            <a:ext cx="378618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FF6B35"/>
                </a:solidFill>
              </a:rPr>
              <a:t>4. DevOps Engineer</a:t>
            </a:r>
            <a:endParaRPr lang="en-US" sz="734" dirty="0"/>
          </a:p>
        </p:txBody>
      </p:sp>
      <p:sp>
        <p:nvSpPr>
          <p:cNvPr id="15" name="Text 12"/>
          <p:cNvSpPr/>
          <p:nvPr/>
        </p:nvSpPr>
        <p:spPr>
          <a:xfrm>
            <a:off x="571500" y="3857960"/>
            <a:ext cx="378618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F3A7D"/>
                </a:solidFill>
              </a:rPr>
              <a:t>Infrastructure, Deployment, Security</a:t>
            </a:r>
            <a:endParaRPr lang="en-US" sz="634" dirty="0"/>
          </a:p>
        </p:txBody>
      </p:sp>
      <p:sp>
        <p:nvSpPr>
          <p:cNvPr id="16" name="Text 13"/>
          <p:cNvSpPr/>
          <p:nvPr/>
        </p:nvSpPr>
        <p:spPr>
          <a:xfrm>
            <a:off x="571500" y="4041911"/>
            <a:ext cx="378618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777777"/>
                </a:solidFill>
              </a:rPr>
              <a:t>100% DevOps focus</a:t>
            </a:r>
            <a:endParaRPr lang="en-US" sz="621" dirty="0"/>
          </a:p>
        </p:txBody>
      </p:sp>
      <p:sp>
        <p:nvSpPr>
          <p:cNvPr id="17" name="Text 14"/>
          <p:cNvSpPr/>
          <p:nvPr/>
        </p:nvSpPr>
        <p:spPr>
          <a:xfrm>
            <a:off x="571500" y="4300872"/>
            <a:ext cx="378618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FF6B35"/>
                </a:solidFill>
              </a:rPr>
              <a:t>5. Growth/Marketing</a:t>
            </a:r>
            <a:endParaRPr lang="en-US" sz="734" dirty="0"/>
          </a:p>
        </p:txBody>
      </p:sp>
      <p:sp>
        <p:nvSpPr>
          <p:cNvPr id="18" name="Text 15"/>
          <p:cNvSpPr/>
          <p:nvPr/>
        </p:nvSpPr>
        <p:spPr>
          <a:xfrm>
            <a:off x="571500" y="4504469"/>
            <a:ext cx="378618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F3A7D"/>
                </a:solidFill>
              </a:rPr>
              <a:t>Acquisition, Content, Partnerships</a:t>
            </a:r>
            <a:endParaRPr lang="en-US" sz="634" dirty="0"/>
          </a:p>
        </p:txBody>
      </p:sp>
      <p:sp>
        <p:nvSpPr>
          <p:cNvPr id="19" name="Text 16"/>
          <p:cNvSpPr/>
          <p:nvPr/>
        </p:nvSpPr>
        <p:spPr>
          <a:xfrm>
            <a:off x="571500" y="4688421"/>
            <a:ext cx="378618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777777"/>
                </a:solidFill>
              </a:rPr>
              <a:t>100% growth focus</a:t>
            </a:r>
            <a:endParaRPr lang="en-US" sz="621" dirty="0"/>
          </a:p>
        </p:txBody>
      </p:sp>
      <p:sp>
        <p:nvSpPr>
          <p:cNvPr id="20" name="Text 17"/>
          <p:cNvSpPr/>
          <p:nvPr/>
        </p:nvSpPr>
        <p:spPr>
          <a:xfrm>
            <a:off x="4786313" y="1305855"/>
            <a:ext cx="378618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F3A7D"/>
                </a:solidFill>
              </a:rPr>
              <a:t>Execution Discipline</a:t>
            </a:r>
            <a:endParaRPr lang="en-US" sz="987" dirty="0"/>
          </a:p>
        </p:txBody>
      </p:sp>
      <p:sp>
        <p:nvSpPr>
          <p:cNvPr id="21" name="Text 18"/>
          <p:cNvSpPr/>
          <p:nvPr/>
        </p:nvSpPr>
        <p:spPr>
          <a:xfrm>
            <a:off x="4922044" y="1700547"/>
            <a:ext cx="365045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F3A7D"/>
                </a:solidFill>
              </a:rPr>
              <a:t>Daily Standups</a:t>
            </a:r>
            <a:endParaRPr lang="en-US" sz="683" dirty="0"/>
          </a:p>
        </p:txBody>
      </p:sp>
      <p:sp>
        <p:nvSpPr>
          <p:cNvPr id="22" name="Text 19"/>
          <p:cNvSpPr/>
          <p:nvPr/>
        </p:nvSpPr>
        <p:spPr>
          <a:xfrm>
            <a:off x="4922044" y="1879141"/>
            <a:ext cx="365045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555555"/>
                </a:solidFill>
              </a:rPr>
              <a:t>9 AM UTC, 15 minutes. What shipped, what's next, blockers</a:t>
            </a:r>
            <a:endParaRPr lang="en-US" sz="621" dirty="0"/>
          </a:p>
        </p:txBody>
      </p:sp>
      <p:sp>
        <p:nvSpPr>
          <p:cNvPr id="23" name="Text 20"/>
          <p:cNvSpPr/>
          <p:nvPr/>
        </p:nvSpPr>
        <p:spPr>
          <a:xfrm>
            <a:off x="4922044" y="2079166"/>
            <a:ext cx="365045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6B35"/>
                </a:solidFill>
              </a:rPr>
              <a:t>Non-negotiable</a:t>
            </a:r>
            <a:endParaRPr lang="en-US" sz="584" dirty="0"/>
          </a:p>
        </p:txBody>
      </p:sp>
      <p:sp>
        <p:nvSpPr>
          <p:cNvPr id="24" name="Text 21"/>
          <p:cNvSpPr/>
          <p:nvPr/>
        </p:nvSpPr>
        <p:spPr>
          <a:xfrm>
            <a:off x="4922044" y="2323840"/>
            <a:ext cx="365045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F3A7D"/>
                </a:solidFill>
              </a:rPr>
              <a:t>Daily Priorities</a:t>
            </a:r>
            <a:endParaRPr lang="en-US" sz="683" dirty="0"/>
          </a:p>
        </p:txBody>
      </p:sp>
      <p:sp>
        <p:nvSpPr>
          <p:cNvPr id="25" name="Text 22"/>
          <p:cNvSpPr/>
          <p:nvPr/>
        </p:nvSpPr>
        <p:spPr>
          <a:xfrm>
            <a:off x="4922044" y="2502433"/>
            <a:ext cx="365045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555555"/>
                </a:solidFill>
              </a:rPr>
              <a:t>Each person identifies top 3 priorities for the day</a:t>
            </a:r>
            <a:endParaRPr lang="en-US" sz="621" dirty="0"/>
          </a:p>
        </p:txBody>
      </p:sp>
      <p:sp>
        <p:nvSpPr>
          <p:cNvPr id="26" name="Text 23"/>
          <p:cNvSpPr/>
          <p:nvPr/>
        </p:nvSpPr>
        <p:spPr>
          <a:xfrm>
            <a:off x="4922044" y="2702458"/>
            <a:ext cx="365045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6B35"/>
                </a:solidFill>
              </a:rPr>
              <a:t>Focus on shipping</a:t>
            </a:r>
            <a:endParaRPr lang="en-US" sz="584" dirty="0"/>
          </a:p>
        </p:txBody>
      </p:sp>
      <p:sp>
        <p:nvSpPr>
          <p:cNvPr id="27" name="Text 24"/>
          <p:cNvSpPr/>
          <p:nvPr/>
        </p:nvSpPr>
        <p:spPr>
          <a:xfrm>
            <a:off x="4922044" y="2947132"/>
            <a:ext cx="365045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F3A7D"/>
                </a:solidFill>
              </a:rPr>
              <a:t>Daily Shipping</a:t>
            </a:r>
            <a:endParaRPr lang="en-US" sz="683" dirty="0"/>
          </a:p>
        </p:txBody>
      </p:sp>
      <p:sp>
        <p:nvSpPr>
          <p:cNvPr id="28" name="Text 25"/>
          <p:cNvSpPr/>
          <p:nvPr/>
        </p:nvSpPr>
        <p:spPr>
          <a:xfrm>
            <a:off x="4922044" y="3125725"/>
            <a:ext cx="365045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555555"/>
                </a:solidFill>
              </a:rPr>
              <a:t>At least one feature or fix shipped every day</a:t>
            </a:r>
            <a:endParaRPr lang="en-US" sz="621" dirty="0"/>
          </a:p>
        </p:txBody>
      </p:sp>
      <p:sp>
        <p:nvSpPr>
          <p:cNvPr id="29" name="Text 26"/>
          <p:cNvSpPr/>
          <p:nvPr/>
        </p:nvSpPr>
        <p:spPr>
          <a:xfrm>
            <a:off x="4922044" y="3325750"/>
            <a:ext cx="365045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6B35"/>
                </a:solidFill>
              </a:rPr>
              <a:t>Deploy to production daily</a:t>
            </a:r>
            <a:endParaRPr lang="en-US" sz="584" dirty="0"/>
          </a:p>
        </p:txBody>
      </p:sp>
      <p:sp>
        <p:nvSpPr>
          <p:cNvPr id="30" name="Text 27"/>
          <p:cNvSpPr/>
          <p:nvPr/>
        </p:nvSpPr>
        <p:spPr>
          <a:xfrm>
            <a:off x="4922044" y="3570424"/>
            <a:ext cx="365045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F3A7D"/>
                </a:solidFill>
              </a:rPr>
              <a:t>Daily Metrics Review</a:t>
            </a:r>
            <a:endParaRPr lang="en-US" sz="683" dirty="0"/>
          </a:p>
        </p:txBody>
      </p:sp>
      <p:sp>
        <p:nvSpPr>
          <p:cNvPr id="31" name="Text 28"/>
          <p:cNvSpPr/>
          <p:nvPr/>
        </p:nvSpPr>
        <p:spPr>
          <a:xfrm>
            <a:off x="4922044" y="3749018"/>
            <a:ext cx="365045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555555"/>
                </a:solidFill>
              </a:rPr>
              <a:t>5 PM UTC, 10 minutes. Users, revenue, bugs, progress</a:t>
            </a:r>
            <a:endParaRPr lang="en-US" sz="621" dirty="0"/>
          </a:p>
        </p:txBody>
      </p:sp>
      <p:sp>
        <p:nvSpPr>
          <p:cNvPr id="32" name="Text 29"/>
          <p:cNvSpPr/>
          <p:nvPr/>
        </p:nvSpPr>
        <p:spPr>
          <a:xfrm>
            <a:off x="4922044" y="3949043"/>
            <a:ext cx="365045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6B35"/>
                </a:solidFill>
              </a:rPr>
              <a:t>Data-driven decisions</a:t>
            </a:r>
            <a:endParaRPr lang="en-US" sz="584" dirty="0"/>
          </a:p>
        </p:txBody>
      </p:sp>
      <p:sp>
        <p:nvSpPr>
          <p:cNvPr id="33" name="Text 30"/>
          <p:cNvSpPr/>
          <p:nvPr/>
        </p:nvSpPr>
        <p:spPr>
          <a:xfrm>
            <a:off x="4922044" y="4193716"/>
            <a:ext cx="365045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F3A7D"/>
                </a:solidFill>
              </a:rPr>
              <a:t>Weekly Review</a:t>
            </a:r>
            <a:endParaRPr lang="en-US" sz="683" dirty="0"/>
          </a:p>
        </p:txBody>
      </p:sp>
      <p:sp>
        <p:nvSpPr>
          <p:cNvPr id="34" name="Text 31"/>
          <p:cNvSpPr/>
          <p:nvPr/>
        </p:nvSpPr>
        <p:spPr>
          <a:xfrm>
            <a:off x="4922044" y="4372310"/>
            <a:ext cx="365045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555555"/>
                </a:solidFill>
              </a:rPr>
              <a:t>Friday 5 PM UTC, 30 minutes. Recap, blockers, next week</a:t>
            </a:r>
            <a:endParaRPr lang="en-US" sz="621" dirty="0"/>
          </a:p>
        </p:txBody>
      </p:sp>
      <p:sp>
        <p:nvSpPr>
          <p:cNvPr id="35" name="Text 32"/>
          <p:cNvSpPr/>
          <p:nvPr/>
        </p:nvSpPr>
        <p:spPr>
          <a:xfrm>
            <a:off x="4922044" y="4572335"/>
            <a:ext cx="365045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6B35"/>
                </a:solidFill>
              </a:rPr>
              <a:t>Continuous improvement</a:t>
            </a:r>
            <a:endParaRPr lang="en-US" sz="584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8001000" cy="377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226" b="1" dirty="0">
                <a:solidFill>
                  <a:srgbClr val="0F3A7D"/>
                </a:solidFill>
              </a:rPr>
              <a:t>$54K Total Investment: Budget Allocation</a:t>
            </a:r>
            <a:endParaRPr lang="en-US" sz="2226" dirty="0"/>
          </a:p>
        </p:txBody>
      </p:sp>
      <p:sp>
        <p:nvSpPr>
          <p:cNvPr id="4" name="Text 1"/>
          <p:cNvSpPr/>
          <p:nvPr/>
        </p:nvSpPr>
        <p:spPr>
          <a:xfrm>
            <a:off x="571500" y="1193341"/>
            <a:ext cx="90789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F3A7D"/>
                </a:solidFill>
              </a:rPr>
              <a:t>Personnel Costs</a:t>
            </a:r>
            <a:endParaRPr lang="en-US" sz="784" dirty="0"/>
          </a:p>
        </p:txBody>
      </p:sp>
      <p:sp>
        <p:nvSpPr>
          <p:cNvPr id="5" name="Text 2"/>
          <p:cNvSpPr/>
          <p:nvPr/>
        </p:nvSpPr>
        <p:spPr>
          <a:xfrm>
            <a:off x="4156937" y="1162980"/>
            <a:ext cx="34362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6B35"/>
                </a:solidFill>
              </a:rPr>
              <a:t>$45K</a:t>
            </a:r>
            <a:endParaRPr lang="en-US" sz="987" dirty="0"/>
          </a:p>
        </p:txBody>
      </p:sp>
      <p:sp>
        <p:nvSpPr>
          <p:cNvPr id="6" name="Shape 3"/>
          <p:cNvSpPr/>
          <p:nvPr/>
        </p:nvSpPr>
        <p:spPr>
          <a:xfrm>
            <a:off x="571500" y="1429085"/>
            <a:ext cx="3929063" cy="17145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7" name="Shape 4"/>
          <p:cNvSpPr/>
          <p:nvPr/>
        </p:nvSpPr>
        <p:spPr>
          <a:xfrm>
            <a:off x="571500" y="1429085"/>
            <a:ext cx="3261122" cy="17145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8" name="Text 5"/>
          <p:cNvSpPr/>
          <p:nvPr/>
        </p:nvSpPr>
        <p:spPr>
          <a:xfrm>
            <a:off x="3573800" y="1456767"/>
            <a:ext cx="17309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83%</a:t>
            </a:r>
            <a:endParaRPr lang="en-US" sz="584" dirty="0"/>
          </a:p>
        </p:txBody>
      </p:sp>
      <p:sp>
        <p:nvSpPr>
          <p:cNvPr id="9" name="Text 6"/>
          <p:cNvSpPr/>
          <p:nvPr/>
        </p:nvSpPr>
        <p:spPr>
          <a:xfrm>
            <a:off x="657225" y="1671972"/>
            <a:ext cx="153839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555555"/>
                </a:solidFill>
              </a:rPr>
              <a:t>Backend Developer: $15K (4 weeks)</a:t>
            </a:r>
            <a:endParaRPr lang="en-US" sz="674" dirty="0"/>
          </a:p>
        </p:txBody>
      </p:sp>
      <p:sp>
        <p:nvSpPr>
          <p:cNvPr id="10" name="Text 7"/>
          <p:cNvSpPr/>
          <p:nvPr/>
        </p:nvSpPr>
        <p:spPr>
          <a:xfrm>
            <a:off x="657225" y="1854138"/>
            <a:ext cx="156356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555555"/>
                </a:solidFill>
              </a:rPr>
              <a:t>Frontend Developer: $15K (4 weeks)</a:t>
            </a:r>
            <a:endParaRPr lang="en-US" sz="674" dirty="0"/>
          </a:p>
        </p:txBody>
      </p:sp>
      <p:sp>
        <p:nvSpPr>
          <p:cNvPr id="11" name="Text 8"/>
          <p:cNvSpPr/>
          <p:nvPr/>
        </p:nvSpPr>
        <p:spPr>
          <a:xfrm>
            <a:off x="657225" y="2036304"/>
            <a:ext cx="1449232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555555"/>
                </a:solidFill>
              </a:rPr>
              <a:t>DevOps Engineer: $10K (4 weeks)</a:t>
            </a:r>
            <a:endParaRPr lang="en-US" sz="674" dirty="0"/>
          </a:p>
        </p:txBody>
      </p:sp>
      <p:sp>
        <p:nvSpPr>
          <p:cNvPr id="12" name="Text 9"/>
          <p:cNvSpPr/>
          <p:nvPr/>
        </p:nvSpPr>
        <p:spPr>
          <a:xfrm>
            <a:off x="657225" y="2218469"/>
            <a:ext cx="144727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555555"/>
                </a:solidFill>
              </a:rPr>
              <a:t>Growth/Marketing: $5K (4 weeks)</a:t>
            </a:r>
            <a:endParaRPr lang="en-US" sz="674" dirty="0"/>
          </a:p>
        </p:txBody>
      </p:sp>
      <p:sp>
        <p:nvSpPr>
          <p:cNvPr id="13" name="Text 10"/>
          <p:cNvSpPr/>
          <p:nvPr/>
        </p:nvSpPr>
        <p:spPr>
          <a:xfrm>
            <a:off x="4643438" y="1193341"/>
            <a:ext cx="125297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F3A7D"/>
                </a:solidFill>
              </a:rPr>
              <a:t>Infrastructure &amp; Tools</a:t>
            </a:r>
            <a:endParaRPr lang="en-US" sz="784" dirty="0"/>
          </a:p>
        </p:txBody>
      </p:sp>
      <p:sp>
        <p:nvSpPr>
          <p:cNvPr id="14" name="Text 11"/>
          <p:cNvSpPr/>
          <p:nvPr/>
        </p:nvSpPr>
        <p:spPr>
          <a:xfrm>
            <a:off x="8311446" y="1162980"/>
            <a:ext cx="26105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6B35"/>
                </a:solidFill>
              </a:rPr>
              <a:t>$2K</a:t>
            </a:r>
            <a:endParaRPr lang="en-US" sz="987" dirty="0"/>
          </a:p>
        </p:txBody>
      </p:sp>
      <p:sp>
        <p:nvSpPr>
          <p:cNvPr id="15" name="Shape 12"/>
          <p:cNvSpPr/>
          <p:nvPr/>
        </p:nvSpPr>
        <p:spPr>
          <a:xfrm>
            <a:off x="4643438" y="1429085"/>
            <a:ext cx="3929063" cy="17145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6" name="Shape 13"/>
          <p:cNvSpPr/>
          <p:nvPr/>
        </p:nvSpPr>
        <p:spPr>
          <a:xfrm>
            <a:off x="4643438" y="1429085"/>
            <a:ext cx="157163" cy="17145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7" name="Text 14"/>
          <p:cNvSpPr/>
          <p:nvPr/>
        </p:nvSpPr>
        <p:spPr>
          <a:xfrm>
            <a:off x="4590808" y="1456767"/>
            <a:ext cx="12406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4%</a:t>
            </a:r>
            <a:endParaRPr lang="en-US" sz="584" dirty="0"/>
          </a:p>
        </p:txBody>
      </p:sp>
      <p:sp>
        <p:nvSpPr>
          <p:cNvPr id="18" name="Text 15"/>
          <p:cNvSpPr/>
          <p:nvPr/>
        </p:nvSpPr>
        <p:spPr>
          <a:xfrm>
            <a:off x="4729163" y="1671972"/>
            <a:ext cx="170490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555555"/>
                </a:solidFill>
              </a:rPr>
              <a:t>AWS: $2K (compute, database, storage)</a:t>
            </a:r>
            <a:endParaRPr lang="en-US" sz="674" dirty="0"/>
          </a:p>
        </p:txBody>
      </p:sp>
      <p:sp>
        <p:nvSpPr>
          <p:cNvPr id="19" name="Text 16"/>
          <p:cNvSpPr/>
          <p:nvPr/>
        </p:nvSpPr>
        <p:spPr>
          <a:xfrm>
            <a:off x="4729163" y="1854138"/>
            <a:ext cx="172644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555555"/>
                </a:solidFill>
              </a:rPr>
              <a:t>Stripe: $0 (2.2% + $0.30 per transaction)</a:t>
            </a:r>
            <a:endParaRPr lang="en-US" sz="674" dirty="0"/>
          </a:p>
        </p:txBody>
      </p:sp>
      <p:sp>
        <p:nvSpPr>
          <p:cNvPr id="20" name="Text 17"/>
          <p:cNvSpPr/>
          <p:nvPr/>
        </p:nvSpPr>
        <p:spPr>
          <a:xfrm>
            <a:off x="4729163" y="2036304"/>
            <a:ext cx="153085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555555"/>
                </a:solidFill>
              </a:rPr>
              <a:t>Vercel, GitHub, Sentry: $0 (free tier)</a:t>
            </a:r>
            <a:endParaRPr lang="en-US" sz="674" dirty="0"/>
          </a:p>
        </p:txBody>
      </p:sp>
      <p:sp>
        <p:nvSpPr>
          <p:cNvPr id="21" name="Text 18"/>
          <p:cNvSpPr/>
          <p:nvPr/>
        </p:nvSpPr>
        <p:spPr>
          <a:xfrm>
            <a:off x="4643438" y="2320268"/>
            <a:ext cx="116186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F3A7D"/>
                </a:solidFill>
              </a:rPr>
              <a:t>Marketing &amp; Launch</a:t>
            </a:r>
            <a:endParaRPr lang="en-US" sz="784" dirty="0"/>
          </a:p>
        </p:txBody>
      </p:sp>
      <p:sp>
        <p:nvSpPr>
          <p:cNvPr id="22" name="Text 19"/>
          <p:cNvSpPr/>
          <p:nvPr/>
        </p:nvSpPr>
        <p:spPr>
          <a:xfrm>
            <a:off x="8311446" y="2289907"/>
            <a:ext cx="26105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6B35"/>
                </a:solidFill>
              </a:rPr>
              <a:t>$2K</a:t>
            </a:r>
            <a:endParaRPr lang="en-US" sz="987" dirty="0"/>
          </a:p>
        </p:txBody>
      </p:sp>
      <p:sp>
        <p:nvSpPr>
          <p:cNvPr id="23" name="Shape 20"/>
          <p:cNvSpPr/>
          <p:nvPr/>
        </p:nvSpPr>
        <p:spPr>
          <a:xfrm>
            <a:off x="4643438" y="2556011"/>
            <a:ext cx="3929063" cy="17145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24" name="Shape 21"/>
          <p:cNvSpPr/>
          <p:nvPr/>
        </p:nvSpPr>
        <p:spPr>
          <a:xfrm>
            <a:off x="4643438" y="2556011"/>
            <a:ext cx="157163" cy="17145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5" name="Text 22"/>
          <p:cNvSpPr/>
          <p:nvPr/>
        </p:nvSpPr>
        <p:spPr>
          <a:xfrm>
            <a:off x="4590808" y="2583693"/>
            <a:ext cx="12406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4%</a:t>
            </a:r>
            <a:endParaRPr lang="en-US" sz="584" dirty="0"/>
          </a:p>
        </p:txBody>
      </p:sp>
      <p:sp>
        <p:nvSpPr>
          <p:cNvPr id="26" name="Text 23"/>
          <p:cNvSpPr/>
          <p:nvPr/>
        </p:nvSpPr>
        <p:spPr>
          <a:xfrm>
            <a:off x="4729163" y="2798899"/>
            <a:ext cx="112595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555555"/>
                </a:solidFill>
              </a:rPr>
              <a:t>Landing page design: $1K</a:t>
            </a:r>
            <a:endParaRPr lang="en-US" sz="674" dirty="0"/>
          </a:p>
        </p:txBody>
      </p:sp>
      <p:sp>
        <p:nvSpPr>
          <p:cNvPr id="27" name="Text 24"/>
          <p:cNvSpPr/>
          <p:nvPr/>
        </p:nvSpPr>
        <p:spPr>
          <a:xfrm>
            <a:off x="4729163" y="2981065"/>
            <a:ext cx="112020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555555"/>
                </a:solidFill>
              </a:rPr>
              <a:t>Social media content: $1K</a:t>
            </a:r>
            <a:endParaRPr lang="en-US" sz="674" dirty="0"/>
          </a:p>
        </p:txBody>
      </p:sp>
      <p:sp>
        <p:nvSpPr>
          <p:cNvPr id="28" name="Text 25"/>
          <p:cNvSpPr/>
          <p:nvPr/>
        </p:nvSpPr>
        <p:spPr>
          <a:xfrm>
            <a:off x="4643438" y="3265029"/>
            <a:ext cx="105797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F3A7D"/>
                </a:solidFill>
              </a:rPr>
              <a:t>Contingency (10%)</a:t>
            </a:r>
            <a:endParaRPr lang="en-US" sz="784" dirty="0"/>
          </a:p>
        </p:txBody>
      </p:sp>
      <p:sp>
        <p:nvSpPr>
          <p:cNvPr id="29" name="Text 26"/>
          <p:cNvSpPr/>
          <p:nvPr/>
        </p:nvSpPr>
        <p:spPr>
          <a:xfrm>
            <a:off x="8311446" y="3234668"/>
            <a:ext cx="26105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6B35"/>
                </a:solidFill>
              </a:rPr>
              <a:t>$5K</a:t>
            </a:r>
            <a:endParaRPr lang="en-US" sz="987" dirty="0"/>
          </a:p>
        </p:txBody>
      </p:sp>
      <p:sp>
        <p:nvSpPr>
          <p:cNvPr id="30" name="Shape 27"/>
          <p:cNvSpPr/>
          <p:nvPr/>
        </p:nvSpPr>
        <p:spPr>
          <a:xfrm>
            <a:off x="4643438" y="3500772"/>
            <a:ext cx="3929063" cy="17145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31" name="Shape 28"/>
          <p:cNvSpPr/>
          <p:nvPr/>
        </p:nvSpPr>
        <p:spPr>
          <a:xfrm>
            <a:off x="4643438" y="3500772"/>
            <a:ext cx="353616" cy="17145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2" name="Text 29"/>
          <p:cNvSpPr/>
          <p:nvPr/>
        </p:nvSpPr>
        <p:spPr>
          <a:xfrm>
            <a:off x="4787261" y="3528454"/>
            <a:ext cx="12406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9%</a:t>
            </a:r>
            <a:endParaRPr lang="en-US" sz="584" dirty="0"/>
          </a:p>
        </p:txBody>
      </p:sp>
      <p:sp>
        <p:nvSpPr>
          <p:cNvPr id="33" name="Text 30"/>
          <p:cNvSpPr/>
          <p:nvPr/>
        </p:nvSpPr>
        <p:spPr>
          <a:xfrm>
            <a:off x="4729163" y="3743660"/>
            <a:ext cx="1810857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555555"/>
                </a:solidFill>
              </a:rPr>
              <a:t>Buffer for unexpected costs and overruns</a:t>
            </a:r>
            <a:endParaRPr lang="en-US" sz="674" dirty="0"/>
          </a:p>
        </p:txBody>
      </p:sp>
      <p:sp>
        <p:nvSpPr>
          <p:cNvPr id="34" name="Shape 31"/>
          <p:cNvSpPr/>
          <p:nvPr/>
        </p:nvSpPr>
        <p:spPr>
          <a:xfrm>
            <a:off x="571500" y="4271237"/>
            <a:ext cx="8001000" cy="729388"/>
          </a:xfrm>
          <a:prstGeom prst="rect">
            <a:avLst/>
          </a:prstGeom>
          <a:solidFill>
            <a:srgbClr val="0F3A7D"/>
          </a:solidFill>
          <a:ln/>
        </p:spPr>
      </p:sp>
      <p:sp>
        <p:nvSpPr>
          <p:cNvPr id="35" name="Text 32"/>
          <p:cNvSpPr/>
          <p:nvPr/>
        </p:nvSpPr>
        <p:spPr>
          <a:xfrm>
            <a:off x="685800" y="4548420"/>
            <a:ext cx="109712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Total Investment</a:t>
            </a:r>
            <a:endParaRPr lang="en-US" sz="885" dirty="0"/>
          </a:p>
        </p:txBody>
      </p:sp>
      <p:sp>
        <p:nvSpPr>
          <p:cNvPr id="36" name="Text 33"/>
          <p:cNvSpPr/>
          <p:nvPr/>
        </p:nvSpPr>
        <p:spPr>
          <a:xfrm>
            <a:off x="7908410" y="4479661"/>
            <a:ext cx="54979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6B35"/>
                </a:solidFill>
              </a:rPr>
              <a:t>$54K</a:t>
            </a:r>
            <a:endParaRPr lang="en-US" sz="1602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8001000" cy="377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226" b="1" dirty="0">
                <a:solidFill>
                  <a:srgbClr val="0F3A7D"/>
                </a:solidFill>
              </a:rPr>
              <a:t>Week-by-Week Deliverables &amp; Success Metrics</a:t>
            </a:r>
            <a:endParaRPr lang="en-US" sz="2226" dirty="0"/>
          </a:p>
        </p:txBody>
      </p:sp>
      <p:sp>
        <p:nvSpPr>
          <p:cNvPr id="4" name="Text 1"/>
          <p:cNvSpPr/>
          <p:nvPr/>
        </p:nvSpPr>
        <p:spPr>
          <a:xfrm>
            <a:off x="764381" y="1377293"/>
            <a:ext cx="164663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808" b="1" dirty="0">
                <a:solidFill>
                  <a:srgbClr val="FF6B35"/>
                </a:solidFill>
              </a:rPr>
              <a:t>1</a:t>
            </a:r>
            <a:endParaRPr lang="en-US" sz="1808" dirty="0"/>
          </a:p>
        </p:txBody>
      </p:sp>
      <p:sp>
        <p:nvSpPr>
          <p:cNvPr id="5" name="Text 2"/>
          <p:cNvSpPr/>
          <p:nvPr/>
        </p:nvSpPr>
        <p:spPr>
          <a:xfrm>
            <a:off x="764381" y="1691618"/>
            <a:ext cx="164663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spc="1" kern="0" dirty="0">
                <a:solidFill>
                  <a:srgbClr val="0F3A7D"/>
                </a:solidFill>
              </a:rPr>
              <a:t>Foundation &amp; Setup</a:t>
            </a:r>
            <a:endParaRPr lang="en-US" sz="584" dirty="0"/>
          </a:p>
        </p:txBody>
      </p:sp>
      <p:sp>
        <p:nvSpPr>
          <p:cNvPr id="6" name="Text 3"/>
          <p:cNvSpPr/>
          <p:nvPr/>
        </p:nvSpPr>
        <p:spPr>
          <a:xfrm>
            <a:off x="764381" y="1979154"/>
            <a:ext cx="164663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666666"/>
                </a:solidFill>
              </a:rPr>
              <a:t>Email Subscribers</a:t>
            </a:r>
            <a:endParaRPr lang="en-US" sz="584" dirty="0"/>
          </a:p>
        </p:txBody>
      </p:sp>
      <p:sp>
        <p:nvSpPr>
          <p:cNvPr id="7" name="Text 4"/>
          <p:cNvSpPr/>
          <p:nvPr/>
        </p:nvSpPr>
        <p:spPr>
          <a:xfrm>
            <a:off x="764381" y="2180965"/>
            <a:ext cx="164663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97" b="1" dirty="0">
                <a:solidFill>
                  <a:srgbClr val="FF6B35"/>
                </a:solidFill>
              </a:rPr>
              <a:t>500+</a:t>
            </a:r>
            <a:endParaRPr lang="en-US" sz="1397" dirty="0"/>
          </a:p>
        </p:txBody>
      </p:sp>
      <p:sp>
        <p:nvSpPr>
          <p:cNvPr id="8" name="Text 5"/>
          <p:cNvSpPr/>
          <p:nvPr/>
        </p:nvSpPr>
        <p:spPr>
          <a:xfrm>
            <a:off x="764381" y="2552440"/>
            <a:ext cx="164663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666666"/>
                </a:solidFill>
              </a:rPr>
              <a:t>Key Outcome</a:t>
            </a:r>
            <a:endParaRPr lang="en-US" sz="584" dirty="0"/>
          </a:p>
        </p:txBody>
      </p:sp>
      <p:sp>
        <p:nvSpPr>
          <p:cNvPr id="9" name="Text 6"/>
          <p:cNvSpPr/>
          <p:nvPr/>
        </p:nvSpPr>
        <p:spPr>
          <a:xfrm>
            <a:off x="857250" y="2875694"/>
            <a:ext cx="107175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555555"/>
                </a:solidFill>
              </a:rPr>
              <a:t>Infrastructure operational</a:t>
            </a:r>
            <a:endParaRPr lang="en-US" sz="584" dirty="0"/>
          </a:p>
        </p:txBody>
      </p:sp>
      <p:sp>
        <p:nvSpPr>
          <p:cNvPr id="10" name="Text 7"/>
          <p:cNvSpPr/>
          <p:nvPr/>
        </p:nvSpPr>
        <p:spPr>
          <a:xfrm>
            <a:off x="857250" y="3075719"/>
            <a:ext cx="722691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555555"/>
                </a:solidFill>
              </a:rPr>
              <a:t>Landing page live</a:t>
            </a:r>
            <a:endParaRPr lang="en-US" sz="584" dirty="0"/>
          </a:p>
        </p:txBody>
      </p:sp>
      <p:sp>
        <p:nvSpPr>
          <p:cNvPr id="11" name="Text 8"/>
          <p:cNvSpPr/>
          <p:nvPr/>
        </p:nvSpPr>
        <p:spPr>
          <a:xfrm>
            <a:off x="857250" y="3275744"/>
            <a:ext cx="103034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555555"/>
                </a:solidFill>
              </a:rPr>
              <a:t>Auth working end-to-end</a:t>
            </a:r>
            <a:endParaRPr lang="en-US" sz="584" dirty="0"/>
          </a:p>
        </p:txBody>
      </p:sp>
      <p:sp>
        <p:nvSpPr>
          <p:cNvPr id="12" name="Shape 9"/>
          <p:cNvSpPr/>
          <p:nvPr/>
        </p:nvSpPr>
        <p:spPr>
          <a:xfrm>
            <a:off x="764381" y="3661507"/>
            <a:ext cx="1646634" cy="192881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3" name="Text 10"/>
          <p:cNvSpPr/>
          <p:nvPr/>
        </p:nvSpPr>
        <p:spPr>
          <a:xfrm>
            <a:off x="764381" y="3661507"/>
            <a:ext cx="1646634" cy="192881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Ready to Launch</a:t>
            </a:r>
            <a:endParaRPr lang="en-US" sz="534" dirty="0"/>
          </a:p>
        </p:txBody>
      </p:sp>
      <p:sp>
        <p:nvSpPr>
          <p:cNvPr id="14" name="Text 11"/>
          <p:cNvSpPr/>
          <p:nvPr/>
        </p:nvSpPr>
        <p:spPr>
          <a:xfrm>
            <a:off x="2818209" y="1377293"/>
            <a:ext cx="164663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808" b="1" dirty="0">
                <a:solidFill>
                  <a:srgbClr val="FF6B35"/>
                </a:solidFill>
              </a:rPr>
              <a:t>2</a:t>
            </a:r>
            <a:endParaRPr lang="en-US" sz="1808" dirty="0"/>
          </a:p>
        </p:txBody>
      </p:sp>
      <p:sp>
        <p:nvSpPr>
          <p:cNvPr id="15" name="Text 12"/>
          <p:cNvSpPr/>
          <p:nvPr/>
        </p:nvSpPr>
        <p:spPr>
          <a:xfrm>
            <a:off x="2818209" y="1691618"/>
            <a:ext cx="164663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spc="1" kern="0" dirty="0">
                <a:solidFill>
                  <a:srgbClr val="0F3A7D"/>
                </a:solidFill>
              </a:rPr>
              <a:t>Launch &amp; Traction</a:t>
            </a:r>
            <a:endParaRPr lang="en-US" sz="584" dirty="0"/>
          </a:p>
        </p:txBody>
      </p:sp>
      <p:sp>
        <p:nvSpPr>
          <p:cNvPr id="16" name="Text 13"/>
          <p:cNvSpPr/>
          <p:nvPr/>
        </p:nvSpPr>
        <p:spPr>
          <a:xfrm>
            <a:off x="2818209" y="1979154"/>
            <a:ext cx="164663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666666"/>
                </a:solidFill>
              </a:rPr>
              <a:t>Paying Customers</a:t>
            </a:r>
            <a:endParaRPr lang="en-US" sz="584" dirty="0"/>
          </a:p>
        </p:txBody>
      </p:sp>
      <p:sp>
        <p:nvSpPr>
          <p:cNvPr id="17" name="Text 14"/>
          <p:cNvSpPr/>
          <p:nvPr/>
        </p:nvSpPr>
        <p:spPr>
          <a:xfrm>
            <a:off x="2818209" y="2180965"/>
            <a:ext cx="164663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97" b="1" dirty="0">
                <a:solidFill>
                  <a:srgbClr val="FF6B35"/>
                </a:solidFill>
              </a:rPr>
              <a:t>50-100</a:t>
            </a:r>
            <a:endParaRPr lang="en-US" sz="1397" dirty="0"/>
          </a:p>
        </p:txBody>
      </p:sp>
      <p:sp>
        <p:nvSpPr>
          <p:cNvPr id="18" name="Text 15"/>
          <p:cNvSpPr/>
          <p:nvPr/>
        </p:nvSpPr>
        <p:spPr>
          <a:xfrm>
            <a:off x="2818209" y="2552440"/>
            <a:ext cx="164663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666666"/>
                </a:solidFill>
              </a:rPr>
              <a:t>Monthly Revenue</a:t>
            </a:r>
            <a:endParaRPr lang="en-US" sz="584" dirty="0"/>
          </a:p>
        </p:txBody>
      </p:sp>
      <p:sp>
        <p:nvSpPr>
          <p:cNvPr id="19" name="Text 16"/>
          <p:cNvSpPr/>
          <p:nvPr/>
        </p:nvSpPr>
        <p:spPr>
          <a:xfrm>
            <a:off x="2818209" y="2754250"/>
            <a:ext cx="164663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97" b="1" dirty="0">
                <a:solidFill>
                  <a:srgbClr val="FF6B35"/>
                </a:solidFill>
              </a:rPr>
              <a:t>$5K-10K</a:t>
            </a:r>
            <a:endParaRPr lang="en-US" sz="1397" dirty="0"/>
          </a:p>
        </p:txBody>
      </p:sp>
      <p:sp>
        <p:nvSpPr>
          <p:cNvPr id="20" name="Text 17"/>
          <p:cNvSpPr/>
          <p:nvPr/>
        </p:nvSpPr>
        <p:spPr>
          <a:xfrm>
            <a:off x="2818209" y="3068575"/>
            <a:ext cx="164663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F3A7D"/>
                </a:solidFill>
              </a:rPr>
              <a:t>MRR</a:t>
            </a:r>
            <a:endParaRPr lang="en-US" sz="634" dirty="0"/>
          </a:p>
        </p:txBody>
      </p:sp>
      <p:sp>
        <p:nvSpPr>
          <p:cNvPr id="21" name="Text 18"/>
          <p:cNvSpPr/>
          <p:nvPr/>
        </p:nvSpPr>
        <p:spPr>
          <a:xfrm>
            <a:off x="2818209" y="3366827"/>
            <a:ext cx="164663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666666"/>
                </a:solidFill>
              </a:rPr>
              <a:t>Key Outcome</a:t>
            </a:r>
            <a:endParaRPr lang="en-US" sz="584" dirty="0"/>
          </a:p>
        </p:txBody>
      </p:sp>
      <p:sp>
        <p:nvSpPr>
          <p:cNvPr id="22" name="Text 19"/>
          <p:cNvSpPr/>
          <p:nvPr/>
        </p:nvSpPr>
        <p:spPr>
          <a:xfrm>
            <a:off x="2911078" y="3690082"/>
            <a:ext cx="78988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555555"/>
                </a:solidFill>
              </a:rPr>
              <a:t>Product Hunt Top 5</a:t>
            </a:r>
            <a:endParaRPr lang="en-US" sz="584" dirty="0"/>
          </a:p>
        </p:txBody>
      </p:sp>
      <p:sp>
        <p:nvSpPr>
          <p:cNvPr id="23" name="Text 20"/>
          <p:cNvSpPr/>
          <p:nvPr/>
        </p:nvSpPr>
        <p:spPr>
          <a:xfrm>
            <a:off x="2911078" y="3890107"/>
            <a:ext cx="93279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555555"/>
                </a:solidFill>
              </a:rPr>
              <a:t>First paying customers</a:t>
            </a:r>
            <a:endParaRPr lang="en-US" sz="584" dirty="0"/>
          </a:p>
        </p:txBody>
      </p:sp>
      <p:sp>
        <p:nvSpPr>
          <p:cNvPr id="24" name="Shape 21"/>
          <p:cNvSpPr/>
          <p:nvPr/>
        </p:nvSpPr>
        <p:spPr>
          <a:xfrm>
            <a:off x="2818209" y="4275869"/>
            <a:ext cx="1646634" cy="192881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5" name="Text 22"/>
          <p:cNvSpPr/>
          <p:nvPr/>
        </p:nvSpPr>
        <p:spPr>
          <a:xfrm>
            <a:off x="2818209" y="4275869"/>
            <a:ext cx="1646634" cy="192881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PMF Signals</a:t>
            </a:r>
            <a:endParaRPr lang="en-US" sz="534" dirty="0"/>
          </a:p>
        </p:txBody>
      </p:sp>
      <p:sp>
        <p:nvSpPr>
          <p:cNvPr id="26" name="Text 23"/>
          <p:cNvSpPr/>
          <p:nvPr/>
        </p:nvSpPr>
        <p:spPr>
          <a:xfrm>
            <a:off x="4872038" y="1377293"/>
            <a:ext cx="164663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808" b="1" dirty="0">
                <a:solidFill>
                  <a:srgbClr val="FF6B35"/>
                </a:solidFill>
              </a:rPr>
              <a:t>3</a:t>
            </a:r>
            <a:endParaRPr lang="en-US" sz="1808" dirty="0"/>
          </a:p>
        </p:txBody>
      </p:sp>
      <p:sp>
        <p:nvSpPr>
          <p:cNvPr id="27" name="Text 24"/>
          <p:cNvSpPr/>
          <p:nvPr/>
        </p:nvSpPr>
        <p:spPr>
          <a:xfrm>
            <a:off x="4872038" y="1691618"/>
            <a:ext cx="164663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spc="1" kern="0" dirty="0">
                <a:solidFill>
                  <a:srgbClr val="0F3A7D"/>
                </a:solidFill>
              </a:rPr>
              <a:t>Scale &amp; Monetize</a:t>
            </a:r>
            <a:endParaRPr lang="en-US" sz="584" dirty="0"/>
          </a:p>
        </p:txBody>
      </p:sp>
      <p:sp>
        <p:nvSpPr>
          <p:cNvPr id="28" name="Text 25"/>
          <p:cNvSpPr/>
          <p:nvPr/>
        </p:nvSpPr>
        <p:spPr>
          <a:xfrm>
            <a:off x="4872038" y="1979154"/>
            <a:ext cx="164663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666666"/>
                </a:solidFill>
              </a:rPr>
              <a:t>Paying Customers</a:t>
            </a:r>
            <a:endParaRPr lang="en-US" sz="584" dirty="0"/>
          </a:p>
        </p:txBody>
      </p:sp>
      <p:sp>
        <p:nvSpPr>
          <p:cNvPr id="29" name="Text 26"/>
          <p:cNvSpPr/>
          <p:nvPr/>
        </p:nvSpPr>
        <p:spPr>
          <a:xfrm>
            <a:off x="4872038" y="2180965"/>
            <a:ext cx="164663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97" b="1" dirty="0">
                <a:solidFill>
                  <a:srgbClr val="FF6B35"/>
                </a:solidFill>
              </a:rPr>
              <a:t>200-300</a:t>
            </a:r>
            <a:endParaRPr lang="en-US" sz="1397" dirty="0"/>
          </a:p>
        </p:txBody>
      </p:sp>
      <p:sp>
        <p:nvSpPr>
          <p:cNvPr id="30" name="Text 27"/>
          <p:cNvSpPr/>
          <p:nvPr/>
        </p:nvSpPr>
        <p:spPr>
          <a:xfrm>
            <a:off x="4872038" y="2552440"/>
            <a:ext cx="164663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666666"/>
                </a:solidFill>
              </a:rPr>
              <a:t>Monthly Revenue</a:t>
            </a:r>
            <a:endParaRPr lang="en-US" sz="584" dirty="0"/>
          </a:p>
        </p:txBody>
      </p:sp>
      <p:sp>
        <p:nvSpPr>
          <p:cNvPr id="31" name="Text 28"/>
          <p:cNvSpPr/>
          <p:nvPr/>
        </p:nvSpPr>
        <p:spPr>
          <a:xfrm>
            <a:off x="4872038" y="2754250"/>
            <a:ext cx="164663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97" b="1" dirty="0">
                <a:solidFill>
                  <a:srgbClr val="FF6B35"/>
                </a:solidFill>
              </a:rPr>
              <a:t>$20K-50K</a:t>
            </a:r>
            <a:endParaRPr lang="en-US" sz="1397" dirty="0"/>
          </a:p>
        </p:txBody>
      </p:sp>
      <p:sp>
        <p:nvSpPr>
          <p:cNvPr id="32" name="Text 29"/>
          <p:cNvSpPr/>
          <p:nvPr/>
        </p:nvSpPr>
        <p:spPr>
          <a:xfrm>
            <a:off x="4872038" y="3068575"/>
            <a:ext cx="164663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F3A7D"/>
                </a:solidFill>
              </a:rPr>
              <a:t>MRR</a:t>
            </a:r>
            <a:endParaRPr lang="en-US" sz="634" dirty="0"/>
          </a:p>
        </p:txBody>
      </p:sp>
      <p:sp>
        <p:nvSpPr>
          <p:cNvPr id="33" name="Text 30"/>
          <p:cNvSpPr/>
          <p:nvPr/>
        </p:nvSpPr>
        <p:spPr>
          <a:xfrm>
            <a:off x="4872038" y="3366827"/>
            <a:ext cx="164663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666666"/>
                </a:solidFill>
              </a:rPr>
              <a:t>Key Outcome</a:t>
            </a:r>
            <a:endParaRPr lang="en-US" sz="584" dirty="0"/>
          </a:p>
        </p:txBody>
      </p:sp>
      <p:sp>
        <p:nvSpPr>
          <p:cNvPr id="34" name="Text 31"/>
          <p:cNvSpPr/>
          <p:nvPr/>
        </p:nvSpPr>
        <p:spPr>
          <a:xfrm>
            <a:off x="4964906" y="3690082"/>
            <a:ext cx="62058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555555"/>
                </a:solidFill>
              </a:rPr>
              <a:t>Mobile app live</a:t>
            </a:r>
            <a:endParaRPr lang="en-US" sz="584" dirty="0"/>
          </a:p>
        </p:txBody>
      </p:sp>
      <p:sp>
        <p:nvSpPr>
          <p:cNvPr id="35" name="Text 32"/>
          <p:cNvSpPr/>
          <p:nvPr/>
        </p:nvSpPr>
        <p:spPr>
          <a:xfrm>
            <a:off x="4964906" y="3890107"/>
            <a:ext cx="94548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555555"/>
                </a:solidFill>
              </a:rPr>
              <a:t>Enterprise deals closed</a:t>
            </a:r>
            <a:endParaRPr lang="en-US" sz="584" dirty="0"/>
          </a:p>
        </p:txBody>
      </p:sp>
      <p:sp>
        <p:nvSpPr>
          <p:cNvPr id="36" name="Shape 33"/>
          <p:cNvSpPr/>
          <p:nvPr/>
        </p:nvSpPr>
        <p:spPr>
          <a:xfrm>
            <a:off x="4872038" y="4275869"/>
            <a:ext cx="1646634" cy="192881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7" name="Text 34"/>
          <p:cNvSpPr/>
          <p:nvPr/>
        </p:nvSpPr>
        <p:spPr>
          <a:xfrm>
            <a:off x="4872038" y="4275869"/>
            <a:ext cx="1646634" cy="192881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Scaling</a:t>
            </a:r>
            <a:endParaRPr lang="en-US" sz="534" dirty="0"/>
          </a:p>
        </p:txBody>
      </p:sp>
      <p:sp>
        <p:nvSpPr>
          <p:cNvPr id="38" name="Text 35"/>
          <p:cNvSpPr/>
          <p:nvPr/>
        </p:nvSpPr>
        <p:spPr>
          <a:xfrm>
            <a:off x="6925866" y="1377293"/>
            <a:ext cx="164663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808" b="1" dirty="0">
                <a:solidFill>
                  <a:srgbClr val="FF6B35"/>
                </a:solidFill>
              </a:rPr>
              <a:t>4</a:t>
            </a:r>
            <a:endParaRPr lang="en-US" sz="1808" dirty="0"/>
          </a:p>
        </p:txBody>
      </p:sp>
      <p:sp>
        <p:nvSpPr>
          <p:cNvPr id="39" name="Text 36"/>
          <p:cNvSpPr/>
          <p:nvPr/>
        </p:nvSpPr>
        <p:spPr>
          <a:xfrm>
            <a:off x="6925866" y="1691618"/>
            <a:ext cx="164663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spc="1" kern="0" dirty="0">
                <a:solidFill>
                  <a:srgbClr val="0F3A7D"/>
                </a:solidFill>
              </a:rPr>
              <a:t>Optimize &amp; Scale</a:t>
            </a:r>
            <a:endParaRPr lang="en-US" sz="584" dirty="0"/>
          </a:p>
        </p:txBody>
      </p:sp>
      <p:sp>
        <p:nvSpPr>
          <p:cNvPr id="40" name="Text 37"/>
          <p:cNvSpPr/>
          <p:nvPr/>
        </p:nvSpPr>
        <p:spPr>
          <a:xfrm>
            <a:off x="6925866" y="1979154"/>
            <a:ext cx="164663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666666"/>
                </a:solidFill>
              </a:rPr>
              <a:t>Paying Customers</a:t>
            </a:r>
            <a:endParaRPr lang="en-US" sz="584" dirty="0"/>
          </a:p>
        </p:txBody>
      </p:sp>
      <p:sp>
        <p:nvSpPr>
          <p:cNvPr id="41" name="Text 38"/>
          <p:cNvSpPr/>
          <p:nvPr/>
        </p:nvSpPr>
        <p:spPr>
          <a:xfrm>
            <a:off x="6925866" y="2180965"/>
            <a:ext cx="164663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97" b="1" dirty="0">
                <a:solidFill>
                  <a:srgbClr val="FF6B35"/>
                </a:solidFill>
              </a:rPr>
              <a:t>300-500</a:t>
            </a:r>
            <a:endParaRPr lang="en-US" sz="1397" dirty="0"/>
          </a:p>
        </p:txBody>
      </p:sp>
      <p:sp>
        <p:nvSpPr>
          <p:cNvPr id="42" name="Text 39"/>
          <p:cNvSpPr/>
          <p:nvPr/>
        </p:nvSpPr>
        <p:spPr>
          <a:xfrm>
            <a:off x="6925866" y="2552440"/>
            <a:ext cx="164663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666666"/>
                </a:solidFill>
              </a:rPr>
              <a:t>Monthly Revenue</a:t>
            </a:r>
            <a:endParaRPr lang="en-US" sz="584" dirty="0"/>
          </a:p>
        </p:txBody>
      </p:sp>
      <p:sp>
        <p:nvSpPr>
          <p:cNvPr id="43" name="Text 40"/>
          <p:cNvSpPr/>
          <p:nvPr/>
        </p:nvSpPr>
        <p:spPr>
          <a:xfrm>
            <a:off x="6925866" y="2754250"/>
            <a:ext cx="164663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97" b="1" dirty="0">
                <a:solidFill>
                  <a:srgbClr val="FF6B35"/>
                </a:solidFill>
              </a:rPr>
              <a:t>$30K-50K</a:t>
            </a:r>
            <a:endParaRPr lang="en-US" sz="1397" dirty="0"/>
          </a:p>
        </p:txBody>
      </p:sp>
      <p:sp>
        <p:nvSpPr>
          <p:cNvPr id="44" name="Text 41"/>
          <p:cNvSpPr/>
          <p:nvPr/>
        </p:nvSpPr>
        <p:spPr>
          <a:xfrm>
            <a:off x="6925866" y="3068575"/>
            <a:ext cx="164663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F3A7D"/>
                </a:solidFill>
              </a:rPr>
              <a:t>MRR</a:t>
            </a:r>
            <a:endParaRPr lang="en-US" sz="634" dirty="0"/>
          </a:p>
        </p:txBody>
      </p:sp>
      <p:sp>
        <p:nvSpPr>
          <p:cNvPr id="45" name="Text 42"/>
          <p:cNvSpPr/>
          <p:nvPr/>
        </p:nvSpPr>
        <p:spPr>
          <a:xfrm>
            <a:off x="6925866" y="3366827"/>
            <a:ext cx="164663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666666"/>
                </a:solidFill>
              </a:rPr>
              <a:t>Key Outcome</a:t>
            </a:r>
            <a:endParaRPr lang="en-US" sz="584" dirty="0"/>
          </a:p>
        </p:txBody>
      </p:sp>
      <p:sp>
        <p:nvSpPr>
          <p:cNvPr id="46" name="Text 43"/>
          <p:cNvSpPr/>
          <p:nvPr/>
        </p:nvSpPr>
        <p:spPr>
          <a:xfrm>
            <a:off x="7018734" y="3690082"/>
            <a:ext cx="62083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555555"/>
                </a:solidFill>
              </a:rPr>
              <a:t>PMF confirmed</a:t>
            </a:r>
            <a:endParaRPr lang="en-US" sz="584" dirty="0"/>
          </a:p>
        </p:txBody>
      </p:sp>
      <p:sp>
        <p:nvSpPr>
          <p:cNvPr id="47" name="Text 44"/>
          <p:cNvSpPr/>
          <p:nvPr/>
        </p:nvSpPr>
        <p:spPr>
          <a:xfrm>
            <a:off x="7018734" y="3890107"/>
            <a:ext cx="73220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555555"/>
                </a:solidFill>
              </a:rPr>
              <a:t>Ready for Phase 2</a:t>
            </a:r>
            <a:endParaRPr lang="en-US" sz="584" dirty="0"/>
          </a:p>
        </p:txBody>
      </p:sp>
      <p:sp>
        <p:nvSpPr>
          <p:cNvPr id="48" name="Shape 45"/>
          <p:cNvSpPr/>
          <p:nvPr/>
        </p:nvSpPr>
        <p:spPr>
          <a:xfrm>
            <a:off x="6925866" y="4275869"/>
            <a:ext cx="1646634" cy="192881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9" name="Text 46"/>
          <p:cNvSpPr/>
          <p:nvPr/>
        </p:nvSpPr>
        <p:spPr>
          <a:xfrm>
            <a:off x="6925866" y="4275869"/>
            <a:ext cx="1646634" cy="192881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Target Achieved</a:t>
            </a:r>
            <a:endParaRPr lang="en-US" sz="534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8001000" cy="377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226" b="1" dirty="0">
                <a:solidFill>
                  <a:srgbClr val="0F3A7D"/>
                </a:solidFill>
              </a:rPr>
              <a:t>Risk Mitigation &amp; 5 Critical Success Factors</a:t>
            </a:r>
            <a:endParaRPr lang="en-US" sz="2226" dirty="0"/>
          </a:p>
        </p:txBody>
      </p:sp>
      <p:sp>
        <p:nvSpPr>
          <p:cNvPr id="4" name="Text 1"/>
          <p:cNvSpPr/>
          <p:nvPr/>
        </p:nvSpPr>
        <p:spPr>
          <a:xfrm>
            <a:off x="571500" y="1091543"/>
            <a:ext cx="3914775" cy="2713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F3A7D"/>
                </a:solidFill>
              </a:rPr>
              <a:t>Key Risks &amp; Mitigation</a:t>
            </a:r>
            <a:endParaRPr lang="en-US" sz="987" dirty="0"/>
          </a:p>
        </p:txBody>
      </p:sp>
      <p:sp>
        <p:nvSpPr>
          <p:cNvPr id="5" name="Text 2"/>
          <p:cNvSpPr/>
          <p:nvPr/>
        </p:nvSpPr>
        <p:spPr>
          <a:xfrm>
            <a:off x="664369" y="1548659"/>
            <a:ext cx="181451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6B35"/>
                </a:solidFill>
              </a:rPr>
              <a:t>1. Team Burnout</a:t>
            </a:r>
            <a:endParaRPr lang="en-US" sz="683" dirty="0"/>
          </a:p>
        </p:txBody>
      </p:sp>
      <p:sp>
        <p:nvSpPr>
          <p:cNvPr id="6" name="Text 3"/>
          <p:cNvSpPr/>
          <p:nvPr/>
        </p:nvSpPr>
        <p:spPr>
          <a:xfrm>
            <a:off x="664369" y="1727253"/>
            <a:ext cx="1814513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555555"/>
                </a:solidFill>
              </a:rPr>
              <a:t>4-week sprint at max velocity could exhaust team</a:t>
            </a:r>
            <a:endParaRPr lang="en-US" sz="674" dirty="0"/>
          </a:p>
        </p:txBody>
      </p:sp>
      <p:sp>
        <p:nvSpPr>
          <p:cNvPr id="7" name="Text 4"/>
          <p:cNvSpPr/>
          <p:nvPr/>
        </p:nvSpPr>
        <p:spPr>
          <a:xfrm>
            <a:off x="664369" y="2091584"/>
            <a:ext cx="1814513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0F3A7D"/>
                </a:solidFill>
              </a:rPr>
              <a:t>Mitigation:</a:t>
            </a:r>
            <a:endParaRPr lang="en-US" sz="534" dirty="0"/>
          </a:p>
        </p:txBody>
      </p:sp>
      <p:sp>
        <p:nvSpPr>
          <p:cNvPr id="8" name="Text 5"/>
          <p:cNvSpPr/>
          <p:nvPr/>
        </p:nvSpPr>
        <p:spPr>
          <a:xfrm>
            <a:off x="664369" y="2270178"/>
            <a:ext cx="181451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0F3A7D"/>
                </a:solidFill>
              </a:rPr>
              <a:t>Daily 15-min standups, clear priorities, mandatory breaks</a:t>
            </a:r>
            <a:endParaRPr lang="en-US" sz="584" dirty="0"/>
          </a:p>
        </p:txBody>
      </p:sp>
      <p:sp>
        <p:nvSpPr>
          <p:cNvPr id="9" name="Text 6"/>
          <p:cNvSpPr/>
          <p:nvPr/>
        </p:nvSpPr>
        <p:spPr>
          <a:xfrm>
            <a:off x="2671763" y="1548659"/>
            <a:ext cx="181451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6B35"/>
                </a:solidFill>
              </a:rPr>
              <a:t>2. Technical Debt</a:t>
            </a:r>
            <a:endParaRPr lang="en-US" sz="683" dirty="0"/>
          </a:p>
        </p:txBody>
      </p:sp>
      <p:sp>
        <p:nvSpPr>
          <p:cNvPr id="10" name="Text 7"/>
          <p:cNvSpPr/>
          <p:nvPr/>
        </p:nvSpPr>
        <p:spPr>
          <a:xfrm>
            <a:off x="2671763" y="1727253"/>
            <a:ext cx="1814513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555555"/>
                </a:solidFill>
              </a:rPr>
              <a:t>Rapid delivery may introduce bugs and security gaps</a:t>
            </a:r>
            <a:endParaRPr lang="en-US" sz="674" dirty="0"/>
          </a:p>
        </p:txBody>
      </p:sp>
      <p:sp>
        <p:nvSpPr>
          <p:cNvPr id="11" name="Text 8"/>
          <p:cNvSpPr/>
          <p:nvPr/>
        </p:nvSpPr>
        <p:spPr>
          <a:xfrm>
            <a:off x="2671763" y="2091584"/>
            <a:ext cx="1814513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0F3A7D"/>
                </a:solidFill>
              </a:rPr>
              <a:t>Mitigation:</a:t>
            </a:r>
            <a:endParaRPr lang="en-US" sz="534" dirty="0"/>
          </a:p>
        </p:txBody>
      </p:sp>
      <p:sp>
        <p:nvSpPr>
          <p:cNvPr id="12" name="Text 9"/>
          <p:cNvSpPr/>
          <p:nvPr/>
        </p:nvSpPr>
        <p:spPr>
          <a:xfrm>
            <a:off x="2671763" y="2270178"/>
            <a:ext cx="181451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0F3A7D"/>
                </a:solidFill>
              </a:rPr>
              <a:t>Automated tests, code reviews, security scans, monitoring</a:t>
            </a:r>
            <a:endParaRPr lang="en-US" sz="584" dirty="0"/>
          </a:p>
        </p:txBody>
      </p:sp>
      <p:sp>
        <p:nvSpPr>
          <p:cNvPr id="13" name="Text 10"/>
          <p:cNvSpPr/>
          <p:nvPr/>
        </p:nvSpPr>
        <p:spPr>
          <a:xfrm>
            <a:off x="664369" y="2732652"/>
            <a:ext cx="181451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6B35"/>
                </a:solidFill>
              </a:rPr>
              <a:t>3. PMF Uncertainty</a:t>
            </a:r>
            <a:endParaRPr lang="en-US" sz="683" dirty="0"/>
          </a:p>
        </p:txBody>
      </p:sp>
      <p:sp>
        <p:nvSpPr>
          <p:cNvPr id="14" name="Text 11"/>
          <p:cNvSpPr/>
          <p:nvPr/>
        </p:nvSpPr>
        <p:spPr>
          <a:xfrm>
            <a:off x="664369" y="2911246"/>
            <a:ext cx="1814513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555555"/>
                </a:solidFill>
              </a:rPr>
              <a:t>Product may not resonate with target market</a:t>
            </a:r>
            <a:endParaRPr lang="en-US" sz="674" dirty="0"/>
          </a:p>
        </p:txBody>
      </p:sp>
      <p:sp>
        <p:nvSpPr>
          <p:cNvPr id="15" name="Text 12"/>
          <p:cNvSpPr/>
          <p:nvPr/>
        </p:nvSpPr>
        <p:spPr>
          <a:xfrm>
            <a:off x="664369" y="3275577"/>
            <a:ext cx="1814513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0F3A7D"/>
                </a:solidFill>
              </a:rPr>
              <a:t>Mitigation:</a:t>
            </a:r>
            <a:endParaRPr lang="en-US" sz="534" dirty="0"/>
          </a:p>
        </p:txBody>
      </p:sp>
      <p:sp>
        <p:nvSpPr>
          <p:cNvPr id="16" name="Text 13"/>
          <p:cNvSpPr/>
          <p:nvPr/>
        </p:nvSpPr>
        <p:spPr>
          <a:xfrm>
            <a:off x="664369" y="3454171"/>
            <a:ext cx="181451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0F3A7D"/>
                </a:solidFill>
              </a:rPr>
              <a:t>Daily customer feedback, weekly pivots, data-driven choices</a:t>
            </a:r>
            <a:endParaRPr lang="en-US" sz="584" dirty="0"/>
          </a:p>
        </p:txBody>
      </p:sp>
      <p:sp>
        <p:nvSpPr>
          <p:cNvPr id="17" name="Text 14"/>
          <p:cNvSpPr/>
          <p:nvPr/>
        </p:nvSpPr>
        <p:spPr>
          <a:xfrm>
            <a:off x="2671763" y="2732652"/>
            <a:ext cx="181451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6B35"/>
                </a:solidFill>
              </a:rPr>
              <a:t>4. Competition</a:t>
            </a:r>
            <a:endParaRPr lang="en-US" sz="683" dirty="0"/>
          </a:p>
        </p:txBody>
      </p:sp>
      <p:sp>
        <p:nvSpPr>
          <p:cNvPr id="18" name="Text 15"/>
          <p:cNvSpPr/>
          <p:nvPr/>
        </p:nvSpPr>
        <p:spPr>
          <a:xfrm>
            <a:off x="2671763" y="2911246"/>
            <a:ext cx="1814513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555555"/>
                </a:solidFill>
              </a:rPr>
              <a:t>Competitors may launch similar products during our 4 weeks</a:t>
            </a:r>
            <a:endParaRPr lang="en-US" sz="674" dirty="0"/>
          </a:p>
        </p:txBody>
      </p:sp>
      <p:sp>
        <p:nvSpPr>
          <p:cNvPr id="19" name="Text 16"/>
          <p:cNvSpPr/>
          <p:nvPr/>
        </p:nvSpPr>
        <p:spPr>
          <a:xfrm>
            <a:off x="2671763" y="3275577"/>
            <a:ext cx="1814513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0F3A7D"/>
                </a:solidFill>
              </a:rPr>
              <a:t>Mitigation:</a:t>
            </a:r>
            <a:endParaRPr lang="en-US" sz="534" dirty="0"/>
          </a:p>
        </p:txBody>
      </p:sp>
      <p:sp>
        <p:nvSpPr>
          <p:cNvPr id="20" name="Text 17"/>
          <p:cNvSpPr/>
          <p:nvPr/>
        </p:nvSpPr>
        <p:spPr>
          <a:xfrm>
            <a:off x="2671763" y="3454171"/>
            <a:ext cx="181451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0F3A7D"/>
                </a:solidFill>
              </a:rPr>
              <a:t>Move fast, build a defensible moat, focus on execution</a:t>
            </a:r>
            <a:endParaRPr lang="en-US" sz="584" dirty="0"/>
          </a:p>
        </p:txBody>
      </p:sp>
      <p:sp>
        <p:nvSpPr>
          <p:cNvPr id="21" name="Text 18"/>
          <p:cNvSpPr/>
          <p:nvPr/>
        </p:nvSpPr>
        <p:spPr>
          <a:xfrm>
            <a:off x="664369" y="3916645"/>
            <a:ext cx="181451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6B35"/>
                </a:solidFill>
              </a:rPr>
              <a:t>5. Infrastructure Failure</a:t>
            </a:r>
            <a:endParaRPr lang="en-US" sz="683" dirty="0"/>
          </a:p>
        </p:txBody>
      </p:sp>
      <p:sp>
        <p:nvSpPr>
          <p:cNvPr id="22" name="Text 19"/>
          <p:cNvSpPr/>
          <p:nvPr/>
        </p:nvSpPr>
        <p:spPr>
          <a:xfrm>
            <a:off x="664369" y="4095238"/>
            <a:ext cx="1814513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555555"/>
                </a:solidFill>
              </a:rPr>
              <a:t>Production outages could harm early customer trust</a:t>
            </a:r>
            <a:endParaRPr lang="en-US" sz="674" dirty="0"/>
          </a:p>
        </p:txBody>
      </p:sp>
      <p:sp>
        <p:nvSpPr>
          <p:cNvPr id="23" name="Text 20"/>
          <p:cNvSpPr/>
          <p:nvPr/>
        </p:nvSpPr>
        <p:spPr>
          <a:xfrm>
            <a:off x="664369" y="4459570"/>
            <a:ext cx="1814513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0F3A7D"/>
                </a:solidFill>
              </a:rPr>
              <a:t>Mitigation:</a:t>
            </a:r>
            <a:endParaRPr lang="en-US" sz="534" dirty="0"/>
          </a:p>
        </p:txBody>
      </p:sp>
      <p:sp>
        <p:nvSpPr>
          <p:cNvPr id="24" name="Text 21"/>
          <p:cNvSpPr/>
          <p:nvPr/>
        </p:nvSpPr>
        <p:spPr>
          <a:xfrm>
            <a:off x="664369" y="4638163"/>
            <a:ext cx="181451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0F3A7D"/>
                </a:solidFill>
              </a:rPr>
              <a:t>DevOps from Day 1, monitoring, backups, incident playbooks</a:t>
            </a:r>
            <a:endParaRPr lang="en-US" sz="584" dirty="0"/>
          </a:p>
        </p:txBody>
      </p:sp>
      <p:sp>
        <p:nvSpPr>
          <p:cNvPr id="25" name="Text 22"/>
          <p:cNvSpPr/>
          <p:nvPr/>
        </p:nvSpPr>
        <p:spPr>
          <a:xfrm>
            <a:off x="4657725" y="1091543"/>
            <a:ext cx="3914775" cy="4709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F3A7D"/>
                </a:solidFill>
              </a:rPr>
              <a:t>5 Critical Success Factors</a:t>
            </a:r>
            <a:endParaRPr lang="en-US" sz="987" dirty="0"/>
          </a:p>
        </p:txBody>
      </p:sp>
      <p:sp>
        <p:nvSpPr>
          <p:cNvPr id="26" name="Text 23"/>
          <p:cNvSpPr/>
          <p:nvPr/>
        </p:nvSpPr>
        <p:spPr>
          <a:xfrm>
            <a:off x="4750594" y="1748237"/>
            <a:ext cx="181451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F3A7D"/>
                </a:solidFill>
              </a:rPr>
              <a:t>1. Execution Discipline</a:t>
            </a:r>
            <a:endParaRPr lang="en-US" sz="683" dirty="0"/>
          </a:p>
        </p:txBody>
      </p:sp>
      <p:sp>
        <p:nvSpPr>
          <p:cNvPr id="27" name="Text 24"/>
          <p:cNvSpPr/>
          <p:nvPr/>
        </p:nvSpPr>
        <p:spPr>
          <a:xfrm>
            <a:off x="4750594" y="1926831"/>
            <a:ext cx="1814513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555555"/>
                </a:solidFill>
              </a:rPr>
              <a:t>Daily standups, clear priorities, shipping every day</a:t>
            </a:r>
            <a:endParaRPr lang="en-US" sz="674" dirty="0"/>
          </a:p>
        </p:txBody>
      </p:sp>
      <p:sp>
        <p:nvSpPr>
          <p:cNvPr id="28" name="Shape 25"/>
          <p:cNvSpPr/>
          <p:nvPr/>
        </p:nvSpPr>
        <p:spPr>
          <a:xfrm>
            <a:off x="4750594" y="2305450"/>
            <a:ext cx="489152" cy="155377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9" name="Text 26"/>
          <p:cNvSpPr/>
          <p:nvPr/>
        </p:nvSpPr>
        <p:spPr>
          <a:xfrm>
            <a:off x="4750594" y="2305450"/>
            <a:ext cx="489152" cy="155377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FFFFFF"/>
                </a:solidFill>
              </a:rPr>
              <a:t>Critical</a:t>
            </a:r>
            <a:endParaRPr lang="en-US" sz="485" dirty="0"/>
          </a:p>
        </p:txBody>
      </p:sp>
      <p:sp>
        <p:nvSpPr>
          <p:cNvPr id="30" name="Text 27"/>
          <p:cNvSpPr/>
          <p:nvPr/>
        </p:nvSpPr>
        <p:spPr>
          <a:xfrm>
            <a:off x="6757988" y="1748237"/>
            <a:ext cx="181451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F3A7D"/>
                </a:solidFill>
              </a:rPr>
              <a:t>2. Product Quality</a:t>
            </a:r>
            <a:endParaRPr lang="en-US" sz="683" dirty="0"/>
          </a:p>
        </p:txBody>
      </p:sp>
      <p:sp>
        <p:nvSpPr>
          <p:cNvPr id="31" name="Text 28"/>
          <p:cNvSpPr/>
          <p:nvPr/>
        </p:nvSpPr>
        <p:spPr>
          <a:xfrm>
            <a:off x="6757988" y="1926831"/>
            <a:ext cx="1814513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555555"/>
                </a:solidFill>
              </a:rPr>
              <a:t>Ship fast but not broken. Security and performance matter</a:t>
            </a:r>
            <a:endParaRPr lang="en-US" sz="674" dirty="0"/>
          </a:p>
        </p:txBody>
      </p:sp>
      <p:sp>
        <p:nvSpPr>
          <p:cNvPr id="32" name="Shape 29"/>
          <p:cNvSpPr/>
          <p:nvPr/>
        </p:nvSpPr>
        <p:spPr>
          <a:xfrm>
            <a:off x="6757988" y="2305450"/>
            <a:ext cx="489152" cy="155377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3" name="Text 30"/>
          <p:cNvSpPr/>
          <p:nvPr/>
        </p:nvSpPr>
        <p:spPr>
          <a:xfrm>
            <a:off x="6757988" y="2305450"/>
            <a:ext cx="489152" cy="155377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FFFFFF"/>
                </a:solidFill>
              </a:rPr>
              <a:t>Critical</a:t>
            </a:r>
            <a:endParaRPr lang="en-US" sz="485" dirty="0"/>
          </a:p>
        </p:txBody>
      </p:sp>
      <p:sp>
        <p:nvSpPr>
          <p:cNvPr id="34" name="Text 31"/>
          <p:cNvSpPr/>
          <p:nvPr/>
        </p:nvSpPr>
        <p:spPr>
          <a:xfrm>
            <a:off x="4750594" y="2865704"/>
            <a:ext cx="181451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F3A7D"/>
                </a:solidFill>
              </a:rPr>
              <a:t>3. Customer Focus</a:t>
            </a:r>
            <a:endParaRPr lang="en-US" sz="683" dirty="0"/>
          </a:p>
        </p:txBody>
      </p:sp>
      <p:sp>
        <p:nvSpPr>
          <p:cNvPr id="35" name="Text 32"/>
          <p:cNvSpPr/>
          <p:nvPr/>
        </p:nvSpPr>
        <p:spPr>
          <a:xfrm>
            <a:off x="4750594" y="3044298"/>
            <a:ext cx="1814513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555555"/>
                </a:solidFill>
              </a:rPr>
              <a:t>Talk to customers daily and build what they need</a:t>
            </a:r>
            <a:endParaRPr lang="en-US" sz="674" dirty="0"/>
          </a:p>
        </p:txBody>
      </p:sp>
      <p:sp>
        <p:nvSpPr>
          <p:cNvPr id="36" name="Shape 33"/>
          <p:cNvSpPr/>
          <p:nvPr/>
        </p:nvSpPr>
        <p:spPr>
          <a:xfrm>
            <a:off x="4750594" y="3422917"/>
            <a:ext cx="489152" cy="155377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7" name="Text 34"/>
          <p:cNvSpPr/>
          <p:nvPr/>
        </p:nvSpPr>
        <p:spPr>
          <a:xfrm>
            <a:off x="4750594" y="3422917"/>
            <a:ext cx="489152" cy="155377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FFFFFF"/>
                </a:solidFill>
              </a:rPr>
              <a:t>Critical</a:t>
            </a:r>
            <a:endParaRPr lang="en-US" sz="485" dirty="0"/>
          </a:p>
        </p:txBody>
      </p:sp>
      <p:sp>
        <p:nvSpPr>
          <p:cNvPr id="38" name="Text 35"/>
          <p:cNvSpPr/>
          <p:nvPr/>
        </p:nvSpPr>
        <p:spPr>
          <a:xfrm>
            <a:off x="6757988" y="2865704"/>
            <a:ext cx="181451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F3A7D"/>
                </a:solidFill>
              </a:rPr>
              <a:t>4. Continuous Learning</a:t>
            </a:r>
            <a:endParaRPr lang="en-US" sz="683" dirty="0"/>
          </a:p>
        </p:txBody>
      </p:sp>
      <p:sp>
        <p:nvSpPr>
          <p:cNvPr id="39" name="Text 36"/>
          <p:cNvSpPr/>
          <p:nvPr/>
        </p:nvSpPr>
        <p:spPr>
          <a:xfrm>
            <a:off x="6757988" y="3044298"/>
            <a:ext cx="1814513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555555"/>
                </a:solidFill>
              </a:rPr>
              <a:t>Weekly retros, learn from failures, iterate on data</a:t>
            </a:r>
            <a:endParaRPr lang="en-US" sz="674" dirty="0"/>
          </a:p>
        </p:txBody>
      </p:sp>
      <p:sp>
        <p:nvSpPr>
          <p:cNvPr id="40" name="Shape 37"/>
          <p:cNvSpPr/>
          <p:nvPr/>
        </p:nvSpPr>
        <p:spPr>
          <a:xfrm>
            <a:off x="6757988" y="3422917"/>
            <a:ext cx="595666" cy="155377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1" name="Text 38"/>
          <p:cNvSpPr/>
          <p:nvPr/>
        </p:nvSpPr>
        <p:spPr>
          <a:xfrm>
            <a:off x="6757988" y="3422917"/>
            <a:ext cx="595666" cy="155377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FFFFFF"/>
                </a:solidFill>
              </a:rPr>
              <a:t>Important</a:t>
            </a:r>
            <a:endParaRPr lang="en-US" sz="485" dirty="0"/>
          </a:p>
        </p:txBody>
      </p:sp>
      <p:sp>
        <p:nvSpPr>
          <p:cNvPr id="42" name="Text 39"/>
          <p:cNvSpPr/>
          <p:nvPr/>
        </p:nvSpPr>
        <p:spPr>
          <a:xfrm>
            <a:off x="4750594" y="3983171"/>
            <a:ext cx="181451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F3A7D"/>
                </a:solidFill>
              </a:rPr>
              <a:t>5. Team Cohesion</a:t>
            </a:r>
            <a:endParaRPr lang="en-US" sz="683" dirty="0"/>
          </a:p>
        </p:txBody>
      </p:sp>
      <p:sp>
        <p:nvSpPr>
          <p:cNvPr id="43" name="Text 40"/>
          <p:cNvSpPr/>
          <p:nvPr/>
        </p:nvSpPr>
        <p:spPr>
          <a:xfrm>
            <a:off x="4750594" y="4161765"/>
            <a:ext cx="1814513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555555"/>
                </a:solidFill>
              </a:rPr>
              <a:t>Small team aligned on trust, communication, vision</a:t>
            </a:r>
            <a:endParaRPr lang="en-US" sz="674" dirty="0"/>
          </a:p>
        </p:txBody>
      </p:sp>
      <p:sp>
        <p:nvSpPr>
          <p:cNvPr id="44" name="Shape 41"/>
          <p:cNvSpPr/>
          <p:nvPr/>
        </p:nvSpPr>
        <p:spPr>
          <a:xfrm>
            <a:off x="4750594" y="4540383"/>
            <a:ext cx="595666" cy="155377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5" name="Text 42"/>
          <p:cNvSpPr/>
          <p:nvPr/>
        </p:nvSpPr>
        <p:spPr>
          <a:xfrm>
            <a:off x="4750594" y="4540383"/>
            <a:ext cx="595666" cy="155377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FFFFFF"/>
                </a:solidFill>
              </a:rPr>
              <a:t>Important</a:t>
            </a:r>
            <a:endParaRPr lang="en-US" sz="48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8001000" cy="377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226" b="1" dirty="0">
                <a:solidFill>
                  <a:srgbClr val="0F3A7D"/>
                </a:solidFill>
              </a:rPr>
              <a:t>Next Steps &amp; Call to Action</a:t>
            </a:r>
            <a:endParaRPr lang="en-US" sz="2226" dirty="0"/>
          </a:p>
        </p:txBody>
      </p:sp>
      <p:sp>
        <p:nvSpPr>
          <p:cNvPr id="4" name="Text 1"/>
          <p:cNvSpPr/>
          <p:nvPr/>
        </p:nvSpPr>
        <p:spPr>
          <a:xfrm>
            <a:off x="571500" y="1120118"/>
            <a:ext cx="391477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F3A7D"/>
                </a:solidFill>
              </a:rPr>
              <a:t>Immediate Actions Required</a:t>
            </a:r>
            <a:endParaRPr lang="en-US" sz="1090" dirty="0"/>
          </a:p>
        </p:txBody>
      </p:sp>
      <p:sp>
        <p:nvSpPr>
          <p:cNvPr id="5" name="Shape 2"/>
          <p:cNvSpPr/>
          <p:nvPr/>
        </p:nvSpPr>
        <p:spPr>
          <a:xfrm>
            <a:off x="571500" y="1465697"/>
            <a:ext cx="228600" cy="2286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1465697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1</a:t>
            </a:r>
            <a:endParaRPr lang="en-US" sz="784" dirty="0"/>
          </a:p>
        </p:txBody>
      </p:sp>
      <p:sp>
        <p:nvSpPr>
          <p:cNvPr id="7" name="Text 4"/>
          <p:cNvSpPr/>
          <p:nvPr/>
        </p:nvSpPr>
        <p:spPr>
          <a:xfrm>
            <a:off x="885825" y="1420155"/>
            <a:ext cx="3600450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0F3A7D"/>
                </a:solidFill>
              </a:rPr>
              <a:t>Secure Stakeholder Approval</a:t>
            </a:r>
            <a:endParaRPr lang="en-US" sz="734" dirty="0"/>
          </a:p>
        </p:txBody>
      </p:sp>
      <p:sp>
        <p:nvSpPr>
          <p:cNvPr id="8" name="Text 5"/>
          <p:cNvSpPr/>
          <p:nvPr/>
        </p:nvSpPr>
        <p:spPr>
          <a:xfrm>
            <a:off x="885825" y="1623752"/>
            <a:ext cx="360045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6B35"/>
                </a:solidFill>
              </a:rPr>
              <a:t>By End of This Week</a:t>
            </a:r>
            <a:endParaRPr lang="en-US" sz="584" dirty="0"/>
          </a:p>
        </p:txBody>
      </p:sp>
      <p:sp>
        <p:nvSpPr>
          <p:cNvPr id="9" name="Shape 6"/>
          <p:cNvSpPr/>
          <p:nvPr/>
        </p:nvSpPr>
        <p:spPr>
          <a:xfrm>
            <a:off x="571500" y="1842529"/>
            <a:ext cx="228600" cy="2286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0" name="Text 7"/>
          <p:cNvSpPr/>
          <p:nvPr/>
        </p:nvSpPr>
        <p:spPr>
          <a:xfrm>
            <a:off x="571500" y="1842529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2</a:t>
            </a:r>
            <a:endParaRPr lang="en-US" sz="784" dirty="0"/>
          </a:p>
        </p:txBody>
      </p:sp>
      <p:sp>
        <p:nvSpPr>
          <p:cNvPr id="11" name="Text 8"/>
          <p:cNvSpPr/>
          <p:nvPr/>
        </p:nvSpPr>
        <p:spPr>
          <a:xfrm>
            <a:off x="885825" y="1796988"/>
            <a:ext cx="3600450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0F3A7D"/>
                </a:solidFill>
              </a:rPr>
              <a:t>Allocate $54K Budget</a:t>
            </a:r>
            <a:endParaRPr lang="en-US" sz="734" dirty="0"/>
          </a:p>
        </p:txBody>
      </p:sp>
      <p:sp>
        <p:nvSpPr>
          <p:cNvPr id="12" name="Text 9"/>
          <p:cNvSpPr/>
          <p:nvPr/>
        </p:nvSpPr>
        <p:spPr>
          <a:xfrm>
            <a:off x="885825" y="2000585"/>
            <a:ext cx="360045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6B35"/>
                </a:solidFill>
              </a:rPr>
              <a:t>By End of This Week</a:t>
            </a:r>
            <a:endParaRPr lang="en-US" sz="584" dirty="0"/>
          </a:p>
        </p:txBody>
      </p:sp>
      <p:sp>
        <p:nvSpPr>
          <p:cNvPr id="13" name="Shape 10"/>
          <p:cNvSpPr/>
          <p:nvPr/>
        </p:nvSpPr>
        <p:spPr>
          <a:xfrm>
            <a:off x="571500" y="2219362"/>
            <a:ext cx="228600" cy="2286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4" name="Text 11"/>
          <p:cNvSpPr/>
          <p:nvPr/>
        </p:nvSpPr>
        <p:spPr>
          <a:xfrm>
            <a:off x="571500" y="221936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3</a:t>
            </a:r>
            <a:endParaRPr lang="en-US" sz="784" dirty="0"/>
          </a:p>
        </p:txBody>
      </p:sp>
      <p:sp>
        <p:nvSpPr>
          <p:cNvPr id="15" name="Text 12"/>
          <p:cNvSpPr/>
          <p:nvPr/>
        </p:nvSpPr>
        <p:spPr>
          <a:xfrm>
            <a:off x="885825" y="2173821"/>
            <a:ext cx="3600450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0F3A7D"/>
                </a:solidFill>
              </a:rPr>
              <a:t>Hire 5-Person Team</a:t>
            </a:r>
            <a:endParaRPr lang="en-US" sz="734" dirty="0"/>
          </a:p>
        </p:txBody>
      </p:sp>
      <p:sp>
        <p:nvSpPr>
          <p:cNvPr id="16" name="Text 13"/>
          <p:cNvSpPr/>
          <p:nvPr/>
        </p:nvSpPr>
        <p:spPr>
          <a:xfrm>
            <a:off x="885825" y="2377418"/>
            <a:ext cx="360045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6B35"/>
                </a:solidFill>
              </a:rPr>
              <a:t>By Monday Week 1</a:t>
            </a:r>
            <a:endParaRPr lang="en-US" sz="584" dirty="0"/>
          </a:p>
        </p:txBody>
      </p:sp>
      <p:sp>
        <p:nvSpPr>
          <p:cNvPr id="17" name="Shape 14"/>
          <p:cNvSpPr/>
          <p:nvPr/>
        </p:nvSpPr>
        <p:spPr>
          <a:xfrm>
            <a:off x="571500" y="2596195"/>
            <a:ext cx="228600" cy="2286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8" name="Text 15"/>
          <p:cNvSpPr/>
          <p:nvPr/>
        </p:nvSpPr>
        <p:spPr>
          <a:xfrm>
            <a:off x="571500" y="259619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4</a:t>
            </a:r>
            <a:endParaRPr lang="en-US" sz="784" dirty="0"/>
          </a:p>
        </p:txBody>
      </p:sp>
      <p:sp>
        <p:nvSpPr>
          <p:cNvPr id="19" name="Text 16"/>
          <p:cNvSpPr/>
          <p:nvPr/>
        </p:nvSpPr>
        <p:spPr>
          <a:xfrm>
            <a:off x="885825" y="2550654"/>
            <a:ext cx="3600450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0F3A7D"/>
                </a:solidFill>
              </a:rPr>
              <a:t>Set Up Infrastructure</a:t>
            </a:r>
            <a:endParaRPr lang="en-US" sz="734" dirty="0"/>
          </a:p>
        </p:txBody>
      </p:sp>
      <p:sp>
        <p:nvSpPr>
          <p:cNvPr id="20" name="Text 17"/>
          <p:cNvSpPr/>
          <p:nvPr/>
        </p:nvSpPr>
        <p:spPr>
          <a:xfrm>
            <a:off x="885825" y="2754250"/>
            <a:ext cx="360045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6B35"/>
                </a:solidFill>
              </a:rPr>
              <a:t>By Tuesday Week 1</a:t>
            </a:r>
            <a:endParaRPr lang="en-US" sz="584" dirty="0"/>
          </a:p>
        </p:txBody>
      </p:sp>
      <p:sp>
        <p:nvSpPr>
          <p:cNvPr id="21" name="Text 18"/>
          <p:cNvSpPr/>
          <p:nvPr/>
        </p:nvSpPr>
        <p:spPr>
          <a:xfrm>
            <a:off x="4657725" y="1120118"/>
            <a:ext cx="391477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F3A7D"/>
                </a:solidFill>
              </a:rPr>
              <a:t>Week 1 Kickoff Plan</a:t>
            </a:r>
            <a:endParaRPr lang="en-US" sz="1090" dirty="0"/>
          </a:p>
        </p:txBody>
      </p:sp>
      <p:sp>
        <p:nvSpPr>
          <p:cNvPr id="22" name="Text 19"/>
          <p:cNvSpPr/>
          <p:nvPr/>
        </p:nvSpPr>
        <p:spPr>
          <a:xfrm>
            <a:off x="4800600" y="1420155"/>
            <a:ext cx="67508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F3A7D"/>
                </a:solidFill>
              </a:rPr>
              <a:t>Monday 9 AM</a:t>
            </a:r>
            <a:endParaRPr lang="en-US" sz="683" dirty="0"/>
          </a:p>
        </p:txBody>
      </p:sp>
      <p:sp>
        <p:nvSpPr>
          <p:cNvPr id="23" name="Text 20"/>
          <p:cNvSpPr/>
          <p:nvPr/>
        </p:nvSpPr>
        <p:spPr>
          <a:xfrm>
            <a:off x="4800600" y="1613036"/>
            <a:ext cx="83883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F3A7D"/>
                </a:solidFill>
              </a:rPr>
              <a:t>Monday-Tuesday</a:t>
            </a:r>
            <a:endParaRPr lang="en-US" sz="683" dirty="0"/>
          </a:p>
        </p:txBody>
      </p:sp>
      <p:sp>
        <p:nvSpPr>
          <p:cNvPr id="24" name="Text 21"/>
          <p:cNvSpPr/>
          <p:nvPr/>
        </p:nvSpPr>
        <p:spPr>
          <a:xfrm>
            <a:off x="4800600" y="1805918"/>
            <a:ext cx="106553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F3A7D"/>
                </a:solidFill>
              </a:rPr>
              <a:t>Wednesday-Thursday</a:t>
            </a:r>
            <a:endParaRPr lang="en-US" sz="683" dirty="0"/>
          </a:p>
        </p:txBody>
      </p:sp>
      <p:sp>
        <p:nvSpPr>
          <p:cNvPr id="25" name="Text 22"/>
          <p:cNvSpPr/>
          <p:nvPr/>
        </p:nvSpPr>
        <p:spPr>
          <a:xfrm>
            <a:off x="4800600" y="1998799"/>
            <a:ext cx="57777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F3A7D"/>
                </a:solidFill>
              </a:rPr>
              <a:t>Friday 5 PM</a:t>
            </a:r>
            <a:endParaRPr lang="en-US" sz="683" dirty="0"/>
          </a:p>
        </p:txBody>
      </p:sp>
      <p:sp>
        <p:nvSpPr>
          <p:cNvPr id="26" name="Text 23"/>
          <p:cNvSpPr/>
          <p:nvPr/>
        </p:nvSpPr>
        <p:spPr>
          <a:xfrm>
            <a:off x="4800600" y="2191680"/>
            <a:ext cx="57398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F3A7D"/>
                </a:solidFill>
              </a:rPr>
              <a:t>Continuous</a:t>
            </a:r>
            <a:endParaRPr lang="en-US" sz="683" dirty="0"/>
          </a:p>
        </p:txBody>
      </p:sp>
      <p:sp>
        <p:nvSpPr>
          <p:cNvPr id="27" name="Shape 24"/>
          <p:cNvSpPr/>
          <p:nvPr/>
        </p:nvSpPr>
        <p:spPr>
          <a:xfrm>
            <a:off x="571500" y="3013211"/>
            <a:ext cx="8001000" cy="154623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571500" y="3013211"/>
            <a:ext cx="8001000" cy="1428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9" name="Text 26"/>
          <p:cNvSpPr/>
          <p:nvPr/>
        </p:nvSpPr>
        <p:spPr>
          <a:xfrm>
            <a:off x="571500" y="3098936"/>
            <a:ext cx="80010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F3A7D"/>
                </a:solidFill>
              </a:rPr>
              <a:t>Phase 2 Vision: Weeks 5-8</a:t>
            </a:r>
            <a:endParaRPr lang="en-US" sz="1090" dirty="0"/>
          </a:p>
        </p:txBody>
      </p:sp>
      <p:sp>
        <p:nvSpPr>
          <p:cNvPr id="30" name="Text 27"/>
          <p:cNvSpPr/>
          <p:nvPr/>
        </p:nvSpPr>
        <p:spPr>
          <a:xfrm>
            <a:off x="571500" y="3427549"/>
            <a:ext cx="8001000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F3A7D"/>
                </a:solidFill>
              </a:rPr>
              <a:t>After achieving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6B35"/>
                </a:solidFill>
              </a:rPr>
              <a:t>$30K-50K MRR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F3A7D"/>
                </a:solidFill>
              </a:rPr>
              <a:t> in Week 4, we accelerate into Phase 2 with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6B35"/>
                </a:solidFill>
              </a:rPr>
              <a:t>aggressive scaling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F3A7D"/>
                </a:solidFill>
              </a:rPr>
              <a:t>. We'll expand the pack library, launch advanced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F3A7D"/>
                </a:solidFill>
              </a:rPr>
              <a:t>features, build the affiliate program, and pursue enterprise deals toward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6B35"/>
                </a:solidFill>
              </a:rPr>
              <a:t>$100K+ MRR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F3A7D"/>
                </a:solidFill>
              </a:rPr>
              <a:t>.</a:t>
            </a:r>
            <a:endParaRPr lang="en-US" sz="784" dirty="0"/>
          </a:p>
        </p:txBody>
      </p:sp>
      <p:sp>
        <p:nvSpPr>
          <p:cNvPr id="31" name="Text 28"/>
          <p:cNvSpPr/>
          <p:nvPr/>
        </p:nvSpPr>
        <p:spPr>
          <a:xfrm>
            <a:off x="571500" y="3993300"/>
            <a:ext cx="260984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F3A7D"/>
                </a:solidFill>
              </a:rPr>
              <a:t>Phase 2 Revenue Target</a:t>
            </a:r>
            <a:endParaRPr lang="en-US" sz="584" dirty="0"/>
          </a:p>
        </p:txBody>
      </p:sp>
      <p:sp>
        <p:nvSpPr>
          <p:cNvPr id="32" name="Text 29"/>
          <p:cNvSpPr/>
          <p:nvPr/>
        </p:nvSpPr>
        <p:spPr>
          <a:xfrm>
            <a:off x="571500" y="4152249"/>
            <a:ext cx="260984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6B35"/>
                </a:solidFill>
              </a:rPr>
              <a:t>$100K+</a:t>
            </a:r>
            <a:endParaRPr lang="en-US" sz="1193" dirty="0"/>
          </a:p>
        </p:txBody>
      </p:sp>
      <p:sp>
        <p:nvSpPr>
          <p:cNvPr id="33" name="Text 30"/>
          <p:cNvSpPr/>
          <p:nvPr/>
        </p:nvSpPr>
        <p:spPr>
          <a:xfrm>
            <a:off x="571500" y="4429069"/>
            <a:ext cx="260984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555555"/>
                </a:solidFill>
              </a:rPr>
              <a:t>MRR by end of Month 2</a:t>
            </a:r>
            <a:endParaRPr lang="en-US" sz="621" dirty="0"/>
          </a:p>
        </p:txBody>
      </p:sp>
      <p:sp>
        <p:nvSpPr>
          <p:cNvPr id="34" name="Text 31"/>
          <p:cNvSpPr/>
          <p:nvPr/>
        </p:nvSpPr>
        <p:spPr>
          <a:xfrm>
            <a:off x="3267066" y="3993300"/>
            <a:ext cx="260984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F3A7D"/>
                </a:solidFill>
              </a:rPr>
              <a:t>Pack Library</a:t>
            </a:r>
            <a:endParaRPr lang="en-US" sz="584" dirty="0"/>
          </a:p>
        </p:txBody>
      </p:sp>
      <p:sp>
        <p:nvSpPr>
          <p:cNvPr id="35" name="Text 32"/>
          <p:cNvSpPr/>
          <p:nvPr/>
        </p:nvSpPr>
        <p:spPr>
          <a:xfrm>
            <a:off x="3267066" y="4152249"/>
            <a:ext cx="260984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6B35"/>
                </a:solidFill>
              </a:rPr>
              <a:t>60</a:t>
            </a:r>
            <a:endParaRPr lang="en-US" sz="1193" dirty="0"/>
          </a:p>
        </p:txBody>
      </p:sp>
      <p:sp>
        <p:nvSpPr>
          <p:cNvPr id="36" name="Text 33"/>
          <p:cNvSpPr/>
          <p:nvPr/>
        </p:nvSpPr>
        <p:spPr>
          <a:xfrm>
            <a:off x="3267066" y="4429069"/>
            <a:ext cx="260984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555555"/>
                </a:solidFill>
              </a:rPr>
              <a:t>Complete ecosystem</a:t>
            </a:r>
            <a:endParaRPr lang="en-US" sz="621" dirty="0"/>
          </a:p>
        </p:txBody>
      </p:sp>
      <p:sp>
        <p:nvSpPr>
          <p:cNvPr id="37" name="Text 34"/>
          <p:cNvSpPr/>
          <p:nvPr/>
        </p:nvSpPr>
        <p:spPr>
          <a:xfrm>
            <a:off x="5962631" y="3993300"/>
            <a:ext cx="260986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F3A7D"/>
                </a:solidFill>
              </a:rPr>
              <a:t>Team Size</a:t>
            </a:r>
            <a:endParaRPr lang="en-US" sz="584" dirty="0"/>
          </a:p>
        </p:txBody>
      </p:sp>
      <p:sp>
        <p:nvSpPr>
          <p:cNvPr id="38" name="Text 35"/>
          <p:cNvSpPr/>
          <p:nvPr/>
        </p:nvSpPr>
        <p:spPr>
          <a:xfrm>
            <a:off x="5962631" y="4152249"/>
            <a:ext cx="260986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6B35"/>
                </a:solidFill>
              </a:rPr>
              <a:t>8-10</a:t>
            </a:r>
            <a:endParaRPr lang="en-US" sz="1193" dirty="0"/>
          </a:p>
        </p:txBody>
      </p:sp>
      <p:sp>
        <p:nvSpPr>
          <p:cNvPr id="39" name="Text 36"/>
          <p:cNvSpPr/>
          <p:nvPr/>
        </p:nvSpPr>
        <p:spPr>
          <a:xfrm>
            <a:off x="5962631" y="4429069"/>
            <a:ext cx="260986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555555"/>
                </a:solidFill>
              </a:rPr>
              <a:t>Expanded team</a:t>
            </a:r>
            <a:endParaRPr lang="en-US" sz="62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2026-02-10T10:21:03Z</dcterms:created>
  <dcterms:modified xsi:type="dcterms:W3CDTF">2026-02-10T10:21:03Z</dcterms:modified>
</cp:coreProperties>
</file>